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70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 ·  REINFORCEMENT LEARNING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TRAFFIC SIGNAL CONTROL WITH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OBJECTIVE-MATCHED RL ALGORITHMS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Objectives, Each Solved With The Algorithm That Fits It Best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57600"/>
            <a:ext cx="82296" cy="9144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365760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3657600"/>
            <a:ext cx="82296" cy="91440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· Emission · Safety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365760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3657600"/>
            <a:ext cx="82296" cy="914400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 Narayanan A
</a:t>
            </a:r>
            <a:r>
              <a:rPr lang="en-US" sz="110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2362032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 Joseph Sabu
</a:t>
            </a:r>
            <a:r>
              <a:rPr lang="en-US" sz="11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2362159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 Liz Denny
</a:t>
            </a:r>
            <a:r>
              <a:rPr lang="en-US" sz="11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2362060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Urban Intersection Never Stands Still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Demand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67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arrival rates and density shift between peak and off-peak periods.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167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Lanes accumulate more vehicles than the allotted green can discharge.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67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delay builds across every approach to the intersection.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291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630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stopping, idling and acceleration raise consumption and emissions.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1546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3291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Delays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630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Ambulances and fire engines can be held at a red signal.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1546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3291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Violations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630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Red-light and lane violations occur with no signal-side awareness.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CONVENTIONAL SIGNAL CONTROL FALLS SHORT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0468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Fixed-time schedules and hand-designed rule-based strategies assume predictable demand. They cannot re-plan when one lane suddenly develops a long queue, when an accident blocks a lane, or when an emergency vehicle approaches — the timing plan is decided before the traffic ever arrives.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Framework, Three Objective-Matched Algorithms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forcing every objective through the same algorithm, each agent uses the RL method best suited to the shape of its decision problem.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249424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04872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4872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014216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69664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9664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779008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34456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34456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99248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99248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308592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64040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64040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97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 →  Decide  →  Control Signal  →  Observe New Condition  →  Receive Reward  →  Learn      ·      one decision every 5–10 s of simulation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1546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154680"/>
            <a:ext cx="3520440" cy="82296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3558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68680" y="41788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260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4178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trade-off between two competing values (emergency delay vs. normal-traffic delay) — Actor picks the action, Critic scores how good the trade-off is.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925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89120" y="31546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3154680"/>
            <a:ext cx="3520440" cy="82296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17720" y="33558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02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61772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· Emission · Safety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4617720" y="41788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4FA37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617720" y="4178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discrete-action, value-based problem with a large replay history to learn from — DQN's Q-value approximation fits directly.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617720" y="5925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38160" y="31546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154680"/>
            <a:ext cx="3520440" cy="82296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366760" y="33558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03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8366760" y="41788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4A8FD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66760" y="4178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36676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shifting demand needs stable, incremental policy updates — PPO's clipped objective avoids destructive large updates.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366760" y="5925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·  SLIDES 4–8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 NARAYANAN 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· A2C AGENT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173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Agent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63440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260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  ·  A2C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objective-focused Advantage Actor-Critic agent that detects approaching emergency vehicles and prioritizes their movement, while maintaining efficient traffic flow for all other road users.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  · 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 Signal Costs Response Time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an agent give an emergency vehicle priority without creating excessive congestion for everyone else?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64008" cy="18288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passage is essential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Ambulances, fire engines and police vehicles must cross intersections without interruption — prioritized without sacrificing efficient flow for everyone else.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28800"/>
            <a:ext cx="64008" cy="18288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116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Fixed-time signals do not yield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2316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pre-set schedule can hold an emergency vehicle at red simply because its phase has not arrived.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886200"/>
            <a:ext cx="64008" cy="18288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0690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compounds downstream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8056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lost at each intersection accumulates directly into total emergency response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86200"/>
            <a:ext cx="64008" cy="18288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40690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priority creates new delay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48056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Clearing one approach at any cost pushes queues and waiting time onto every other direction.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Emergency-priority actions remain constrained by traffic-signal safety rules — minimum green time, yellow transition intervals and maximum green duration. Emergency-vehicle status is therefore built directly into the RL state itself.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  ·  RL FORMULATION (A2C)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Action and Reward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sees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7744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detected / not detected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location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distance from intersection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speed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in each lane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signal phase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density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traffic flow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359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current signal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98064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77977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current 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218688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32004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emergency vehicle direction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639312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62102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current green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4059936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01184" y="404164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normal signal operation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01584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2752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21031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 +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23774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delay decreases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passes quickly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traffic remains reasonably efficient</a:t>
            </a:r>
            <a:endParaRPr lang="en-US" sz="98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333756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−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02752" y="361188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waits too long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queues are created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delay to normal traffic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signal switching occurs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40080" y="4846320"/>
            <a:ext cx="10963656" cy="502920"/>
          </a:xfrm>
          <a:prstGeom prst="roundRect">
            <a:avLst>
              <a:gd name="adj" fmla="val 1636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84632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=  − α W_e  − β Q  + γ P_e  + δ 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10963656" cy="822960"/>
          </a:xfrm>
          <a:prstGeom prst="roundRect">
            <a:avLst>
              <a:gd name="adj" fmla="val 10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486400"/>
            <a:ext cx="64008" cy="82296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577840"/>
            <a:ext cx="10415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A2C? Actor chooses the signal action; Critic evaluates how good the current situation/action is. This fits the emergency trade-off: maximum priority for the emergency vehicle, without completely disrupting normal traffic.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  ·  WORKING SCENARIO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Approaching from the North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830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55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detected on North road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774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flags emergency presence, location, distance and closing speed.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830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56632" y="1755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evaluates current phase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774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red · E green · W green — the actor weighs priority against the cost to E–W traffic.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7830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87384" y="1755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switches to North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3774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green · E red · W red — the ambulance is granted a clear path.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6118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5844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scores the trade-off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2062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delay falls sharply; the critic checks the cost imposed on E–W is still acceptable.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0832" y="34290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6118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56632" y="35844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clears intersection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2062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high-priority episode ends once the vehicle has passed through.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1584" y="34290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36118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787384" y="35844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normal operation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2062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does not stay green indefinitely — the agent restores adaptive control to prevent E–W queues building up.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3035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traffic still flowing east–west — the actor weighs its delay before switching, and the critic keeps that trade-off honest.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  ·  EXPECTED OUTCOME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Trained A2C Agent Should Achieve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emergency waiting time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held at red on the emergency approach.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emergency movement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Quicker passage through the intersection.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0184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response efficiency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emergency travel time and delay overall.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Actor-critic priority control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granted from the observed state and critic-evaluated trade-off, not a fixed rule.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370832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disruption to normal traffic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approaches avoid unnecessary added delay — no numerical improvement is claimed yet.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101584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0184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priority windows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signal operation is restored promptly instead of holding one direction green indefinitely.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1755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“Priority when it matters — without sacrificing overall traffic efficiency.”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41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values are to be evaluated experimentally in SUMO against a fixed-time baseline. Handing over to Shaun, who covers fuel consumption, emissions and traffic violation detection.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·  SLIDES 9–13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 JOSEPH SABU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· DQN AGENT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173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Consumption, Emission Reduction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Traffic Violation Detection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63440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4FA3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&amp; SAFETY  ·  DQN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objective-focused Deep Q-Network agent that reduces unnecessary stops, idling and waiting — thereby reducing fuel consumption and vehicular emissions — while identifying traffic violations.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  · 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Stop-and-Go Traffic Burns Fuel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0136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Stopping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48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halting and restarting at every phase change.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0136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Idling in Queue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48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Engines running while stationary in a backed-up lane.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80136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Acceleration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148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acceleration after avoidable stops.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258775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15468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fuel consumption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10712" y="3154680"/>
            <a:ext cx="258775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7872" y="315468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vehicular emissions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3154680"/>
            <a:ext cx="258775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18504" y="315468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waiting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51976" y="3154680"/>
            <a:ext cx="258775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89136" y="315468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traffic movement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023360"/>
            <a:ext cx="64008" cy="160020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160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INTELLIGENT SIGNAL CONTROL CHANGES THIS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80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unnecessary stops — vehicles arriving on green do not decelerate to a halt</a:t>
            </a:r>
            <a:endParaRPr lang="en-US" sz="11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idle periods — green time is released where vehicles are actually waiting</a:t>
            </a:r>
            <a:endParaRPr lang="en-US" sz="11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progression — steadier average speed replaces repeated stop-start cycles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303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lower estimated fuel consumption and lower estimated emissions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  ·  RL FORMULATION (DQN)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Action and Reward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sees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7744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count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waiting time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speed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stops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signal phase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emission level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indicators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359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green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98064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77977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218688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32004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phase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639312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62102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green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4059936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01184" y="404164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appropriate signal transition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01584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2752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21031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 +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23774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move smoothly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 decreases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stops decrease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emissions decrease</a:t>
            </a:r>
            <a:endParaRPr lang="en-US" sz="98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333756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−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02752" y="361188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stationary for long periods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increases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stops / emissions increase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/ violation-related events occur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40080" y="4846320"/>
            <a:ext cx="10963656" cy="502920"/>
          </a:xfrm>
          <a:prstGeom prst="roundRect">
            <a:avLst>
              <a:gd name="adj" fmla="val 1636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84632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 a)  learned via Deep Q-Network  ·  greedy action = argmax Q(s, a)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10963656" cy="822960"/>
          </a:xfrm>
          <a:prstGeom prst="roundRect">
            <a:avLst>
              <a:gd name="adj" fmla="val 10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486400"/>
            <a:ext cx="64008" cy="82296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577840"/>
            <a:ext cx="10415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indicators enter the state, and violation events enter the reward as a penalty — safety is optimised alongside efficiency, not bolted on afterwards. The discrete action set and rich replay history are exactly what DQN is built for.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VIOLATION DETECTION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Behaviour at the Intersection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MONITORED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423160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Red-light violations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965960"/>
            <a:ext cx="2423160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Illegal crossing during 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423160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violations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926080"/>
            <a:ext cx="2423160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signal-related behaviour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Environment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496312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496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4963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Monitoring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026664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0266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026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Indicator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557016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557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5570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Penalty · Safety Metric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10908792" cy="1005840"/>
          </a:xfrm>
          <a:prstGeom prst="roundRect">
            <a:avLst>
              <a:gd name="adj" fmla="val 8182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206240"/>
            <a:ext cx="64008" cy="100584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31596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NOTE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5902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monitoring operates as an additional component connected to the traffic environment. The case study does not specify a particular computer-vision detection model — the indicator is consumed by the state and the reward.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  ·  WORKING &amp; EXPECTED OUTCOME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Stop-and-Go to Smooth 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stops,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waiting, low speed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79192" y="1691640"/>
            <a:ext cx="164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16352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 observes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55464" y="1691640"/>
            <a:ext cx="164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92624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92624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signal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691640"/>
            <a:ext cx="164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8896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68896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flow,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stops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208008" y="1691640"/>
            <a:ext cx="164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45168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45168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estimated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788920"/>
            <a:ext cx="1090879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2788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PARALLEL:  Violation occurs  →  Detected / flagged  →  Penalty in reward + monitoring record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9319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unnecessary stops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39319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3712" y="39319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idle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1584" y="39319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39319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estimated fuel consumption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8463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estimated emissions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48463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53712" y="48463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detected and flagged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1584" y="48463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84464" y="48463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overall traffic flow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outcomes are expected results — actual values to be evaluated experimentally in simulation. Handing over to Delna, who covers adaptive traffic congestion reduction.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·  SLIDES 14–18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 LIZ DENNY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· PPO AGENT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173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Traffic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Agent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63440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4A8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PPO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objective-focused Proximal Policy Optimization agent that reduces traffic congestion by minimizing vehicle queue lengths and waiting times through adaptive traffic signal control.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Green Time for Unequal Demand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30952" cy="2286000"/>
          </a:xfrm>
          <a:prstGeom prst="roundRect">
            <a:avLst>
              <a:gd name="adj" fmla="val 360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FIXED-TIME ALLOCATION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vehicles waiting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green time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vehicles waiting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green time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00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strategy keeps allocating the same green to both roads, regardless of demand.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Long queues on the loaded approach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89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Increased average waiting time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Poor utilization of green time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37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Reduced vehicle throughput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5330952" cy="4023360"/>
          </a:xfrm>
          <a:prstGeom prst="roundRect">
            <a:avLst>
              <a:gd name="adj" fmla="val 2045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691640"/>
            <a:ext cx="64008" cy="4023360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PPO CONTROL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240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observes the imbalance directly in the state — queue length per lane, arrival rate, phase duration — and dynamically modifies the signal phase instead of following a pre-set plan.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383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PPO's clipped-update policy gradient lets the agent adjust green allocation gradually and stably as demand shifts through the day, without overreacting to any single noisy observation.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RL FORMULATION (PPO)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Action and Reward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sees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7744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of each lane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vehicles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waiting time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arrival rate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signal phase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of current phase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vehicle speed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density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A8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359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current phase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98064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A8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77977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218688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A8F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32004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green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639312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A8F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62102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phase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01584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02752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21031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 +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3774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Decreasing queue length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Decreasing waiting time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vehicle throughput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smooth flow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333756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−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361188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waiting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throughput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unnecessary switching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10963656" cy="502920"/>
          </a:xfrm>
          <a:prstGeom prst="roundRect">
            <a:avLst>
              <a:gd name="adj" fmla="val 1636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84632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=  − α Q  − β W  + γ T          Queue ↓  +  Waiting ↓  +  Throughput ↑  =  Higher Reward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486400"/>
            <a:ext cx="10963656" cy="822960"/>
          </a:xfrm>
          <a:prstGeom prst="roundRect">
            <a:avLst>
              <a:gd name="adj" fmla="val 10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486400"/>
            <a:ext cx="64008" cy="822960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5577840"/>
            <a:ext cx="10415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PPO? A policy-gradient actor-critic method that is generally more stable than basic policy-gradient methods, thanks to its clipped surrogate objective — well suited to learning adaptive signal policies under continuously changing conditions.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WORKING SCENARIO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and Correcting an Imbalance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30952" cy="4023360"/>
          </a:xfrm>
          <a:prstGeom prst="roundRect">
            <a:avLst>
              <a:gd name="adj" fmla="val 2045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N–S: large queue   ·   E–W: small queue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NORTH–SOUTH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queue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EAST–WEST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vehicles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time follows the demand, not the clock.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73936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agent detects the imbalance in the state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13432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395728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3134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selected: extend north–south green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35224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017520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9352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decreases as N–S clears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557016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639312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5570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estimate confirms the gain vs. the old policy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178808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261104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1788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reward returned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800600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882896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4800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updated via PPO's clipped objective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EXPECTED OUTCOME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Trained PPO Agent Should Achieve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average queue length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vehicles held waiting per lane.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average waiting time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accumulated delay across approaches.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0184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vehicle throughput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vehicles cleared per unit time.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green-time utilization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is spent where vehicles actually are.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370832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congestion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 resolve instead of accumulating.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101584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0184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adaptation to changing conditions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PPO's clipped updates respond smoothly as demand shifts through the day.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1755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“Green time allocated by demand — learned stably, not pre-set.”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41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— to be evaluated experimentally against a fixed-time controller. That completes the three objectives; we now bring them together.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INTEGRATION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Objectives, Three Algorithms, One Coordinated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502152" cy="82296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01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574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6791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260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79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0896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19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presence, distance, direction, speed</a:t>
            </a:r>
            <a:endParaRPr lang="en-US" sz="97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404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emergency direction</a:t>
            </a:r>
            <a:endParaRPr lang="en-US" sz="97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3891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FOCUS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902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W_e − Q + P_e + 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4370832" y="160020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600200"/>
            <a:ext cx="3502152" cy="82296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9432" y="1801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20574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+ Emission +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Monitoring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99432" y="26791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FA3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9432" y="2679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310896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3319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stops, estimated emission, violations</a:t>
            </a:r>
            <a:endParaRPr lang="en-US" sz="97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38404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99432" y="40507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signal transitions</a:t>
            </a:r>
            <a:endParaRPr lang="en-US" sz="970" dirty="0"/>
          </a:p>
        </p:txBody>
      </p:sp>
      <p:sp>
        <p:nvSpPr>
          <p:cNvPr id="26" name="Text 24"/>
          <p:cNvSpPr txBox="1"/>
          <p:nvPr/>
        </p:nvSpPr>
        <p:spPr>
          <a:xfrm>
            <a:off x="4599432" y="43891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FOCUS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5902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Smoothness reward − violation penalty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8101584" y="160020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1600200"/>
            <a:ext cx="3502152" cy="82296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30184" y="1801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30184" y="20574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Congestion</a:t>
            </a:r>
            <a:endParaRPr lang="en-US" sz="14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30184" y="26791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A8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30184" y="2679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330184" y="310896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330184" y="3319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per lane, arrival rate, phase duration</a:t>
            </a:r>
            <a:endParaRPr lang="en-US" sz="970" dirty="0"/>
          </a:p>
        </p:txBody>
      </p:sp>
      <p:sp>
        <p:nvSpPr>
          <p:cNvPr id="36" name="Text 34"/>
          <p:cNvSpPr txBox="1"/>
          <p:nvPr/>
        </p:nvSpPr>
        <p:spPr>
          <a:xfrm>
            <a:off x="8330184" y="38404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330184" y="40507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/ extend / reduce / switch</a:t>
            </a:r>
            <a:endParaRPr lang="en-US" sz="970" dirty="0"/>
          </a:p>
        </p:txBody>
      </p:sp>
      <p:sp>
        <p:nvSpPr>
          <p:cNvPr id="38" name="Text 36"/>
          <p:cNvSpPr txBox="1"/>
          <p:nvPr/>
        </p:nvSpPr>
        <p:spPr>
          <a:xfrm>
            <a:off x="8330184" y="43891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FOCUS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330184" y="45902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α Q − β W + γ T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40080" y="502920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1389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MULTI-ALGORITHM TRAFFIC SIGNAL CONTROLLER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" y="5413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contributes state variables, permitted actions and a reward function that fits its own objective — coordinated at the traffic-signal level, not merged into one shared network.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Team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INTEGRATION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Reward Functions, One Behind Each Algorithm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each objective is solved by its own agent, each keeps a reward shaped for its own algorithm — rather than one shared equation across all three.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3502152" cy="82296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07568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260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75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96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3044952" cy="594360"/>
          </a:xfrm>
          <a:prstGeom prst="roundRect">
            <a:avLst>
              <a:gd name="adj" fmla="val 1384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926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 α W_e − β Q + γ P_e + δ 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576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W_e — emergency waiting time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— normal traffic queue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P_e — emergency priority / passage  (+)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overall throughput  (+)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187452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874520"/>
            <a:ext cx="3502152" cy="82296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9432" y="207568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FA3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2075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2496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· Emission · Safety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99432" y="2926080"/>
            <a:ext cx="3044952" cy="594360"/>
          </a:xfrm>
          <a:prstGeom prst="roundRect">
            <a:avLst>
              <a:gd name="adj" fmla="val 1384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90872" y="2926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Smoothness reward − violation penalty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36576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flow, falling waits, fewer stops  (+)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estimated emissions  (+)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stationary periods, growing queues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/ unsafe events  (−)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01584" y="187452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1584" y="1874520"/>
            <a:ext cx="3502152" cy="82296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207568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A8FD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30184" y="2075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2496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30184" y="2926080"/>
            <a:ext cx="3044952" cy="594360"/>
          </a:xfrm>
          <a:prstGeom prst="roundRect">
            <a:avLst>
              <a:gd name="adj" fmla="val 1384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21624" y="2926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 α Q − β W + γ 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30184" y="36576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— queue length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— waiting time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throughput  (+)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α, β, γ — tunable weights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COORDINATED CONTROLLER BALANCES:  Congestion  ·  Waiting  ·  Stops  ·  Emissions  ·  Emergency  ·  Safety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Team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  ·  EVALUATION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Agent Learns, and How We Will Measure It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·  LEARNING CYCLES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64008" cy="141732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/ PPO (Objectives 1 &amp; 3)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2140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Observe state</a:t>
            </a:r>
            <a:endParaRPr lang="en-US" sz="97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Actor selects action, Critic scores value</a:t>
            </a:r>
            <a:endParaRPr lang="en-US" sz="97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Environment evolves, reward returned</a:t>
            </a:r>
            <a:endParaRPr lang="en-US" sz="97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Advantage estimated; policy updated on-policy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91840"/>
            <a:ext cx="64008" cy="141732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 (Objective 2)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7588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Observe state</a:t>
            </a:r>
            <a:endParaRPr lang="en-US" sz="97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Estimate Q-values for each action</a:t>
            </a:r>
            <a:endParaRPr lang="en-US" sz="97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Action selected (ε-greedy)</a:t>
            </a:r>
            <a:endParaRPr lang="en-US" sz="97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Experience stored in replay memory, network updated off-policy</a:t>
            </a:r>
            <a:endParaRPr lang="en-US" sz="97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92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vs. exploitation governs action selection during training across all three agents; each episode equals one hour of simulated traffic in SUMO.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173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·  EVALUATION METRICS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8470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Efficiency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76272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waiting time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queue length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throughput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travel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1120" y="17373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18470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176272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fuel consumption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and other emissions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unnecessary stops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4041648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415137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48056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waiting time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travel time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delay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61120" y="4041648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98280" y="415137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/ Violations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48056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red-light violations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detected violations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signal transitions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635508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for every metric: a conventional fixed-time / rule-based controller — all values to be measured.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Team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 ·  CHALLENGES  ·  CONCLUSION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30952" cy="2606040"/>
          </a:xfrm>
          <a:prstGeom prst="roundRect">
            <a:avLst>
              <a:gd name="adj" fmla="val 3158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64008" cy="260604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Matched to Each Objective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505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for the emergency trade-off — Actor decides, Critic weighs the cost</a:t>
            </a:r>
            <a:endParaRPr lang="en-US" sz="10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 for discrete, replay-driven efficiency and safety learning</a:t>
            </a:r>
            <a:endParaRPr lang="en-US" sz="10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for stable adaptation to continuously shifting congestion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extension:  coordinate agents further with shared or communicated state — one agent per objective, per intersection, across the network.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30952" cy="2606040"/>
          </a:xfrm>
          <a:prstGeom prst="roundRect">
            <a:avLst>
              <a:gd name="adj" fmla="val 3158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00200"/>
            <a:ext cx="64008" cy="260604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Before We Build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450592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design — weighting objectives per algorithm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Coordinating three independently trained agents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 — many episodes across three algorithms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risk during training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across intersections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constraints — min green / yellow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Simulation-to-real gap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5312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091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vehicles receive priority via A2C while efficient normal traffic flow is maintained.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4370832" y="434340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3712" y="445312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53712" y="47091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stops, fuel consumption and emissions are reduced via DQN while violations are monitored.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101584" y="434340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4464" y="445312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47091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congestion is reduced through PPO-based adaptive, queue-aware signal control.</a:t>
            </a:r>
            <a:endParaRPr lang="en-US" sz="97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“Three Objectives.  Three Algorithms.  One Coordinated Intelligent Traffic Control Framework.”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Team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2934</Words>
  <Application>Microsoft Office PowerPoint</Application>
  <PresentationFormat>Widescreen</PresentationFormat>
  <Paragraphs>540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Anantha Narayanan</cp:lastModifiedBy>
  <cp:revision>2</cp:revision>
  <dcterms:created xsi:type="dcterms:W3CDTF">2026-09-03T06:42:30Z</dcterms:created>
  <dcterms:modified xsi:type="dcterms:W3CDTF">2026-09-07T08:19:35Z</dcterms:modified>
</cp:coreProperties>
</file>