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reinforcement learning case study on Smart Traffic Signal Control using a Deep Q-Network. The system is vehicle-actuated: instead of following a fixed timing plan, the signal reacts to the traffic it actually observes. The project has three objectives - fuel and emission reduction with violation detection, congestion reduction, and emergency vehicle prioritization. I will present the common introduction and the emergency prioritization objective, Shaun will cover fuel, emissions and violations, and Delna will cover congestion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Urban intersections experience continuously changing conditions - vehicle counts, queue lengths, waiting times, arrival rates and emergency situations all vary through the day. Conventional signals run fixed-time schedules or manually designed rules. Those work under predictable conditions, but become inefficient the moment demand changes unexpectedly. Note the six pressures shown here: they are not independent - a long queue produces waiting time, which produces idling, which produces fuel burn and emissions. That coupling is exactly why we treat this as one multi-objective problem rather than six separate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system replaces the fixed timing plan with a learning agent. The environment is the intersection and its traffic; it is rendered as a state vector; the DQN agent selects a discrete signal action; the environment evolves and returns a reward; the experience updates the network. Reinforcement learning fits because this is sequential decision-making in a dynamic, stochastic, partially observable environment. DQN specifically fits because the action space is discrete while the state space is continuous and high-dimensional - that combination is what value-based deep Q-learning was designed for. Those three objectives at the bottom set up the rest of the deck: I take the first, Shaun the second, Delna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now take the first objective - emergency vehicle prioritization. Over the next five slides I will cover the problem, the RL formulation, a worked scenario and the expected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Emergency vehicles need rapid movement through intersections. A conventional fixed-time signal has no mechanism to recognise one, so an ambulance can sit at a red purely because of where the cycle happens to be. That delay feeds straight into response time. But the naive fix - always clear the emergency path immediately - is also wrong, because it dumps delay onto every other approach and can force unsafe signal transitions. So the challenge is a trade-off, not a rule, and that is precisely why we put emergency status into the state and let the agent learn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RL formulation. The state extends the common traffic variables with four emergency-specific ones: presence, distance from the intersection, approach direction and the traffic density in the competing directions - that last one is what lets the agent reason about the cost of granting priority. The action space stays discrete, with a dedicated emergency-priority phase as the fourth action. The reward has three terms: it subtracts emergency waiting time, adds an explicit priority reward for successfully clearing the path, and subtracts a general traffic delay penalty. That third term is the important one - without it the agent would learn to grant priority indiscriminately.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example from the case study. An ambulance approaches from the north. The current phase is east-west green, so north-south is red. The agent observes: emergency vehicle detected, north approach, current phase east-west, plus the density in the competing directions. It evaluates its four actions and finds that switching the phase - respecting the yellow interval - safely reduces emergency delay, so that action carries the highest Q-value. The ambulance passes, the agent receives a high reward for reducing emergency delay, and control returns to normal adaptive management. The key point is the last step: emergency priority is a temporary excursion, not a mode the controller gets stuck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expected outcomes for the emergency objective - reduced emergency waiting time, faster movement through the intersection, improved response efficiency, prioritization that adapts to the observed state, and importantly, minimal disruption to the rest of the traffic. I want to be explicit that these are expected outcomes. We have not run the simulation yet, so we deliberately claim no percentages; the numbers must come from experiments comparing the DQN controller against a fixed-time baseline. That completes my section - Shaun will now take fuel, emissions and violation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Anantha. I am taking the second objective, which pairs an environmental goal with a safety-monitoring goal: reduce fuel burn and emissions by smoothing traffic, and flag traffic violations as they occur.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Vehicles consume more fuel and produce more emissions when they repeatedly stop, sit idle in queues and accelerate unnecessarily. Each of those three behaviours is a direct product of signal timing that does not match demand. The consequences are higher fuel use, higher emissions, longer waiting and generally inefficient movement. A controller that reduces unnecessary stopping attacks all four at once - which is why this objective targets the stop count and idle time rather than trying to model fuel chemistry. Note the wording throughout: estimated fuel and estimated emissions, because in SUMO these are simulated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for this objective adds three things the congestion state does not carry: average speed, number of stops, and estimated emission level - because you cannot optimise what you do not observe. Violation indicators are also part of the state. The action space is the familiar discrete set plus an explicit appropriate-transition action. The reward is symmetric: positive when vehicles move smoothly, waiting falls, stops fall and estimated emissions fall; negative for long stationary periods, growing queues, more stops, rising emissions, and unsafe or violation-related events. That last negative term is what connects this objective to the violation-detection component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Alongside the fuel objective, the system monitors traffic behaviour for four categories of violation: red-light violations, illegal crossing during red, lane violations, and unsafe signal-related behaviour. The pipeline is simple: the environment is observed, behaviour is monitored, a violation indicator is raised, and that indicator becomes both a penalty in the reward and a safety metric for evaluation. I want to be careful about scope here - our case study describes violation detection as a monitoring component attached to the traffic environment. We are not claiming a specific computer-vision architecture; what matters for the RL formulation is that the indicator reaches the state and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plays out. Vehicles are repeatedly stopping, so waiting rises and average speed falls. The DQN observes that state, selects an adaptive signal decision, and traffic begins to move more smoothly with fewer stops - which is what reduces estimated fuel and emissions. Running in parallel, any violation that occurs is detected, flagged, and enters the reward as a penalty while also being recorded as a safety metric. The six expected outcomes are listed at the bottom. Again, these are expected outcomes to be evaluated experimentally - we are not claiming figures before running the simulation. Delna will now cover congestion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Shaun. I am presenting the third objective - congestion reduction. This is the core traffic-efficiency goal of the system: minimising queue length and waiting time by adapting green time to observed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peak hours, fixed signal timings may allocate the same green time to roads whose demand is completely different. The case study example: Road A has thirty vehicles waiting while Road B has five, yet both receive equal green. The result is that Road A queues persist while Road B green time is wasted on an empty approach - so waiting rises, green time is poorly utilised, and throughput drops. An adaptive RL controller sees that imbalance in its state vector and can reallocate the phase in response. That is the whole premise of this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congestion state is deliberately queue-centric: queue length per lane, vehicle count, waiting time, arrival rate, current phase, how long that phase has already run, and average speed. Phase duration matters because it prevents the agent from switching too rapidly. Four discrete actions: keep, extend, switch, reduce. The reward is the equation at the bottom - alpha times queue length and beta times waiting time are subtracted, gamma times throughput is added. Alpha, beta and gamma are weights we tune. Read plainly: shorter queues plus less waiting plus more vehicles cleared equals a higher reward. Note the penalty for frequent unnecessary switching - without it the agent can learn to thrash between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worked example. The north-south direction has a large queue; east-west has very few vehicles. The agent observes the state and determines that extending the north-south green produces a higher long-term reward than switching. It extends the phase, the queue drains, and the reward is positive because queue length and waiting time both fall while throughput rises. That experience goes into replay memory and updates the network. Over many repetitions the agent learns which action is effective under which traffic condition - it is not following a rule we wrote, it is learning the policy from the reward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outcomes for congestion reduction: lower average queue length, lower average waiting time, higher throughput, better utilisation of green signal time, reduced congestion during changing conditions, and adaptivity as demand shifts. As with the other objectives, these are expected results - the actual numerical improvements must be obtained experimentally after implementing the DQN environment, and compared against a conventional fixed-time controller. That completes my section, and all three objectives. We will now show how they combine into one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the three sections together. Each objective contributes to the same controller in three ways: it adds state variables the agent observes, it may add a permitted action, and it adds terms to the reward. Anantha contributes emergency presence, distance and direction plus the emergency-priority phase. Shaun contributes speed, stop count, estimated emission and violation indicators. Delna contributes queue per lane, arrival rate and phase duration. These converge into one DQN with one state vector, one discrete action space and one multi-objective reward. We are careful here: these are objective-focused components of a unified framework, not three separately trained and deployed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equation is where the three objectives actually merge. Six weighted terms: queue length and waiting time are penalised - those are Delna's congestion terms. Stops and emission are penalised - Shaun's environmental terms. Emergency priority is the one positive term, rewarding a successfully cleared path - that is Anantha's. And violation penalty is subtracted, covering safety. The weights w1 through w6 are what let us tune the trade-off, and choosing them is genuinely difficult - we list it first among our challenges. The important design point is that the agent is never told which objective to favour in a given situation; it learns that balance from this scalar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complete interaction cycle. The environment supplies the current state; the network estimates Q-values for every available action; one action is chosen using an exploration-exploitation strategy; the signal changes; the environment evolves; the multi-objective reward is calculated; the next state is observed; the experience is stored in replay memory and sampled to train the network; and the loop repeats. In the real world this is a continuing task, but in SUMO we divide it into episodes - for example one episode equals one hour of simulated traffic. On the right, the four metric families we will use. Every one of them is measured against a conventional fixed-time controller as the baseline, and every cell is currently to-be-measured.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innovation is to extend a conventional traffic-signal DQN into something both multi-objective and explainable. Rather than optimising congestion alone, the reward simultaneously considers congestion, waiting, fuel, emissions, emergency delay and violations - and the controller can produce a human-readable justification for each major decision, which matters if a traffic operator is ever going to trust it. Multi-agent RL across several intersections is the natural future extension. On the right we are honest about the limitations: reward weighting, training time, exploration risk, generalization, the emergency trade-off, hard safety constraints, and the simulation-to-real gap. To conclude - three objectives, one unified DQN framework.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6"/>
        </a:solidFill>
      </p:bgPr>
    </p:bg>
    <p:spTree>
      <p:nvGrpSpPr>
        <p:cNvPr id="1" name=""/>
        <p:cNvGrpSpPr/>
        <p:nvPr/>
      </p:nvGrpSpPr>
      <p:grpSpPr>
        <a:xfrm>
          <a:off x="0" y="0"/>
          <a:ext cx="0" cy="0"/>
          <a:chOff x="0" y="0"/>
          <a:chExt cx="0" cy="0"/>
        </a:xfrm>
      </p:grpSpPr>
      <p:sp>
        <p:nvSpPr>
          <p:cNvPr id="2" name="Shape 0"/>
          <p:cNvSpPr/>
          <p:nvPr/>
        </p:nvSpPr>
        <p:spPr>
          <a:xfrm>
            <a:off x="9281160" y="0"/>
            <a:ext cx="1828800" cy="6858000"/>
          </a:xfrm>
          <a:prstGeom prst="rect">
            <a:avLst/>
          </a:prstGeom>
          <a:solidFill>
            <a:srgbClr val="0D1730"/>
          </a:solidFill>
          <a:ln w="12700">
            <a:solidFill>
              <a:srgbClr val="333333"/>
            </a:solidFill>
            <a:prstDash val="solid"/>
          </a:ln>
        </p:spPr>
      </p:sp>
      <p:sp>
        <p:nvSpPr>
          <p:cNvPr id="3" name="Shape 1"/>
          <p:cNvSpPr/>
          <p:nvPr/>
        </p:nvSpPr>
        <p:spPr>
          <a:xfrm>
            <a:off x="7772400" y="2788920"/>
            <a:ext cx="4416552" cy="1828800"/>
          </a:xfrm>
          <a:prstGeom prst="rect">
            <a:avLst/>
          </a:prstGeom>
          <a:solidFill>
            <a:srgbClr val="0D1730"/>
          </a:solidFill>
          <a:ln w="12700">
            <a:solidFill>
              <a:srgbClr val="333333"/>
            </a:solidFill>
            <a:prstDash val="solid"/>
          </a:ln>
        </p:spPr>
      </p:sp>
      <p:sp>
        <p:nvSpPr>
          <p:cNvPr id="4" name="Shape 2"/>
          <p:cNvSpPr/>
          <p:nvPr/>
        </p:nvSpPr>
        <p:spPr>
          <a:xfrm>
            <a:off x="10131552" y="228600"/>
            <a:ext cx="64008" cy="411480"/>
          </a:xfrm>
          <a:prstGeom prst="rect">
            <a:avLst/>
          </a:prstGeom>
          <a:solidFill>
            <a:srgbClr val="2B3E60"/>
          </a:solidFill>
          <a:ln w="12700">
            <a:solidFill>
              <a:srgbClr val="333333"/>
            </a:solidFill>
            <a:prstDash val="solid"/>
          </a:ln>
        </p:spPr>
      </p:sp>
      <p:sp>
        <p:nvSpPr>
          <p:cNvPr id="5" name="Shape 3"/>
          <p:cNvSpPr/>
          <p:nvPr/>
        </p:nvSpPr>
        <p:spPr>
          <a:xfrm>
            <a:off x="10131552" y="1097280"/>
            <a:ext cx="64008" cy="411480"/>
          </a:xfrm>
          <a:prstGeom prst="rect">
            <a:avLst/>
          </a:prstGeom>
          <a:solidFill>
            <a:srgbClr val="2B3E60"/>
          </a:solidFill>
          <a:ln w="12700">
            <a:solidFill>
              <a:srgbClr val="333333"/>
            </a:solidFill>
            <a:prstDash val="solid"/>
          </a:ln>
        </p:spPr>
      </p:sp>
      <p:sp>
        <p:nvSpPr>
          <p:cNvPr id="6" name="Shape 4"/>
          <p:cNvSpPr/>
          <p:nvPr/>
        </p:nvSpPr>
        <p:spPr>
          <a:xfrm>
            <a:off x="10131552" y="1965960"/>
            <a:ext cx="64008" cy="411480"/>
          </a:xfrm>
          <a:prstGeom prst="rect">
            <a:avLst/>
          </a:prstGeom>
          <a:solidFill>
            <a:srgbClr val="2B3E60"/>
          </a:solidFill>
          <a:ln w="12700">
            <a:solidFill>
              <a:srgbClr val="333333"/>
            </a:solidFill>
            <a:prstDash val="solid"/>
          </a:ln>
        </p:spPr>
      </p:sp>
      <p:sp>
        <p:nvSpPr>
          <p:cNvPr id="7" name="Shape 5"/>
          <p:cNvSpPr/>
          <p:nvPr/>
        </p:nvSpPr>
        <p:spPr>
          <a:xfrm>
            <a:off x="10131552" y="2834640"/>
            <a:ext cx="64008" cy="411480"/>
          </a:xfrm>
          <a:prstGeom prst="rect">
            <a:avLst/>
          </a:prstGeom>
          <a:solidFill>
            <a:srgbClr val="2B3E60"/>
          </a:solidFill>
          <a:ln w="12700">
            <a:solidFill>
              <a:srgbClr val="333333"/>
            </a:solidFill>
            <a:prstDash val="solid"/>
          </a:ln>
        </p:spPr>
      </p:sp>
      <p:sp>
        <p:nvSpPr>
          <p:cNvPr id="8" name="Shape 6"/>
          <p:cNvSpPr/>
          <p:nvPr/>
        </p:nvSpPr>
        <p:spPr>
          <a:xfrm>
            <a:off x="10131552" y="3703320"/>
            <a:ext cx="64008" cy="411480"/>
          </a:xfrm>
          <a:prstGeom prst="rect">
            <a:avLst/>
          </a:prstGeom>
          <a:solidFill>
            <a:srgbClr val="2B3E60"/>
          </a:solidFill>
          <a:ln w="12700">
            <a:solidFill>
              <a:srgbClr val="333333"/>
            </a:solidFill>
            <a:prstDash val="solid"/>
          </a:ln>
        </p:spPr>
      </p:sp>
      <p:sp>
        <p:nvSpPr>
          <p:cNvPr id="9" name="Shape 7"/>
          <p:cNvSpPr/>
          <p:nvPr/>
        </p:nvSpPr>
        <p:spPr>
          <a:xfrm>
            <a:off x="10131552" y="4572000"/>
            <a:ext cx="64008" cy="411480"/>
          </a:xfrm>
          <a:prstGeom prst="rect">
            <a:avLst/>
          </a:prstGeom>
          <a:solidFill>
            <a:srgbClr val="2B3E60"/>
          </a:solidFill>
          <a:ln w="12700">
            <a:solidFill>
              <a:srgbClr val="333333"/>
            </a:solidFill>
            <a:prstDash val="solid"/>
          </a:ln>
        </p:spPr>
      </p:sp>
      <p:sp>
        <p:nvSpPr>
          <p:cNvPr id="10" name="Shape 8"/>
          <p:cNvSpPr/>
          <p:nvPr/>
        </p:nvSpPr>
        <p:spPr>
          <a:xfrm>
            <a:off x="10131552" y="5440680"/>
            <a:ext cx="64008" cy="411480"/>
          </a:xfrm>
          <a:prstGeom prst="rect">
            <a:avLst/>
          </a:prstGeom>
          <a:solidFill>
            <a:srgbClr val="2B3E60"/>
          </a:solidFill>
          <a:ln w="12700">
            <a:solidFill>
              <a:srgbClr val="333333"/>
            </a:solidFill>
            <a:prstDash val="solid"/>
          </a:ln>
        </p:spPr>
      </p:sp>
      <p:sp>
        <p:nvSpPr>
          <p:cNvPr id="11" name="Shape 9"/>
          <p:cNvSpPr/>
          <p:nvPr/>
        </p:nvSpPr>
        <p:spPr>
          <a:xfrm>
            <a:off x="10131552" y="6309360"/>
            <a:ext cx="64008" cy="411480"/>
          </a:xfrm>
          <a:prstGeom prst="rect">
            <a:avLst/>
          </a:prstGeom>
          <a:solidFill>
            <a:srgbClr val="2B3E60"/>
          </a:solidFill>
          <a:ln w="12700">
            <a:solidFill>
              <a:srgbClr val="333333"/>
            </a:solidFill>
            <a:prstDash val="solid"/>
          </a:ln>
        </p:spPr>
      </p:sp>
      <p:sp>
        <p:nvSpPr>
          <p:cNvPr id="12" name="Shape 10"/>
          <p:cNvSpPr/>
          <p:nvPr/>
        </p:nvSpPr>
        <p:spPr>
          <a:xfrm>
            <a:off x="8001000" y="3675888"/>
            <a:ext cx="182880" cy="64008"/>
          </a:xfrm>
          <a:prstGeom prst="rect">
            <a:avLst/>
          </a:prstGeom>
          <a:solidFill>
            <a:srgbClr val="2B3E60"/>
          </a:solidFill>
          <a:ln w="12700">
            <a:solidFill>
              <a:srgbClr val="333333"/>
            </a:solidFill>
            <a:prstDash val="solid"/>
          </a:ln>
        </p:spPr>
      </p:sp>
      <p:sp>
        <p:nvSpPr>
          <p:cNvPr id="13" name="Shape 11"/>
          <p:cNvSpPr/>
          <p:nvPr/>
        </p:nvSpPr>
        <p:spPr>
          <a:xfrm>
            <a:off x="8293608" y="3675888"/>
            <a:ext cx="182880" cy="64008"/>
          </a:xfrm>
          <a:prstGeom prst="rect">
            <a:avLst/>
          </a:prstGeom>
          <a:solidFill>
            <a:srgbClr val="2B3E60"/>
          </a:solidFill>
          <a:ln w="12700">
            <a:solidFill>
              <a:srgbClr val="333333"/>
            </a:solidFill>
            <a:prstDash val="solid"/>
          </a:ln>
        </p:spPr>
      </p:sp>
      <p:sp>
        <p:nvSpPr>
          <p:cNvPr id="14" name="Shape 12"/>
          <p:cNvSpPr/>
          <p:nvPr/>
        </p:nvSpPr>
        <p:spPr>
          <a:xfrm>
            <a:off x="8586216" y="3675888"/>
            <a:ext cx="182880" cy="64008"/>
          </a:xfrm>
          <a:prstGeom prst="rect">
            <a:avLst/>
          </a:prstGeom>
          <a:solidFill>
            <a:srgbClr val="2B3E60"/>
          </a:solidFill>
          <a:ln w="12700">
            <a:solidFill>
              <a:srgbClr val="333333"/>
            </a:solidFill>
            <a:prstDash val="solid"/>
          </a:ln>
        </p:spPr>
      </p:sp>
      <p:sp>
        <p:nvSpPr>
          <p:cNvPr id="15" name="Shape 13"/>
          <p:cNvSpPr/>
          <p:nvPr/>
        </p:nvSpPr>
        <p:spPr>
          <a:xfrm>
            <a:off x="8878824" y="3675888"/>
            <a:ext cx="182880" cy="64008"/>
          </a:xfrm>
          <a:prstGeom prst="rect">
            <a:avLst/>
          </a:prstGeom>
          <a:solidFill>
            <a:srgbClr val="2B3E60"/>
          </a:solidFill>
          <a:ln w="12700">
            <a:solidFill>
              <a:srgbClr val="333333"/>
            </a:solidFill>
            <a:prstDash val="solid"/>
          </a:ln>
        </p:spPr>
      </p:sp>
      <p:sp>
        <p:nvSpPr>
          <p:cNvPr id="16" name="Shape 14"/>
          <p:cNvSpPr/>
          <p:nvPr/>
        </p:nvSpPr>
        <p:spPr>
          <a:xfrm>
            <a:off x="9171432" y="3675888"/>
            <a:ext cx="182880" cy="64008"/>
          </a:xfrm>
          <a:prstGeom prst="rect">
            <a:avLst/>
          </a:prstGeom>
          <a:solidFill>
            <a:srgbClr val="2B3E60"/>
          </a:solidFill>
          <a:ln w="12700">
            <a:solidFill>
              <a:srgbClr val="333333"/>
            </a:solidFill>
            <a:prstDash val="solid"/>
          </a:ln>
        </p:spPr>
      </p:sp>
      <p:sp>
        <p:nvSpPr>
          <p:cNvPr id="17" name="Shape 15"/>
          <p:cNvSpPr/>
          <p:nvPr/>
        </p:nvSpPr>
        <p:spPr>
          <a:xfrm>
            <a:off x="9692640" y="685800"/>
            <a:ext cx="1005840" cy="1965960"/>
          </a:xfrm>
          <a:prstGeom prst="roundRect">
            <a:avLst>
              <a:gd name="adj" fmla="val 16364"/>
            </a:avLst>
          </a:prstGeom>
          <a:solidFill>
            <a:srgbClr val="060D1C"/>
          </a:solidFill>
          <a:ln w="12700">
            <a:solidFill>
              <a:srgbClr val="2B3E60"/>
            </a:solidFill>
            <a:prstDash val="solid"/>
          </a:ln>
        </p:spPr>
      </p:sp>
      <p:sp>
        <p:nvSpPr>
          <p:cNvPr id="18" name="Shape 16"/>
          <p:cNvSpPr/>
          <p:nvPr/>
        </p:nvSpPr>
        <p:spPr>
          <a:xfrm>
            <a:off x="9902952" y="868680"/>
            <a:ext cx="585216" cy="585216"/>
          </a:xfrm>
          <a:prstGeom prst="ellipse">
            <a:avLst/>
          </a:prstGeom>
          <a:solidFill>
            <a:srgbClr val="E74C3C"/>
          </a:solidFill>
          <a:ln w="12700">
            <a:solidFill>
              <a:srgbClr val="E74C3C"/>
            </a:solidFill>
            <a:prstDash val="solid"/>
          </a:ln>
        </p:spPr>
      </p:sp>
      <p:sp>
        <p:nvSpPr>
          <p:cNvPr id="19" name="Shape 17"/>
          <p:cNvSpPr/>
          <p:nvPr/>
        </p:nvSpPr>
        <p:spPr>
          <a:xfrm>
            <a:off x="9902952" y="1517904"/>
            <a:ext cx="585216" cy="585216"/>
          </a:xfrm>
          <a:prstGeom prst="ellipse">
            <a:avLst/>
          </a:prstGeom>
          <a:solidFill>
            <a:srgbClr val="2A2013"/>
          </a:solidFill>
          <a:ln w="12700">
            <a:solidFill>
              <a:srgbClr val="333333"/>
            </a:solidFill>
            <a:prstDash val="solid"/>
          </a:ln>
        </p:spPr>
      </p:sp>
      <p:sp>
        <p:nvSpPr>
          <p:cNvPr id="20" name="Shape 18"/>
          <p:cNvSpPr/>
          <p:nvPr/>
        </p:nvSpPr>
        <p:spPr>
          <a:xfrm>
            <a:off x="9902952" y="1975104"/>
            <a:ext cx="585216" cy="585216"/>
          </a:xfrm>
          <a:prstGeom prst="ellipse">
            <a:avLst/>
          </a:prstGeom>
          <a:solidFill>
            <a:srgbClr val="10331F"/>
          </a:solidFill>
          <a:ln w="12700">
            <a:solidFill>
              <a:srgbClr val="333333"/>
            </a:solidFill>
            <a:prstDash val="solid"/>
          </a:ln>
        </p:spPr>
      </p:sp>
      <p:sp>
        <p:nvSpPr>
          <p:cNvPr id="21" name="Shape 19"/>
          <p:cNvSpPr/>
          <p:nvPr/>
        </p:nvSpPr>
        <p:spPr>
          <a:xfrm>
            <a:off x="9528048" y="4937760"/>
            <a:ext cx="566928" cy="310896"/>
          </a:xfrm>
          <a:prstGeom prst="roundRect">
            <a:avLst>
              <a:gd name="adj" fmla="val 17647"/>
            </a:avLst>
          </a:prstGeom>
          <a:solidFill>
            <a:srgbClr val="1B2B49"/>
          </a:solidFill>
          <a:ln w="12700">
            <a:solidFill>
              <a:srgbClr val="2B3E60"/>
            </a:solidFill>
            <a:prstDash val="solid"/>
          </a:ln>
        </p:spPr>
      </p:sp>
      <p:sp>
        <p:nvSpPr>
          <p:cNvPr id="22" name="Shape 20"/>
          <p:cNvSpPr/>
          <p:nvPr/>
        </p:nvSpPr>
        <p:spPr>
          <a:xfrm>
            <a:off x="9528048" y="5394960"/>
            <a:ext cx="566928" cy="310896"/>
          </a:xfrm>
          <a:prstGeom prst="roundRect">
            <a:avLst>
              <a:gd name="adj" fmla="val 17647"/>
            </a:avLst>
          </a:prstGeom>
          <a:solidFill>
            <a:srgbClr val="1B2B49"/>
          </a:solidFill>
          <a:ln w="12700">
            <a:solidFill>
              <a:srgbClr val="2B3E60"/>
            </a:solidFill>
            <a:prstDash val="solid"/>
          </a:ln>
        </p:spPr>
      </p:sp>
      <p:sp>
        <p:nvSpPr>
          <p:cNvPr id="23" name="Shape 21"/>
          <p:cNvSpPr/>
          <p:nvPr/>
        </p:nvSpPr>
        <p:spPr>
          <a:xfrm>
            <a:off x="9528048" y="5852160"/>
            <a:ext cx="566928" cy="310896"/>
          </a:xfrm>
          <a:prstGeom prst="roundRect">
            <a:avLst>
              <a:gd name="adj" fmla="val 17647"/>
            </a:avLst>
          </a:prstGeom>
          <a:solidFill>
            <a:srgbClr val="1B2B49"/>
          </a:solidFill>
          <a:ln w="12700">
            <a:solidFill>
              <a:srgbClr val="2B3E60"/>
            </a:solidFill>
            <a:prstDash val="solid"/>
          </a:ln>
        </p:spPr>
      </p:sp>
      <p:sp>
        <p:nvSpPr>
          <p:cNvPr id="24" name="Shape 22"/>
          <p:cNvSpPr/>
          <p:nvPr/>
        </p:nvSpPr>
        <p:spPr>
          <a:xfrm>
            <a:off x="9528048" y="6309360"/>
            <a:ext cx="566928" cy="310896"/>
          </a:xfrm>
          <a:prstGeom prst="roundRect">
            <a:avLst>
              <a:gd name="adj" fmla="val 17647"/>
            </a:avLst>
          </a:prstGeom>
          <a:solidFill>
            <a:srgbClr val="1B2B49"/>
          </a:solidFill>
          <a:ln w="12700">
            <a:solidFill>
              <a:srgbClr val="2B3E60"/>
            </a:solidFill>
            <a:prstDash val="solid"/>
          </a:ln>
        </p:spPr>
      </p:sp>
      <p:sp>
        <p:nvSpPr>
          <p:cNvPr id="25" name="Shape 23"/>
          <p:cNvSpPr/>
          <p:nvPr/>
        </p:nvSpPr>
        <p:spPr>
          <a:xfrm>
            <a:off x="10259568" y="4937760"/>
            <a:ext cx="566928" cy="310896"/>
          </a:xfrm>
          <a:prstGeom prst="roundRect">
            <a:avLst>
              <a:gd name="adj" fmla="val 17647"/>
            </a:avLst>
          </a:prstGeom>
          <a:solidFill>
            <a:srgbClr val="3A2113"/>
          </a:solidFill>
          <a:ln w="12700">
            <a:solidFill>
              <a:srgbClr val="FF7A3D"/>
            </a:solidFill>
            <a:prstDash val="solid"/>
          </a:ln>
        </p:spPr>
      </p:sp>
      <p:sp>
        <p:nvSpPr>
          <p:cNvPr id="26" name="Text 24"/>
          <p:cNvSpPr/>
          <p:nvPr/>
        </p:nvSpPr>
        <p:spPr>
          <a:xfrm>
            <a:off x="640080" y="1051560"/>
            <a:ext cx="6766560" cy="274320"/>
          </a:xfrm>
          <a:prstGeom prst="rect">
            <a:avLst/>
          </a:prstGeom>
          <a:noFill/>
          <a:ln/>
        </p:spPr>
        <p:txBody>
          <a:bodyPr wrap="square" lIns="0" tIns="0" rIns="0" bIns="0" rtlCol="0" anchor="ctr"/>
          <a:lstStyle/>
          <a:p>
            <a:pPr indent="0" marL="0">
              <a:buNone/>
            </a:pPr>
            <a:r>
              <a:rPr lang="en-US" sz="1100" b="1" spc="240" kern="0" dirty="0">
                <a:solidFill>
                  <a:srgbClr val="22D3EE"/>
                </a:solidFill>
                <a:latin typeface="Arial" pitchFamily="34" charset="0"/>
                <a:ea typeface="Arial" pitchFamily="34" charset="-122"/>
                <a:cs typeface="Arial" pitchFamily="34" charset="-120"/>
              </a:rPr>
              <a:t>AI / ML  ·  REINFORCEMENT LEARNING CASE STUDY</a:t>
            </a:r>
            <a:endParaRPr lang="en-US" sz="1100" dirty="0"/>
          </a:p>
        </p:txBody>
      </p:sp>
      <p:sp>
        <p:nvSpPr>
          <p:cNvPr id="27" name="Text 25"/>
          <p:cNvSpPr/>
          <p:nvPr/>
        </p:nvSpPr>
        <p:spPr>
          <a:xfrm>
            <a:off x="640080" y="1481328"/>
            <a:ext cx="6858000" cy="1874520"/>
          </a:xfrm>
          <a:prstGeom prst="rect">
            <a:avLst/>
          </a:prstGeom>
          <a:noFill/>
          <a:ln/>
        </p:spPr>
        <p:txBody>
          <a:bodyPr wrap="square" lIns="0" tIns="0" rIns="0" bIns="0" rtlCol="0" anchor="ctr"/>
          <a:lstStyle/>
          <a:p>
            <a:pPr indent="0" marL="0">
              <a:lnSpc>
                <a:spcPct val="92000"/>
              </a:lnSpc>
              <a:buNone/>
            </a:pPr>
            <a:r>
              <a:rPr lang="en-US" sz="3700" b="1" dirty="0">
                <a:solidFill>
                  <a:srgbClr val="FFFFFF"/>
                </a:solidFill>
                <a:latin typeface="Arial" pitchFamily="34" charset="0"/>
                <a:ea typeface="Arial" pitchFamily="34" charset="-122"/>
                <a:cs typeface="Arial" pitchFamily="34" charset="-120"/>
              </a:rPr>
              <a:t>SMART TRAFFIC SIGNAL CONTROL USING DEEP Q-NETWORK (DQN)</a:t>
            </a:r>
            <a:endParaRPr lang="en-US" sz="3700" dirty="0"/>
          </a:p>
        </p:txBody>
      </p:sp>
      <p:sp>
        <p:nvSpPr>
          <p:cNvPr id="28" name="Text 26"/>
          <p:cNvSpPr/>
          <p:nvPr/>
        </p:nvSpPr>
        <p:spPr>
          <a:xfrm>
            <a:off x="640080" y="3419856"/>
            <a:ext cx="6858000" cy="365760"/>
          </a:xfrm>
          <a:prstGeom prst="rect">
            <a:avLst/>
          </a:prstGeom>
          <a:noFill/>
          <a:ln/>
        </p:spPr>
        <p:txBody>
          <a:bodyPr wrap="square" lIns="0" tIns="0" rIns="0" bIns="0" rtlCol="0" anchor="ctr"/>
          <a:lstStyle/>
          <a:p>
            <a:pPr indent="0" marL="0">
              <a:buNone/>
            </a:pPr>
            <a:r>
              <a:rPr lang="en-US" sz="1650" i="1" dirty="0">
                <a:solidFill>
                  <a:srgbClr val="22D3EE"/>
                </a:solidFill>
                <a:latin typeface="Calibri" pitchFamily="34" charset="0"/>
                <a:ea typeface="Calibri" pitchFamily="34" charset="-122"/>
                <a:cs typeface="Calibri" pitchFamily="34" charset="-120"/>
              </a:rPr>
              <a:t>A Vehicle-Actuated Reinforcement Learning Approach</a:t>
            </a:r>
            <a:endParaRPr lang="en-US" sz="1650" dirty="0"/>
          </a:p>
        </p:txBody>
      </p:sp>
      <p:sp>
        <p:nvSpPr>
          <p:cNvPr id="29" name="Text 27"/>
          <p:cNvSpPr/>
          <p:nvPr/>
        </p:nvSpPr>
        <p:spPr>
          <a:xfrm>
            <a:off x="640080" y="3785616"/>
            <a:ext cx="6858000" cy="292608"/>
          </a:xfrm>
          <a:prstGeom prst="rect">
            <a:avLst/>
          </a:prstGeom>
          <a:noFill/>
          <a:ln/>
        </p:spPr>
        <p:txBody>
          <a:bodyPr wrap="square" lIns="0" tIns="0" rIns="0" bIns="0" rtlCol="0" anchor="ctr"/>
          <a:lstStyle/>
          <a:p>
            <a:pPr indent="0" marL="0">
              <a:buNone/>
            </a:pPr>
            <a:r>
              <a:rPr lang="en-US" sz="1200" dirty="0">
                <a:solidFill>
                  <a:srgbClr val="6E86A8"/>
                </a:solidFill>
                <a:latin typeface="Calibri" pitchFamily="34" charset="0"/>
                <a:ea typeface="Calibri" pitchFamily="34" charset="-122"/>
                <a:cs typeface="Calibri" pitchFamily="34" charset="-120"/>
              </a:rPr>
              <a:t>Fuel Efficiency  ·  Congestion Reduction  ·  Emergency Vehicle Prioritization</a:t>
            </a:r>
            <a:endParaRPr lang="en-US" sz="1200" dirty="0"/>
          </a:p>
        </p:txBody>
      </p:sp>
      <p:sp>
        <p:nvSpPr>
          <p:cNvPr id="30" name="Shape 28"/>
          <p:cNvSpPr/>
          <p:nvPr/>
        </p:nvSpPr>
        <p:spPr>
          <a:xfrm>
            <a:off x="658368" y="4654296"/>
            <a:ext cx="137160" cy="137160"/>
          </a:xfrm>
          <a:prstGeom prst="ellipse">
            <a:avLst/>
          </a:prstGeom>
          <a:solidFill>
            <a:srgbClr val="2FD68C"/>
          </a:solidFill>
          <a:ln w="12700">
            <a:solidFill>
              <a:srgbClr val="2FD68C"/>
            </a:solidFill>
            <a:prstDash val="solid"/>
          </a:ln>
        </p:spPr>
      </p:sp>
      <p:sp>
        <p:nvSpPr>
          <p:cNvPr id="31" name="Text 29"/>
          <p:cNvSpPr/>
          <p:nvPr/>
        </p:nvSpPr>
        <p:spPr>
          <a:xfrm>
            <a:off x="969264" y="4553712"/>
            <a:ext cx="310896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Shaun Joseph Sabu</a:t>
            </a:r>
            <a:endParaRPr lang="en-US" sz="1400" dirty="0"/>
          </a:p>
        </p:txBody>
      </p:sp>
      <p:sp>
        <p:nvSpPr>
          <p:cNvPr id="32" name="Text 30"/>
          <p:cNvSpPr/>
          <p:nvPr/>
        </p:nvSpPr>
        <p:spPr>
          <a:xfrm>
            <a:off x="4114800" y="4553712"/>
            <a:ext cx="1280160" cy="329184"/>
          </a:xfrm>
          <a:prstGeom prst="rect">
            <a:avLst/>
          </a:prstGeom>
          <a:noFill/>
          <a:ln/>
        </p:spPr>
        <p:txBody>
          <a:bodyPr wrap="square" lIns="0" tIns="0" rIns="0" bIns="0" rtlCol="0" anchor="ctr"/>
          <a:lstStyle/>
          <a:p>
            <a:pPr indent="0" marL="0">
              <a:buNone/>
            </a:pPr>
            <a:r>
              <a:rPr lang="en-US" sz="1200" dirty="0">
                <a:solidFill>
                  <a:srgbClr val="6E86A8"/>
                </a:solidFill>
                <a:latin typeface="Courier New" pitchFamily="34" charset="0"/>
                <a:ea typeface="Courier New" pitchFamily="34" charset="-122"/>
                <a:cs typeface="Courier New" pitchFamily="34" charset="-120"/>
              </a:rPr>
              <a:t>2362159</a:t>
            </a:r>
            <a:endParaRPr lang="en-US" sz="1200" dirty="0"/>
          </a:p>
        </p:txBody>
      </p:sp>
      <p:sp>
        <p:nvSpPr>
          <p:cNvPr id="33" name="Shape 31"/>
          <p:cNvSpPr/>
          <p:nvPr/>
        </p:nvSpPr>
        <p:spPr>
          <a:xfrm>
            <a:off x="658368" y="5138928"/>
            <a:ext cx="137160" cy="137160"/>
          </a:xfrm>
          <a:prstGeom prst="ellipse">
            <a:avLst/>
          </a:prstGeom>
          <a:solidFill>
            <a:srgbClr val="FF7A3D"/>
          </a:solidFill>
          <a:ln w="12700">
            <a:solidFill>
              <a:srgbClr val="FF7A3D"/>
            </a:solidFill>
            <a:prstDash val="solid"/>
          </a:ln>
        </p:spPr>
      </p:sp>
      <p:sp>
        <p:nvSpPr>
          <p:cNvPr id="34" name="Text 32"/>
          <p:cNvSpPr/>
          <p:nvPr/>
        </p:nvSpPr>
        <p:spPr>
          <a:xfrm>
            <a:off x="969264" y="5038344"/>
            <a:ext cx="310896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Anantha Narayanan A</a:t>
            </a:r>
            <a:endParaRPr lang="en-US" sz="1400" dirty="0"/>
          </a:p>
        </p:txBody>
      </p:sp>
      <p:sp>
        <p:nvSpPr>
          <p:cNvPr id="35" name="Text 33"/>
          <p:cNvSpPr/>
          <p:nvPr/>
        </p:nvSpPr>
        <p:spPr>
          <a:xfrm>
            <a:off x="4114800" y="5038344"/>
            <a:ext cx="1280160" cy="329184"/>
          </a:xfrm>
          <a:prstGeom prst="rect">
            <a:avLst/>
          </a:prstGeom>
          <a:noFill/>
          <a:ln/>
        </p:spPr>
        <p:txBody>
          <a:bodyPr wrap="square" lIns="0" tIns="0" rIns="0" bIns="0" rtlCol="0" anchor="ctr"/>
          <a:lstStyle/>
          <a:p>
            <a:pPr indent="0" marL="0">
              <a:buNone/>
            </a:pPr>
            <a:r>
              <a:rPr lang="en-US" sz="1200" dirty="0">
                <a:solidFill>
                  <a:srgbClr val="6E86A8"/>
                </a:solidFill>
                <a:latin typeface="Courier New" pitchFamily="34" charset="0"/>
                <a:ea typeface="Courier New" pitchFamily="34" charset="-122"/>
                <a:cs typeface="Courier New" pitchFamily="34" charset="-120"/>
              </a:rPr>
              <a:t>2362032</a:t>
            </a:r>
            <a:endParaRPr lang="en-US" sz="1200" dirty="0"/>
          </a:p>
        </p:txBody>
      </p:sp>
      <p:sp>
        <p:nvSpPr>
          <p:cNvPr id="36" name="Shape 34"/>
          <p:cNvSpPr/>
          <p:nvPr/>
        </p:nvSpPr>
        <p:spPr>
          <a:xfrm>
            <a:off x="658368" y="5623560"/>
            <a:ext cx="137160" cy="137160"/>
          </a:xfrm>
          <a:prstGeom prst="ellipse">
            <a:avLst/>
          </a:prstGeom>
          <a:solidFill>
            <a:srgbClr val="4D9BFF"/>
          </a:solidFill>
          <a:ln w="12700">
            <a:solidFill>
              <a:srgbClr val="4D9BFF"/>
            </a:solidFill>
            <a:prstDash val="solid"/>
          </a:ln>
        </p:spPr>
      </p:sp>
      <p:sp>
        <p:nvSpPr>
          <p:cNvPr id="37" name="Text 35"/>
          <p:cNvSpPr/>
          <p:nvPr/>
        </p:nvSpPr>
        <p:spPr>
          <a:xfrm>
            <a:off x="969264" y="5522976"/>
            <a:ext cx="310896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Delna Liz Denny</a:t>
            </a:r>
            <a:endParaRPr lang="en-US" sz="1400" dirty="0"/>
          </a:p>
        </p:txBody>
      </p:sp>
      <p:sp>
        <p:nvSpPr>
          <p:cNvPr id="38" name="Text 36"/>
          <p:cNvSpPr/>
          <p:nvPr/>
        </p:nvSpPr>
        <p:spPr>
          <a:xfrm>
            <a:off x="4114800" y="5522976"/>
            <a:ext cx="1280160" cy="329184"/>
          </a:xfrm>
          <a:prstGeom prst="rect">
            <a:avLst/>
          </a:prstGeom>
          <a:noFill/>
          <a:ln/>
        </p:spPr>
        <p:txBody>
          <a:bodyPr wrap="square" lIns="0" tIns="0" rIns="0" bIns="0" rtlCol="0" anchor="ctr"/>
          <a:lstStyle/>
          <a:p>
            <a:pPr indent="0" marL="0">
              <a:buNone/>
            </a:pPr>
            <a:r>
              <a:rPr lang="en-US" sz="1200" dirty="0">
                <a:solidFill>
                  <a:srgbClr val="6E86A8"/>
                </a:solidFill>
                <a:latin typeface="Courier New" pitchFamily="34" charset="0"/>
                <a:ea typeface="Courier New" pitchFamily="34" charset="-122"/>
                <a:cs typeface="Courier New" pitchFamily="34" charset="-120"/>
              </a:rPr>
              <a:t>2362060</a:t>
            </a:r>
            <a:endParaRPr lang="en-US" sz="1200" dirty="0"/>
          </a:p>
        </p:txBody>
      </p:sp>
      <p:sp>
        <p:nvSpPr>
          <p:cNvPr id="40" name="Text 37"/>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41" name="Text 38"/>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2D3EE"/>
                </a:solidFill>
                <a:latin typeface="Calibri" pitchFamily="34" charset="0"/>
                <a:ea typeface="Calibri" pitchFamily="34" charset="-122"/>
                <a:cs typeface="Calibri" pitchFamily="34" charset="-120"/>
              </a:rPr>
              <a:t>01 / 22</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2D3EE"/>
                </a:solidFill>
                <a:latin typeface="Arial" pitchFamily="34" charset="0"/>
                <a:ea typeface="Arial" pitchFamily="34" charset="-122"/>
                <a:cs typeface="Arial" pitchFamily="34" charset="-120"/>
              </a:rPr>
              <a:t>PROBLEM &amp; MOTIVATION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Urban Intersection Never Stands Still</a:t>
            </a:r>
            <a:endParaRPr lang="en-US" sz="2800" dirty="0"/>
          </a:p>
        </p:txBody>
      </p:sp>
      <p:sp>
        <p:nvSpPr>
          <p:cNvPr id="4" name="Shape 2"/>
          <p:cNvSpPr/>
          <p:nvPr/>
        </p:nvSpPr>
        <p:spPr>
          <a:xfrm>
            <a:off x="548640" y="1298448"/>
            <a:ext cx="3557016" cy="1463040"/>
          </a:xfrm>
          <a:prstGeom prst="roundRect">
            <a:avLst>
              <a:gd name="adj" fmla="val 6250"/>
            </a:avLst>
          </a:prstGeom>
          <a:solidFill>
            <a:srgbClr val="15223C"/>
          </a:solidFill>
          <a:ln w="12700">
            <a:solidFill>
              <a:srgbClr val="2B3E60"/>
            </a:solidFill>
            <a:prstDash val="solid"/>
          </a:ln>
        </p:spPr>
      </p:sp>
      <p:sp>
        <p:nvSpPr>
          <p:cNvPr id="5" name="Shape 3"/>
          <p:cNvSpPr/>
          <p:nvPr/>
        </p:nvSpPr>
        <p:spPr>
          <a:xfrm>
            <a:off x="804672" y="1536192"/>
            <a:ext cx="475488" cy="475488"/>
          </a:xfrm>
          <a:prstGeom prst="ellipse">
            <a:avLst/>
          </a:prstGeom>
          <a:solidFill>
            <a:srgbClr val="10314A"/>
          </a:solidFill>
          <a:ln w="12700">
            <a:solidFill>
              <a:srgbClr val="2B3E60"/>
            </a:solidFill>
            <a:prstDash val="solid"/>
          </a:ln>
        </p:spPr>
      </p:sp>
      <p:pic>
        <p:nvPicPr>
          <p:cNvPr id="6" name="Image 0" descr="preencoded.png">    </p:cNvPr>
          <p:cNvPicPr>
            <a:picLocks noChangeAspect="1"/>
          </p:cNvPicPr>
          <p:nvPr/>
        </p:nvPicPr>
        <p:blipFill>
          <a:blip r:embed="rId1"/>
          <a:stretch>
            <a:fillRect/>
          </a:stretch>
        </p:blipFill>
        <p:spPr>
          <a:xfrm>
            <a:off x="933054" y="1664574"/>
            <a:ext cx="218724" cy="218724"/>
          </a:xfrm>
          <a:prstGeom prst="rect">
            <a:avLst/>
          </a:prstGeom>
        </p:spPr>
      </p:pic>
      <p:sp>
        <p:nvSpPr>
          <p:cNvPr id="7" name="Text 4"/>
          <p:cNvSpPr/>
          <p:nvPr/>
        </p:nvSpPr>
        <p:spPr>
          <a:xfrm>
            <a:off x="1481328" y="1554480"/>
            <a:ext cx="242316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Dynamic Demand</a:t>
            </a:r>
            <a:endParaRPr lang="en-US" sz="1350" dirty="0"/>
          </a:p>
        </p:txBody>
      </p:sp>
      <p:sp>
        <p:nvSpPr>
          <p:cNvPr id="8" name="Text 5"/>
          <p:cNvSpPr/>
          <p:nvPr/>
        </p:nvSpPr>
        <p:spPr>
          <a:xfrm>
            <a:off x="804672" y="2176272"/>
            <a:ext cx="3044952" cy="45720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Vehicle arrival rates and density shift between peak and off-peak periods.</a:t>
            </a:r>
            <a:endParaRPr lang="en-US" sz="1100" dirty="0"/>
          </a:p>
        </p:txBody>
      </p:sp>
      <p:sp>
        <p:nvSpPr>
          <p:cNvPr id="9" name="Shape 6"/>
          <p:cNvSpPr/>
          <p:nvPr/>
        </p:nvSpPr>
        <p:spPr>
          <a:xfrm>
            <a:off x="4315968" y="1298448"/>
            <a:ext cx="3557016" cy="1463040"/>
          </a:xfrm>
          <a:prstGeom prst="roundRect">
            <a:avLst>
              <a:gd name="adj" fmla="val 6250"/>
            </a:avLst>
          </a:prstGeom>
          <a:solidFill>
            <a:srgbClr val="15223C"/>
          </a:solidFill>
          <a:ln w="12700">
            <a:solidFill>
              <a:srgbClr val="2B3E60"/>
            </a:solidFill>
            <a:prstDash val="solid"/>
          </a:ln>
        </p:spPr>
      </p:sp>
      <p:sp>
        <p:nvSpPr>
          <p:cNvPr id="10" name="Shape 7"/>
          <p:cNvSpPr/>
          <p:nvPr/>
        </p:nvSpPr>
        <p:spPr>
          <a:xfrm>
            <a:off x="4572000" y="1536192"/>
            <a:ext cx="475488" cy="475488"/>
          </a:xfrm>
          <a:prstGeom prst="ellipse">
            <a:avLst/>
          </a:prstGeom>
          <a:solidFill>
            <a:srgbClr val="10314A"/>
          </a:solidFill>
          <a:ln w="12700">
            <a:solidFill>
              <a:srgbClr val="2B3E60"/>
            </a:solidFill>
            <a:prstDash val="solid"/>
          </a:ln>
        </p:spPr>
      </p:sp>
      <p:pic>
        <p:nvPicPr>
          <p:cNvPr id="11" name="Image 1" descr="preencoded.png">    </p:cNvPr>
          <p:cNvPicPr>
            <a:picLocks noChangeAspect="1"/>
          </p:cNvPicPr>
          <p:nvPr/>
        </p:nvPicPr>
        <p:blipFill>
          <a:blip r:embed="rId2"/>
          <a:stretch>
            <a:fillRect/>
          </a:stretch>
        </p:blipFill>
        <p:spPr>
          <a:xfrm>
            <a:off x="4700382" y="1664574"/>
            <a:ext cx="218724" cy="218724"/>
          </a:xfrm>
          <a:prstGeom prst="rect">
            <a:avLst/>
          </a:prstGeom>
        </p:spPr>
      </p:pic>
      <p:sp>
        <p:nvSpPr>
          <p:cNvPr id="12" name="Text 8"/>
          <p:cNvSpPr/>
          <p:nvPr/>
        </p:nvSpPr>
        <p:spPr>
          <a:xfrm>
            <a:off x="5248656" y="1554480"/>
            <a:ext cx="242316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Long Queues</a:t>
            </a:r>
            <a:endParaRPr lang="en-US" sz="1350" dirty="0"/>
          </a:p>
        </p:txBody>
      </p:sp>
      <p:sp>
        <p:nvSpPr>
          <p:cNvPr id="13" name="Text 9"/>
          <p:cNvSpPr/>
          <p:nvPr/>
        </p:nvSpPr>
        <p:spPr>
          <a:xfrm>
            <a:off x="4572000" y="2176272"/>
            <a:ext cx="3044952" cy="45720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Lanes accumulate more vehicles than the allotted green can discharge.</a:t>
            </a:r>
            <a:endParaRPr lang="en-US" sz="1100" dirty="0"/>
          </a:p>
        </p:txBody>
      </p:sp>
      <p:sp>
        <p:nvSpPr>
          <p:cNvPr id="14" name="Shape 10"/>
          <p:cNvSpPr/>
          <p:nvPr/>
        </p:nvSpPr>
        <p:spPr>
          <a:xfrm>
            <a:off x="8083296" y="1298448"/>
            <a:ext cx="3557016" cy="1463040"/>
          </a:xfrm>
          <a:prstGeom prst="roundRect">
            <a:avLst>
              <a:gd name="adj" fmla="val 6250"/>
            </a:avLst>
          </a:prstGeom>
          <a:solidFill>
            <a:srgbClr val="15223C"/>
          </a:solidFill>
          <a:ln w="12700">
            <a:solidFill>
              <a:srgbClr val="2B3E60"/>
            </a:solidFill>
            <a:prstDash val="solid"/>
          </a:ln>
        </p:spPr>
      </p:sp>
      <p:sp>
        <p:nvSpPr>
          <p:cNvPr id="15" name="Shape 11"/>
          <p:cNvSpPr/>
          <p:nvPr/>
        </p:nvSpPr>
        <p:spPr>
          <a:xfrm>
            <a:off x="8339328" y="1536192"/>
            <a:ext cx="475488" cy="475488"/>
          </a:xfrm>
          <a:prstGeom prst="ellipse">
            <a:avLst/>
          </a:prstGeom>
          <a:solidFill>
            <a:srgbClr val="10314A"/>
          </a:solidFill>
          <a:ln w="12700">
            <a:solidFill>
              <a:srgbClr val="2B3E60"/>
            </a:solidFill>
            <a:prstDash val="solid"/>
          </a:ln>
        </p:spPr>
      </p:sp>
      <p:pic>
        <p:nvPicPr>
          <p:cNvPr id="16" name="Image 2" descr="preencoded.png">    </p:cNvPr>
          <p:cNvPicPr>
            <a:picLocks noChangeAspect="1"/>
          </p:cNvPicPr>
          <p:nvPr/>
        </p:nvPicPr>
        <p:blipFill>
          <a:blip r:embed="rId3"/>
          <a:stretch>
            <a:fillRect/>
          </a:stretch>
        </p:blipFill>
        <p:spPr>
          <a:xfrm>
            <a:off x="8467710" y="1664574"/>
            <a:ext cx="218724" cy="218724"/>
          </a:xfrm>
          <a:prstGeom prst="rect">
            <a:avLst/>
          </a:prstGeom>
        </p:spPr>
      </p:pic>
      <p:sp>
        <p:nvSpPr>
          <p:cNvPr id="17" name="Text 12"/>
          <p:cNvSpPr/>
          <p:nvPr/>
        </p:nvSpPr>
        <p:spPr>
          <a:xfrm>
            <a:off x="9015984" y="1554480"/>
            <a:ext cx="242316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Waiting Time</a:t>
            </a:r>
            <a:endParaRPr lang="en-US" sz="1350" dirty="0"/>
          </a:p>
        </p:txBody>
      </p:sp>
      <p:sp>
        <p:nvSpPr>
          <p:cNvPr id="18" name="Text 13"/>
          <p:cNvSpPr/>
          <p:nvPr/>
        </p:nvSpPr>
        <p:spPr>
          <a:xfrm>
            <a:off x="8339328" y="2176272"/>
            <a:ext cx="3044952" cy="45720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Accumulated delay builds across every approach to the intersection.</a:t>
            </a:r>
            <a:endParaRPr lang="en-US" sz="1100" dirty="0"/>
          </a:p>
        </p:txBody>
      </p:sp>
      <p:sp>
        <p:nvSpPr>
          <p:cNvPr id="19" name="Shape 14"/>
          <p:cNvSpPr/>
          <p:nvPr/>
        </p:nvSpPr>
        <p:spPr>
          <a:xfrm>
            <a:off x="548640" y="2852928"/>
            <a:ext cx="3557016" cy="1463040"/>
          </a:xfrm>
          <a:prstGeom prst="roundRect">
            <a:avLst>
              <a:gd name="adj" fmla="val 6250"/>
            </a:avLst>
          </a:prstGeom>
          <a:solidFill>
            <a:srgbClr val="15223C"/>
          </a:solidFill>
          <a:ln w="12700">
            <a:solidFill>
              <a:srgbClr val="2B3E60"/>
            </a:solidFill>
            <a:prstDash val="solid"/>
          </a:ln>
        </p:spPr>
      </p:sp>
      <p:sp>
        <p:nvSpPr>
          <p:cNvPr id="20" name="Shape 15"/>
          <p:cNvSpPr/>
          <p:nvPr/>
        </p:nvSpPr>
        <p:spPr>
          <a:xfrm>
            <a:off x="804672" y="3090672"/>
            <a:ext cx="475488" cy="475488"/>
          </a:xfrm>
          <a:prstGeom prst="ellipse">
            <a:avLst/>
          </a:prstGeom>
          <a:solidFill>
            <a:srgbClr val="10314A"/>
          </a:solidFill>
          <a:ln w="12700">
            <a:solidFill>
              <a:srgbClr val="2B3E60"/>
            </a:solidFill>
            <a:prstDash val="solid"/>
          </a:ln>
        </p:spPr>
      </p:sp>
      <p:pic>
        <p:nvPicPr>
          <p:cNvPr id="21" name="Image 3" descr="preencoded.png">    </p:cNvPr>
          <p:cNvPicPr>
            <a:picLocks noChangeAspect="1"/>
          </p:cNvPicPr>
          <p:nvPr/>
        </p:nvPicPr>
        <p:blipFill>
          <a:blip r:embed="rId4"/>
          <a:stretch>
            <a:fillRect/>
          </a:stretch>
        </p:blipFill>
        <p:spPr>
          <a:xfrm>
            <a:off x="933054" y="3219054"/>
            <a:ext cx="218724" cy="218724"/>
          </a:xfrm>
          <a:prstGeom prst="rect">
            <a:avLst/>
          </a:prstGeom>
        </p:spPr>
      </p:pic>
      <p:sp>
        <p:nvSpPr>
          <p:cNvPr id="22" name="Text 16"/>
          <p:cNvSpPr/>
          <p:nvPr/>
        </p:nvSpPr>
        <p:spPr>
          <a:xfrm>
            <a:off x="1481328" y="3108960"/>
            <a:ext cx="242316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Fuel &amp; Emissions</a:t>
            </a:r>
            <a:endParaRPr lang="en-US" sz="1350" dirty="0"/>
          </a:p>
        </p:txBody>
      </p:sp>
      <p:sp>
        <p:nvSpPr>
          <p:cNvPr id="23" name="Text 17"/>
          <p:cNvSpPr/>
          <p:nvPr/>
        </p:nvSpPr>
        <p:spPr>
          <a:xfrm>
            <a:off x="804672" y="3730752"/>
            <a:ext cx="3044952" cy="45720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Repeated stopping, idling and acceleration raise consumption and emissions.</a:t>
            </a:r>
            <a:endParaRPr lang="en-US" sz="1100" dirty="0"/>
          </a:p>
        </p:txBody>
      </p:sp>
      <p:sp>
        <p:nvSpPr>
          <p:cNvPr id="24" name="Shape 18"/>
          <p:cNvSpPr/>
          <p:nvPr/>
        </p:nvSpPr>
        <p:spPr>
          <a:xfrm>
            <a:off x="4315968" y="2852928"/>
            <a:ext cx="3557016" cy="1463040"/>
          </a:xfrm>
          <a:prstGeom prst="roundRect">
            <a:avLst>
              <a:gd name="adj" fmla="val 6250"/>
            </a:avLst>
          </a:prstGeom>
          <a:solidFill>
            <a:srgbClr val="15223C"/>
          </a:solidFill>
          <a:ln w="12700">
            <a:solidFill>
              <a:srgbClr val="2B3E60"/>
            </a:solidFill>
            <a:prstDash val="solid"/>
          </a:ln>
        </p:spPr>
      </p:sp>
      <p:sp>
        <p:nvSpPr>
          <p:cNvPr id="25" name="Shape 19"/>
          <p:cNvSpPr/>
          <p:nvPr/>
        </p:nvSpPr>
        <p:spPr>
          <a:xfrm>
            <a:off x="4572000" y="3090672"/>
            <a:ext cx="475488" cy="475488"/>
          </a:xfrm>
          <a:prstGeom prst="ellipse">
            <a:avLst/>
          </a:prstGeom>
          <a:solidFill>
            <a:srgbClr val="10314A"/>
          </a:solidFill>
          <a:ln w="12700">
            <a:solidFill>
              <a:srgbClr val="2B3E60"/>
            </a:solidFill>
            <a:prstDash val="solid"/>
          </a:ln>
        </p:spPr>
      </p:sp>
      <p:pic>
        <p:nvPicPr>
          <p:cNvPr id="26" name="Image 4" descr="preencoded.png">    </p:cNvPr>
          <p:cNvPicPr>
            <a:picLocks noChangeAspect="1"/>
          </p:cNvPicPr>
          <p:nvPr/>
        </p:nvPicPr>
        <p:blipFill>
          <a:blip r:embed="rId5"/>
          <a:stretch>
            <a:fillRect/>
          </a:stretch>
        </p:blipFill>
        <p:spPr>
          <a:xfrm>
            <a:off x="4700382" y="3219054"/>
            <a:ext cx="218724" cy="218724"/>
          </a:xfrm>
          <a:prstGeom prst="rect">
            <a:avLst/>
          </a:prstGeom>
        </p:spPr>
      </p:pic>
      <p:sp>
        <p:nvSpPr>
          <p:cNvPr id="27" name="Text 20"/>
          <p:cNvSpPr/>
          <p:nvPr/>
        </p:nvSpPr>
        <p:spPr>
          <a:xfrm>
            <a:off x="5248656" y="3108960"/>
            <a:ext cx="242316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Emergency Delays</a:t>
            </a:r>
            <a:endParaRPr lang="en-US" sz="1350" dirty="0"/>
          </a:p>
        </p:txBody>
      </p:sp>
      <p:sp>
        <p:nvSpPr>
          <p:cNvPr id="28" name="Text 21"/>
          <p:cNvSpPr/>
          <p:nvPr/>
        </p:nvSpPr>
        <p:spPr>
          <a:xfrm>
            <a:off x="4572000" y="3730752"/>
            <a:ext cx="3044952" cy="45720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Ambulances and fire engines can be held at a red signal.</a:t>
            </a:r>
            <a:endParaRPr lang="en-US" sz="1100" dirty="0"/>
          </a:p>
        </p:txBody>
      </p:sp>
      <p:sp>
        <p:nvSpPr>
          <p:cNvPr id="29" name="Shape 22"/>
          <p:cNvSpPr/>
          <p:nvPr/>
        </p:nvSpPr>
        <p:spPr>
          <a:xfrm>
            <a:off x="8083296" y="2852928"/>
            <a:ext cx="3557016" cy="1463040"/>
          </a:xfrm>
          <a:prstGeom prst="roundRect">
            <a:avLst>
              <a:gd name="adj" fmla="val 6250"/>
            </a:avLst>
          </a:prstGeom>
          <a:solidFill>
            <a:srgbClr val="15223C"/>
          </a:solidFill>
          <a:ln w="12700">
            <a:solidFill>
              <a:srgbClr val="2B3E60"/>
            </a:solidFill>
            <a:prstDash val="solid"/>
          </a:ln>
        </p:spPr>
      </p:sp>
      <p:sp>
        <p:nvSpPr>
          <p:cNvPr id="30" name="Shape 23"/>
          <p:cNvSpPr/>
          <p:nvPr/>
        </p:nvSpPr>
        <p:spPr>
          <a:xfrm>
            <a:off x="8339328" y="3090672"/>
            <a:ext cx="475488" cy="475488"/>
          </a:xfrm>
          <a:prstGeom prst="ellipse">
            <a:avLst/>
          </a:prstGeom>
          <a:solidFill>
            <a:srgbClr val="10314A"/>
          </a:solidFill>
          <a:ln w="12700">
            <a:solidFill>
              <a:srgbClr val="2B3E60"/>
            </a:solidFill>
            <a:prstDash val="solid"/>
          </a:ln>
        </p:spPr>
      </p:sp>
      <p:pic>
        <p:nvPicPr>
          <p:cNvPr id="31" name="Image 5" descr="preencoded.png">    </p:cNvPr>
          <p:cNvPicPr>
            <a:picLocks noChangeAspect="1"/>
          </p:cNvPicPr>
          <p:nvPr/>
        </p:nvPicPr>
        <p:blipFill>
          <a:blip r:embed="rId6"/>
          <a:stretch>
            <a:fillRect/>
          </a:stretch>
        </p:blipFill>
        <p:spPr>
          <a:xfrm>
            <a:off x="8467710" y="3219054"/>
            <a:ext cx="218724" cy="218724"/>
          </a:xfrm>
          <a:prstGeom prst="rect">
            <a:avLst/>
          </a:prstGeom>
        </p:spPr>
      </p:pic>
      <p:sp>
        <p:nvSpPr>
          <p:cNvPr id="32" name="Text 24"/>
          <p:cNvSpPr/>
          <p:nvPr/>
        </p:nvSpPr>
        <p:spPr>
          <a:xfrm>
            <a:off x="9015984" y="3108960"/>
            <a:ext cx="242316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Traffic Violations</a:t>
            </a:r>
            <a:endParaRPr lang="en-US" sz="1350" dirty="0"/>
          </a:p>
        </p:txBody>
      </p:sp>
      <p:sp>
        <p:nvSpPr>
          <p:cNvPr id="33" name="Text 25"/>
          <p:cNvSpPr/>
          <p:nvPr/>
        </p:nvSpPr>
        <p:spPr>
          <a:xfrm>
            <a:off x="8339328" y="3730752"/>
            <a:ext cx="3044952" cy="45720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Red-light and lane violations occur with no signal-side awareness.</a:t>
            </a:r>
            <a:endParaRPr lang="en-US" sz="1100" dirty="0"/>
          </a:p>
        </p:txBody>
      </p:sp>
      <p:sp>
        <p:nvSpPr>
          <p:cNvPr id="34" name="Shape 26"/>
          <p:cNvSpPr/>
          <p:nvPr/>
        </p:nvSpPr>
        <p:spPr>
          <a:xfrm>
            <a:off x="548640" y="4572000"/>
            <a:ext cx="11091672" cy="1234440"/>
          </a:xfrm>
          <a:prstGeom prst="roundRect">
            <a:avLst>
              <a:gd name="adj" fmla="val 7407"/>
            </a:avLst>
          </a:prstGeom>
          <a:solidFill>
            <a:srgbClr val="0D1730"/>
          </a:solidFill>
          <a:ln w="12700">
            <a:solidFill>
              <a:srgbClr val="2B3E60"/>
            </a:solidFill>
            <a:prstDash val="solid"/>
          </a:ln>
        </p:spPr>
      </p:sp>
      <p:sp>
        <p:nvSpPr>
          <p:cNvPr id="35" name="Shape 27"/>
          <p:cNvSpPr/>
          <p:nvPr/>
        </p:nvSpPr>
        <p:spPr>
          <a:xfrm>
            <a:off x="804672" y="4828032"/>
            <a:ext cx="457200" cy="457200"/>
          </a:xfrm>
          <a:prstGeom prst="ellipse">
            <a:avLst/>
          </a:prstGeom>
          <a:solidFill>
            <a:srgbClr val="2A2013"/>
          </a:solidFill>
          <a:ln w="12700">
            <a:solidFill>
              <a:srgbClr val="F5B041"/>
            </a:solidFill>
            <a:prstDash val="solid"/>
          </a:ln>
        </p:spPr>
      </p:sp>
      <p:pic>
        <p:nvPicPr>
          <p:cNvPr id="36" name="Image 6" descr="preencoded.png">    </p:cNvPr>
          <p:cNvPicPr>
            <a:picLocks noChangeAspect="1"/>
          </p:cNvPicPr>
          <p:nvPr/>
        </p:nvPicPr>
        <p:blipFill>
          <a:blip r:embed="rId7"/>
          <a:stretch>
            <a:fillRect/>
          </a:stretch>
        </p:blipFill>
        <p:spPr>
          <a:xfrm>
            <a:off x="928116" y="4951476"/>
            <a:ext cx="210312" cy="210312"/>
          </a:xfrm>
          <a:prstGeom prst="rect">
            <a:avLst/>
          </a:prstGeom>
        </p:spPr>
      </p:pic>
      <p:sp>
        <p:nvSpPr>
          <p:cNvPr id="37" name="Text 28"/>
          <p:cNvSpPr/>
          <p:nvPr/>
        </p:nvSpPr>
        <p:spPr>
          <a:xfrm>
            <a:off x="1426464" y="4791456"/>
            <a:ext cx="9966960" cy="274320"/>
          </a:xfrm>
          <a:prstGeom prst="rect">
            <a:avLst/>
          </a:prstGeom>
          <a:noFill/>
          <a:ln/>
        </p:spPr>
        <p:txBody>
          <a:bodyPr wrap="square" lIns="0" tIns="0" rIns="0" bIns="0" rtlCol="0" anchor="ctr"/>
          <a:lstStyle/>
          <a:p>
            <a:pPr indent="0" marL="0">
              <a:buNone/>
            </a:pPr>
            <a:r>
              <a:rPr lang="en-US" sz="1400" b="1" dirty="0">
                <a:solidFill>
                  <a:srgbClr val="F5B041"/>
                </a:solidFill>
                <a:latin typeface="Arial" pitchFamily="34" charset="0"/>
                <a:ea typeface="Arial" pitchFamily="34" charset="-122"/>
                <a:cs typeface="Arial" pitchFamily="34" charset="-120"/>
              </a:rPr>
              <a:t>Why conventional signal control falls short</a:t>
            </a:r>
            <a:endParaRPr lang="en-US" sz="1400" dirty="0"/>
          </a:p>
        </p:txBody>
      </p:sp>
      <p:sp>
        <p:nvSpPr>
          <p:cNvPr id="38" name="Text 29"/>
          <p:cNvSpPr/>
          <p:nvPr/>
        </p:nvSpPr>
        <p:spPr>
          <a:xfrm>
            <a:off x="1426464" y="5102352"/>
            <a:ext cx="9966960" cy="640080"/>
          </a:xfrm>
          <a:prstGeom prst="rect">
            <a:avLst/>
          </a:prstGeom>
          <a:noFill/>
          <a:ln/>
        </p:spPr>
        <p:txBody>
          <a:bodyPr wrap="square" lIns="0" tIns="0" rIns="0" bIns="0" rtlCol="0" anchor="ctr"/>
          <a:lstStyle/>
          <a:p>
            <a:pPr indent="0" marL="0">
              <a:lnSpc>
                <a:spcPct val="102000"/>
              </a:lnSpc>
              <a:buNone/>
            </a:pPr>
            <a:r>
              <a:rPr lang="en-US" sz="1200" dirty="0">
                <a:solidFill>
                  <a:srgbClr val="9DB2CE"/>
                </a:solidFill>
                <a:latin typeface="Calibri" pitchFamily="34" charset="0"/>
                <a:ea typeface="Calibri" pitchFamily="34" charset="-122"/>
                <a:cs typeface="Calibri" pitchFamily="34" charset="-120"/>
              </a:rPr>
              <a:t>Fixed-time schedules and hand-designed rule-based strategies assume predictable demand. They cannot re-plan when one lane suddenly develops a long queue, when an accident blocks a lane, or when an emergency vehicle approaches — the timing plan is decided before the traffic ever arrives.</a:t>
            </a:r>
            <a:endParaRPr lang="en-US" sz="1200" dirty="0"/>
          </a:p>
        </p:txBody>
      </p:sp>
      <p:sp>
        <p:nvSpPr>
          <p:cNvPr id="40" name="Text 30"/>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41" name="Text 31"/>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2D3EE"/>
                </a:solidFill>
                <a:latin typeface="Calibri" pitchFamily="34" charset="0"/>
                <a:ea typeface="Calibri" pitchFamily="34" charset="-122"/>
                <a:cs typeface="Calibri" pitchFamily="34" charset="-120"/>
              </a:rPr>
              <a:t>02 / 22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2D3EE"/>
                </a:solidFill>
                <a:latin typeface="Arial" pitchFamily="34" charset="0"/>
                <a:ea typeface="Arial" pitchFamily="34" charset="-122"/>
                <a:cs typeface="Arial" pitchFamily="34" charset="-120"/>
              </a:rPr>
              <a:t>PROPOSED APPROACH</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An Agent That Learns the Signal Policy</a:t>
            </a:r>
            <a:endParaRPr lang="en-US" sz="2800" dirty="0"/>
          </a:p>
        </p:txBody>
      </p:sp>
      <p:sp>
        <p:nvSpPr>
          <p:cNvPr id="4" name="Shape 2"/>
          <p:cNvSpPr/>
          <p:nvPr/>
        </p:nvSpPr>
        <p:spPr>
          <a:xfrm>
            <a:off x="548640" y="1207008"/>
            <a:ext cx="1664208" cy="841248"/>
          </a:xfrm>
          <a:prstGeom prst="roundRect">
            <a:avLst>
              <a:gd name="adj" fmla="val 10870"/>
            </a:avLst>
          </a:prstGeom>
          <a:solidFill>
            <a:srgbClr val="1B2B49"/>
          </a:solidFill>
          <a:ln w="12700">
            <a:solidFill>
              <a:srgbClr val="2B3E60"/>
            </a:solidFill>
            <a:prstDash val="solid"/>
          </a:ln>
        </p:spPr>
      </p:sp>
      <p:sp>
        <p:nvSpPr>
          <p:cNvPr id="5" name="Text 3"/>
          <p:cNvSpPr/>
          <p:nvPr/>
        </p:nvSpPr>
        <p:spPr>
          <a:xfrm>
            <a:off x="640080" y="1261872"/>
            <a:ext cx="1481328" cy="73152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Traffic</a:t>
            </a:r>
            <a:endParaRPr lang="en-US" sz="1100" dirty="0"/>
          </a:p>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Environment</a:t>
            </a:r>
            <a:endParaRPr lang="en-US" sz="1100" dirty="0"/>
          </a:p>
        </p:txBody>
      </p:sp>
      <p:sp>
        <p:nvSpPr>
          <p:cNvPr id="6" name="Shape 4"/>
          <p:cNvSpPr/>
          <p:nvPr/>
        </p:nvSpPr>
        <p:spPr>
          <a:xfrm rot="5400000">
            <a:off x="2249424" y="1517904"/>
            <a:ext cx="182880" cy="219456"/>
          </a:xfrm>
          <a:prstGeom prst="triangle">
            <a:avLst/>
          </a:prstGeom>
          <a:solidFill>
            <a:srgbClr val="22D3EE"/>
          </a:solidFill>
          <a:ln w="12700">
            <a:solidFill>
              <a:srgbClr val="22D3EE"/>
            </a:solidFill>
            <a:prstDash val="solid"/>
          </a:ln>
        </p:spPr>
      </p:sp>
      <p:sp>
        <p:nvSpPr>
          <p:cNvPr id="7" name="Shape 5"/>
          <p:cNvSpPr/>
          <p:nvPr/>
        </p:nvSpPr>
        <p:spPr>
          <a:xfrm>
            <a:off x="2468880" y="1207008"/>
            <a:ext cx="1664208" cy="841248"/>
          </a:xfrm>
          <a:prstGeom prst="roundRect">
            <a:avLst>
              <a:gd name="adj" fmla="val 10870"/>
            </a:avLst>
          </a:prstGeom>
          <a:solidFill>
            <a:srgbClr val="1B2B49"/>
          </a:solidFill>
          <a:ln w="12700">
            <a:solidFill>
              <a:srgbClr val="2B3E60"/>
            </a:solidFill>
            <a:prstDash val="solid"/>
          </a:ln>
        </p:spPr>
      </p:sp>
      <p:sp>
        <p:nvSpPr>
          <p:cNvPr id="8" name="Text 6"/>
          <p:cNvSpPr/>
          <p:nvPr/>
        </p:nvSpPr>
        <p:spPr>
          <a:xfrm>
            <a:off x="2560320" y="1261872"/>
            <a:ext cx="1481328" cy="73152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State</a:t>
            </a:r>
            <a:endParaRPr lang="en-US" sz="1100" dirty="0"/>
          </a:p>
        </p:txBody>
      </p:sp>
      <p:sp>
        <p:nvSpPr>
          <p:cNvPr id="9" name="Shape 7"/>
          <p:cNvSpPr/>
          <p:nvPr/>
        </p:nvSpPr>
        <p:spPr>
          <a:xfrm rot="5400000">
            <a:off x="4169664" y="1517904"/>
            <a:ext cx="182880" cy="219456"/>
          </a:xfrm>
          <a:prstGeom prst="triangle">
            <a:avLst/>
          </a:prstGeom>
          <a:solidFill>
            <a:srgbClr val="22D3EE"/>
          </a:solidFill>
          <a:ln w="12700">
            <a:solidFill>
              <a:srgbClr val="22D3EE"/>
            </a:solidFill>
            <a:prstDash val="solid"/>
          </a:ln>
        </p:spPr>
      </p:sp>
      <p:sp>
        <p:nvSpPr>
          <p:cNvPr id="10" name="Shape 8"/>
          <p:cNvSpPr/>
          <p:nvPr/>
        </p:nvSpPr>
        <p:spPr>
          <a:xfrm>
            <a:off x="4389120" y="1207008"/>
            <a:ext cx="1664208" cy="841248"/>
          </a:xfrm>
          <a:prstGeom prst="roundRect">
            <a:avLst>
              <a:gd name="adj" fmla="val 10870"/>
            </a:avLst>
          </a:prstGeom>
          <a:solidFill>
            <a:srgbClr val="0C3A4A"/>
          </a:solidFill>
          <a:ln w="12700">
            <a:solidFill>
              <a:srgbClr val="22D3EE"/>
            </a:solidFill>
            <a:prstDash val="solid"/>
          </a:ln>
        </p:spPr>
      </p:sp>
      <p:sp>
        <p:nvSpPr>
          <p:cNvPr id="11" name="Text 9"/>
          <p:cNvSpPr/>
          <p:nvPr/>
        </p:nvSpPr>
        <p:spPr>
          <a:xfrm>
            <a:off x="4480560" y="1261872"/>
            <a:ext cx="1481328" cy="731520"/>
          </a:xfrm>
          <a:prstGeom prst="rect">
            <a:avLst/>
          </a:prstGeom>
          <a:noFill/>
          <a:ln/>
        </p:spPr>
        <p:txBody>
          <a:bodyPr wrap="square" lIns="0" tIns="0" rIns="0" bIns="0" rtlCol="0" anchor="ctr"/>
          <a:lstStyle/>
          <a:p>
            <a:pPr algn="ctr" indent="0" marL="0">
              <a:lnSpc>
                <a:spcPct val="95000"/>
              </a:lnSpc>
              <a:buNone/>
            </a:pPr>
            <a:r>
              <a:rPr lang="en-US" sz="1100" b="1" dirty="0">
                <a:solidFill>
                  <a:srgbClr val="22D3EE"/>
                </a:solidFill>
                <a:latin typeface="Calibri" pitchFamily="34" charset="0"/>
                <a:ea typeface="Calibri" pitchFamily="34" charset="-122"/>
                <a:cs typeface="Calibri" pitchFamily="34" charset="-120"/>
              </a:rPr>
              <a:t>DQN</a:t>
            </a:r>
            <a:endParaRPr lang="en-US" sz="1100" dirty="0"/>
          </a:p>
          <a:p>
            <a:pPr algn="ctr" indent="0" marL="0">
              <a:lnSpc>
                <a:spcPct val="95000"/>
              </a:lnSpc>
              <a:buNone/>
            </a:pPr>
            <a:r>
              <a:rPr lang="en-US" sz="1100" b="1" dirty="0">
                <a:solidFill>
                  <a:srgbClr val="22D3EE"/>
                </a:solidFill>
                <a:latin typeface="Calibri" pitchFamily="34" charset="0"/>
                <a:ea typeface="Calibri" pitchFamily="34" charset="-122"/>
                <a:cs typeface="Calibri" pitchFamily="34" charset="-120"/>
              </a:rPr>
              <a:t>Agent</a:t>
            </a:r>
            <a:endParaRPr lang="en-US" sz="1100" dirty="0"/>
          </a:p>
        </p:txBody>
      </p:sp>
      <p:sp>
        <p:nvSpPr>
          <p:cNvPr id="12" name="Shape 10"/>
          <p:cNvSpPr/>
          <p:nvPr/>
        </p:nvSpPr>
        <p:spPr>
          <a:xfrm rot="5400000">
            <a:off x="6089904" y="1517904"/>
            <a:ext cx="182880" cy="219456"/>
          </a:xfrm>
          <a:prstGeom prst="triangle">
            <a:avLst/>
          </a:prstGeom>
          <a:solidFill>
            <a:srgbClr val="22D3EE"/>
          </a:solidFill>
          <a:ln w="12700">
            <a:solidFill>
              <a:srgbClr val="22D3EE"/>
            </a:solidFill>
            <a:prstDash val="solid"/>
          </a:ln>
        </p:spPr>
      </p:sp>
      <p:sp>
        <p:nvSpPr>
          <p:cNvPr id="13" name="Shape 11"/>
          <p:cNvSpPr/>
          <p:nvPr/>
        </p:nvSpPr>
        <p:spPr>
          <a:xfrm>
            <a:off x="6309360" y="1207008"/>
            <a:ext cx="1664208" cy="841248"/>
          </a:xfrm>
          <a:prstGeom prst="roundRect">
            <a:avLst>
              <a:gd name="adj" fmla="val 10870"/>
            </a:avLst>
          </a:prstGeom>
          <a:solidFill>
            <a:srgbClr val="1B2B49"/>
          </a:solidFill>
          <a:ln w="12700">
            <a:solidFill>
              <a:srgbClr val="2B3E60"/>
            </a:solidFill>
            <a:prstDash val="solid"/>
          </a:ln>
        </p:spPr>
      </p:sp>
      <p:sp>
        <p:nvSpPr>
          <p:cNvPr id="14" name="Text 12"/>
          <p:cNvSpPr/>
          <p:nvPr/>
        </p:nvSpPr>
        <p:spPr>
          <a:xfrm>
            <a:off x="6400800" y="1261872"/>
            <a:ext cx="1481328" cy="73152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p>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5" name="Shape 13"/>
          <p:cNvSpPr/>
          <p:nvPr/>
        </p:nvSpPr>
        <p:spPr>
          <a:xfrm rot="5400000">
            <a:off x="8010144" y="1517904"/>
            <a:ext cx="182880" cy="219456"/>
          </a:xfrm>
          <a:prstGeom prst="triangle">
            <a:avLst/>
          </a:prstGeom>
          <a:solidFill>
            <a:srgbClr val="22D3EE"/>
          </a:solidFill>
          <a:ln w="12700">
            <a:solidFill>
              <a:srgbClr val="22D3EE"/>
            </a:solidFill>
            <a:prstDash val="solid"/>
          </a:ln>
        </p:spPr>
      </p:sp>
      <p:sp>
        <p:nvSpPr>
          <p:cNvPr id="16" name="Shape 14"/>
          <p:cNvSpPr/>
          <p:nvPr/>
        </p:nvSpPr>
        <p:spPr>
          <a:xfrm>
            <a:off x="8229600" y="1207008"/>
            <a:ext cx="1664208" cy="841248"/>
          </a:xfrm>
          <a:prstGeom prst="roundRect">
            <a:avLst>
              <a:gd name="adj" fmla="val 10870"/>
            </a:avLst>
          </a:prstGeom>
          <a:solidFill>
            <a:srgbClr val="1B2B49"/>
          </a:solidFill>
          <a:ln w="12700">
            <a:solidFill>
              <a:srgbClr val="2B3E60"/>
            </a:solidFill>
            <a:prstDash val="solid"/>
          </a:ln>
        </p:spPr>
      </p:sp>
      <p:sp>
        <p:nvSpPr>
          <p:cNvPr id="17" name="Text 15"/>
          <p:cNvSpPr/>
          <p:nvPr/>
        </p:nvSpPr>
        <p:spPr>
          <a:xfrm>
            <a:off x="8321040" y="1261872"/>
            <a:ext cx="1481328" cy="73152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Reward</a:t>
            </a:r>
            <a:endParaRPr lang="en-US" sz="1100" dirty="0"/>
          </a:p>
        </p:txBody>
      </p:sp>
      <p:sp>
        <p:nvSpPr>
          <p:cNvPr id="18" name="Shape 16"/>
          <p:cNvSpPr/>
          <p:nvPr/>
        </p:nvSpPr>
        <p:spPr>
          <a:xfrm rot="5400000">
            <a:off x="9930384" y="1517904"/>
            <a:ext cx="182880" cy="219456"/>
          </a:xfrm>
          <a:prstGeom prst="triangle">
            <a:avLst/>
          </a:prstGeom>
          <a:solidFill>
            <a:srgbClr val="22D3EE"/>
          </a:solidFill>
          <a:ln w="12700">
            <a:solidFill>
              <a:srgbClr val="22D3EE"/>
            </a:solidFill>
            <a:prstDash val="solid"/>
          </a:ln>
        </p:spPr>
      </p:sp>
      <p:sp>
        <p:nvSpPr>
          <p:cNvPr id="19" name="Shape 17"/>
          <p:cNvSpPr/>
          <p:nvPr/>
        </p:nvSpPr>
        <p:spPr>
          <a:xfrm>
            <a:off x="10149840" y="1207008"/>
            <a:ext cx="1664208" cy="841248"/>
          </a:xfrm>
          <a:prstGeom prst="roundRect">
            <a:avLst>
              <a:gd name="adj" fmla="val 10870"/>
            </a:avLst>
          </a:prstGeom>
          <a:solidFill>
            <a:srgbClr val="1B2B49"/>
          </a:solidFill>
          <a:ln w="12700">
            <a:solidFill>
              <a:srgbClr val="2B3E60"/>
            </a:solidFill>
            <a:prstDash val="solid"/>
          </a:ln>
        </p:spPr>
      </p:sp>
      <p:sp>
        <p:nvSpPr>
          <p:cNvPr id="20" name="Text 18"/>
          <p:cNvSpPr/>
          <p:nvPr/>
        </p:nvSpPr>
        <p:spPr>
          <a:xfrm>
            <a:off x="10241280" y="1261872"/>
            <a:ext cx="1481328" cy="731520"/>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Learning</a:t>
            </a:r>
            <a:endParaRPr lang="en-US" sz="1100" dirty="0"/>
          </a:p>
        </p:txBody>
      </p:sp>
      <p:sp>
        <p:nvSpPr>
          <p:cNvPr id="21" name="Text 19"/>
          <p:cNvSpPr/>
          <p:nvPr/>
        </p:nvSpPr>
        <p:spPr>
          <a:xfrm>
            <a:off x="548640" y="2157984"/>
            <a:ext cx="11091672" cy="274320"/>
          </a:xfrm>
          <a:prstGeom prst="rect">
            <a:avLst/>
          </a:prstGeom>
          <a:noFill/>
          <a:ln/>
        </p:spPr>
        <p:txBody>
          <a:bodyPr wrap="square" lIns="0" tIns="0" rIns="0" bIns="0" rtlCol="0" anchor="ctr"/>
          <a:lstStyle/>
          <a:p>
            <a:pPr algn="ctr" indent="0" marL="0">
              <a:buNone/>
            </a:pPr>
            <a:r>
              <a:rPr lang="en-US" sz="1100" i="1" dirty="0">
                <a:solidFill>
                  <a:srgbClr val="6E86A8"/>
                </a:solidFill>
                <a:latin typeface="Calibri" pitchFamily="34" charset="0"/>
                <a:ea typeface="Calibri" pitchFamily="34" charset="-122"/>
                <a:cs typeface="Calibri" pitchFamily="34" charset="-120"/>
              </a:rPr>
              <a:t>Observe  →  Decide  →  Control Signal  →  Observe New Condition  →  Receive Reward  →  Learn      ·      one decision every 5–10 s of simulation time</a:t>
            </a:r>
            <a:endParaRPr lang="en-US" sz="1100" dirty="0"/>
          </a:p>
        </p:txBody>
      </p:sp>
      <p:sp>
        <p:nvSpPr>
          <p:cNvPr id="22" name="Shape 20"/>
          <p:cNvSpPr/>
          <p:nvPr/>
        </p:nvSpPr>
        <p:spPr>
          <a:xfrm>
            <a:off x="548640" y="2542032"/>
            <a:ext cx="5440680" cy="2395728"/>
          </a:xfrm>
          <a:prstGeom prst="roundRect">
            <a:avLst>
              <a:gd name="adj" fmla="val 3817"/>
            </a:avLst>
          </a:prstGeom>
          <a:solidFill>
            <a:srgbClr val="15223C"/>
          </a:solidFill>
          <a:ln w="12700">
            <a:solidFill>
              <a:srgbClr val="2B3E60"/>
            </a:solidFill>
            <a:prstDash val="solid"/>
          </a:ln>
        </p:spPr>
      </p:sp>
      <p:sp>
        <p:nvSpPr>
          <p:cNvPr id="23" name="Shape 21"/>
          <p:cNvSpPr/>
          <p:nvPr/>
        </p:nvSpPr>
        <p:spPr>
          <a:xfrm>
            <a:off x="804672" y="2761488"/>
            <a:ext cx="438912" cy="438912"/>
          </a:xfrm>
          <a:prstGeom prst="ellipse">
            <a:avLst/>
          </a:prstGeom>
          <a:solidFill>
            <a:srgbClr val="10314A"/>
          </a:solidFill>
          <a:ln w="12700">
            <a:solidFill>
              <a:srgbClr val="2B3E60"/>
            </a:solidFill>
            <a:prstDash val="solid"/>
          </a:ln>
        </p:spPr>
      </p:sp>
      <p:pic>
        <p:nvPicPr>
          <p:cNvPr id="24" name="Image 0" descr="preencoded.png">    </p:cNvPr>
          <p:cNvPicPr>
            <a:picLocks noChangeAspect="1"/>
          </p:cNvPicPr>
          <p:nvPr/>
        </p:nvPicPr>
        <p:blipFill>
          <a:blip r:embed="rId1"/>
          <a:stretch>
            <a:fillRect/>
          </a:stretch>
        </p:blipFill>
        <p:spPr>
          <a:xfrm>
            <a:off x="923178" y="2879994"/>
            <a:ext cx="201900" cy="201900"/>
          </a:xfrm>
          <a:prstGeom prst="rect">
            <a:avLst/>
          </a:prstGeom>
        </p:spPr>
      </p:pic>
      <p:sp>
        <p:nvSpPr>
          <p:cNvPr id="25" name="Text 22"/>
          <p:cNvSpPr/>
          <p:nvPr/>
        </p:nvSpPr>
        <p:spPr>
          <a:xfrm>
            <a:off x="1371600" y="2743200"/>
            <a:ext cx="438912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Why Reinforcement Learning?</a:t>
            </a:r>
            <a:endParaRPr lang="en-US" sz="1500" dirty="0"/>
          </a:p>
        </p:txBody>
      </p:sp>
      <p:sp>
        <p:nvSpPr>
          <p:cNvPr id="26" name="Text 23"/>
          <p:cNvSpPr/>
          <p:nvPr/>
        </p:nvSpPr>
        <p:spPr>
          <a:xfrm>
            <a:off x="841248" y="3310128"/>
            <a:ext cx="4892040" cy="1508760"/>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1200" dirty="0">
                <a:solidFill>
                  <a:srgbClr val="9DB2CE"/>
                </a:solidFill>
                <a:latin typeface="Calibri" pitchFamily="34" charset="0"/>
                <a:ea typeface="Calibri" pitchFamily="34" charset="-122"/>
                <a:cs typeface="Calibri" pitchFamily="34" charset="-120"/>
              </a:rPr>
              <a:t>Dynamic, stochastic environment — vehicle arrivals are unpredictable</a:t>
            </a:r>
            <a:endParaRPr lang="en-US" sz="1200" dirty="0"/>
          </a:p>
          <a:p>
            <a:pPr marL="342900" indent="-342900">
              <a:lnSpc>
                <a:spcPct val="100000"/>
              </a:lnSpc>
              <a:spcAft>
                <a:spcPts val="500"/>
              </a:spcAft>
              <a:buSzPct val="100000"/>
              <a:buChar char="•"/>
            </a:pPr>
            <a:r>
              <a:rPr lang="en-US" sz="1200" dirty="0">
                <a:solidFill>
                  <a:srgbClr val="9DB2CE"/>
                </a:solidFill>
                <a:latin typeface="Calibri" pitchFamily="34" charset="0"/>
                <a:ea typeface="Calibri" pitchFamily="34" charset="-122"/>
                <a:cs typeface="Calibri" pitchFamily="34" charset="-120"/>
              </a:rPr>
              <a:t>Sequential decisions — each action reshapes future traffic states</a:t>
            </a:r>
            <a:endParaRPr lang="en-US" sz="1200" dirty="0"/>
          </a:p>
          <a:p>
            <a:pPr marL="342900" indent="-342900">
              <a:lnSpc>
                <a:spcPct val="100000"/>
              </a:lnSpc>
              <a:spcAft>
                <a:spcPts val="500"/>
              </a:spcAft>
              <a:buSzPct val="100000"/>
              <a:buChar char="•"/>
            </a:pPr>
            <a:r>
              <a:rPr lang="en-US" sz="1200" dirty="0">
                <a:solidFill>
                  <a:srgbClr val="9DB2CE"/>
                </a:solidFill>
                <a:latin typeface="Calibri" pitchFamily="34" charset="0"/>
                <a:ea typeface="Calibri" pitchFamily="34" charset="-122"/>
                <a:cs typeface="Calibri" pitchFamily="34" charset="-120"/>
              </a:rPr>
              <a:t>No fixed rule can enumerate every traffic condition</a:t>
            </a:r>
            <a:endParaRPr lang="en-US" sz="1200" dirty="0"/>
          </a:p>
          <a:p>
            <a:pPr marL="342900" indent="-342900">
              <a:lnSpc>
                <a:spcPct val="100000"/>
              </a:lnSpc>
              <a:spcAft>
                <a:spcPts val="500"/>
              </a:spcAft>
              <a:buSzPct val="100000"/>
              <a:buChar char="•"/>
            </a:pPr>
            <a:r>
              <a:rPr lang="en-US" sz="1200" dirty="0">
                <a:solidFill>
                  <a:srgbClr val="9DB2CE"/>
                </a:solidFill>
                <a:latin typeface="Calibri" pitchFamily="34" charset="0"/>
                <a:ea typeface="Calibri" pitchFamily="34" charset="-122"/>
                <a:cs typeface="Calibri" pitchFamily="34" charset="-120"/>
              </a:rPr>
              <a:t>Learns a policy that maximises long-term traffic efficiency</a:t>
            </a:r>
            <a:endParaRPr lang="en-US" sz="1200" dirty="0"/>
          </a:p>
        </p:txBody>
      </p:sp>
      <p:sp>
        <p:nvSpPr>
          <p:cNvPr id="27" name="Shape 24"/>
          <p:cNvSpPr/>
          <p:nvPr/>
        </p:nvSpPr>
        <p:spPr>
          <a:xfrm>
            <a:off x="6199632" y="2542032"/>
            <a:ext cx="5440680" cy="2395728"/>
          </a:xfrm>
          <a:prstGeom prst="roundRect">
            <a:avLst>
              <a:gd name="adj" fmla="val 3817"/>
            </a:avLst>
          </a:prstGeom>
          <a:solidFill>
            <a:srgbClr val="15223C"/>
          </a:solidFill>
          <a:ln w="12700">
            <a:solidFill>
              <a:srgbClr val="2B3E60"/>
            </a:solidFill>
            <a:prstDash val="solid"/>
          </a:ln>
        </p:spPr>
      </p:sp>
      <p:sp>
        <p:nvSpPr>
          <p:cNvPr id="28" name="Shape 25"/>
          <p:cNvSpPr/>
          <p:nvPr/>
        </p:nvSpPr>
        <p:spPr>
          <a:xfrm>
            <a:off x="6455664" y="2761488"/>
            <a:ext cx="438912" cy="438912"/>
          </a:xfrm>
          <a:prstGeom prst="ellipse">
            <a:avLst/>
          </a:prstGeom>
          <a:solidFill>
            <a:srgbClr val="10314A"/>
          </a:solidFill>
          <a:ln w="12700">
            <a:solidFill>
              <a:srgbClr val="2B3E60"/>
            </a:solidFill>
            <a:prstDash val="solid"/>
          </a:ln>
        </p:spPr>
      </p:sp>
      <p:pic>
        <p:nvPicPr>
          <p:cNvPr id="29" name="Image 1" descr="preencoded.png">    </p:cNvPr>
          <p:cNvPicPr>
            <a:picLocks noChangeAspect="1"/>
          </p:cNvPicPr>
          <p:nvPr/>
        </p:nvPicPr>
        <p:blipFill>
          <a:blip r:embed="rId2"/>
          <a:stretch>
            <a:fillRect/>
          </a:stretch>
        </p:blipFill>
        <p:spPr>
          <a:xfrm>
            <a:off x="6574170" y="2879994"/>
            <a:ext cx="201900" cy="201900"/>
          </a:xfrm>
          <a:prstGeom prst="rect">
            <a:avLst/>
          </a:prstGeom>
        </p:spPr>
      </p:pic>
      <p:sp>
        <p:nvSpPr>
          <p:cNvPr id="30" name="Text 26"/>
          <p:cNvSpPr/>
          <p:nvPr/>
        </p:nvSpPr>
        <p:spPr>
          <a:xfrm>
            <a:off x="7022592" y="2743200"/>
            <a:ext cx="438912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Why Deep Q-Network?</a:t>
            </a:r>
            <a:endParaRPr lang="en-US" sz="1500" dirty="0"/>
          </a:p>
        </p:txBody>
      </p:sp>
      <p:sp>
        <p:nvSpPr>
          <p:cNvPr id="31" name="Text 27"/>
          <p:cNvSpPr/>
          <p:nvPr/>
        </p:nvSpPr>
        <p:spPr>
          <a:xfrm>
            <a:off x="6492240" y="3310128"/>
            <a:ext cx="4892040" cy="1554480"/>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1150" dirty="0">
                <a:solidFill>
                  <a:srgbClr val="9DB2CE"/>
                </a:solidFill>
                <a:latin typeface="Calibri" pitchFamily="34" charset="0"/>
                <a:ea typeface="Calibri" pitchFamily="34" charset="-122"/>
                <a:cs typeface="Calibri" pitchFamily="34" charset="-120"/>
              </a:rPr>
              <a:t>Discrete action space — signal decisions are naturally discrete</a:t>
            </a:r>
            <a:endParaRPr lang="en-US" sz="1150" dirty="0"/>
          </a:p>
          <a:p>
            <a:pPr marL="342900" indent="-342900">
              <a:lnSpc>
                <a:spcPct val="100000"/>
              </a:lnSpc>
              <a:spcAft>
                <a:spcPts val="200"/>
              </a:spcAft>
              <a:buSzPct val="100000"/>
              <a:buChar char="•"/>
            </a:pPr>
            <a:r>
              <a:rPr lang="en-US" sz="1150" dirty="0">
                <a:solidFill>
                  <a:srgbClr val="9DB2CE"/>
                </a:solidFill>
                <a:latin typeface="Calibri" pitchFamily="34" charset="0"/>
                <a:ea typeface="Calibri" pitchFamily="34" charset="-122"/>
                <a:cs typeface="Calibri" pitchFamily="34" charset="-120"/>
              </a:rPr>
              <a:t>Large, high-dimensional state — a Q-table becomes impractical</a:t>
            </a:r>
            <a:endParaRPr lang="en-US" sz="1150" dirty="0"/>
          </a:p>
          <a:p>
            <a:pPr marL="342900" indent="-342900">
              <a:lnSpc>
                <a:spcPct val="100000"/>
              </a:lnSpc>
              <a:spcAft>
                <a:spcPts val="200"/>
              </a:spcAft>
              <a:buSzPct val="100000"/>
              <a:buChar char="•"/>
            </a:pPr>
            <a:r>
              <a:rPr lang="en-US" sz="1150" dirty="0">
                <a:solidFill>
                  <a:srgbClr val="9DB2CE"/>
                </a:solidFill>
                <a:latin typeface="Calibri" pitchFamily="34" charset="0"/>
                <a:ea typeface="Calibri" pitchFamily="34" charset="-122"/>
                <a:cs typeface="Calibri" pitchFamily="34" charset="-120"/>
              </a:rPr>
              <a:t>Neural network approximates Q(state, action)</a:t>
            </a:r>
            <a:endParaRPr lang="en-US" sz="1150" dirty="0"/>
          </a:p>
          <a:p>
            <a:pPr marL="342900" indent="-342900">
              <a:lnSpc>
                <a:spcPct val="100000"/>
              </a:lnSpc>
              <a:spcAft>
                <a:spcPts val="200"/>
              </a:spcAft>
              <a:buSzPct val="100000"/>
              <a:buChar char="•"/>
            </a:pPr>
            <a:r>
              <a:rPr lang="en-US" sz="1150" dirty="0">
                <a:solidFill>
                  <a:srgbClr val="9DB2CE"/>
                </a:solidFill>
                <a:latin typeface="Calibri" pitchFamily="34" charset="0"/>
                <a:ea typeface="Calibri" pitchFamily="34" charset="-122"/>
                <a:cs typeface="Calibri" pitchFamily="34" charset="-120"/>
              </a:rPr>
              <a:t>Model-free — no explicit model of vehicle movement needed</a:t>
            </a:r>
            <a:endParaRPr lang="en-US" sz="1150" dirty="0"/>
          </a:p>
          <a:p>
            <a:pPr marL="342900" indent="-342900">
              <a:lnSpc>
                <a:spcPct val="100000"/>
              </a:lnSpc>
              <a:spcAft>
                <a:spcPts val="200"/>
              </a:spcAft>
              <a:buSzPct val="100000"/>
              <a:buChar char="•"/>
            </a:pPr>
            <a:r>
              <a:rPr lang="en-US" sz="1150" dirty="0">
                <a:solidFill>
                  <a:srgbClr val="9DB2CE"/>
                </a:solidFill>
                <a:latin typeface="Calibri" pitchFamily="34" charset="0"/>
                <a:ea typeface="Calibri" pitchFamily="34" charset="-122"/>
                <a:cs typeface="Calibri" pitchFamily="34" charset="-120"/>
              </a:rPr>
              <a:t>Optimises cumulative future reward, not just the next step</a:t>
            </a:r>
            <a:endParaRPr lang="en-US" sz="1150" dirty="0"/>
          </a:p>
          <a:p>
            <a:pPr marL="342900" indent="-342900">
              <a:lnSpc>
                <a:spcPct val="100000"/>
              </a:lnSpc>
              <a:spcAft>
                <a:spcPts val="200"/>
              </a:spcAft>
              <a:buSzPct val="100000"/>
              <a:buChar char="•"/>
            </a:pPr>
            <a:r>
              <a:rPr lang="en-US" sz="1150" dirty="0">
                <a:solidFill>
                  <a:srgbClr val="9DB2CE"/>
                </a:solidFill>
                <a:latin typeface="Calibri" pitchFamily="34" charset="0"/>
                <a:ea typeface="Calibri" pitchFamily="34" charset="-122"/>
                <a:cs typeface="Calibri" pitchFamily="34" charset="-120"/>
              </a:rPr>
              <a:t>Trainable by repeated simulation in SUMO</a:t>
            </a:r>
            <a:endParaRPr lang="en-US" sz="1150" dirty="0"/>
          </a:p>
        </p:txBody>
      </p:sp>
      <p:sp>
        <p:nvSpPr>
          <p:cNvPr id="32" name="Shape 28"/>
          <p:cNvSpPr/>
          <p:nvPr/>
        </p:nvSpPr>
        <p:spPr>
          <a:xfrm>
            <a:off x="548640" y="5193792"/>
            <a:ext cx="3557016" cy="841248"/>
          </a:xfrm>
          <a:prstGeom prst="roundRect">
            <a:avLst>
              <a:gd name="adj" fmla="val 10870"/>
            </a:avLst>
          </a:prstGeom>
          <a:solidFill>
            <a:srgbClr val="3A2113"/>
          </a:solidFill>
          <a:ln w="12700">
            <a:solidFill>
              <a:srgbClr val="FF7A3D"/>
            </a:solidFill>
            <a:prstDash val="solid"/>
          </a:ln>
        </p:spPr>
      </p:sp>
      <p:sp>
        <p:nvSpPr>
          <p:cNvPr id="33" name="Text 29"/>
          <p:cNvSpPr/>
          <p:nvPr/>
        </p:nvSpPr>
        <p:spPr>
          <a:xfrm>
            <a:off x="768096" y="5303520"/>
            <a:ext cx="3108960" cy="219456"/>
          </a:xfrm>
          <a:prstGeom prst="rect">
            <a:avLst/>
          </a:prstGeom>
          <a:noFill/>
          <a:ln/>
        </p:spPr>
        <p:txBody>
          <a:bodyPr wrap="square" lIns="0" tIns="0" rIns="0" bIns="0" rtlCol="0" anchor="ctr"/>
          <a:lstStyle/>
          <a:p>
            <a:pPr indent="0" marL="0">
              <a:buNone/>
            </a:pPr>
            <a:r>
              <a:rPr lang="en-US" sz="900" b="1" spc="140" kern="0" dirty="0">
                <a:solidFill>
                  <a:srgbClr val="FF7A3D"/>
                </a:solidFill>
                <a:latin typeface="Arial" pitchFamily="34" charset="0"/>
                <a:ea typeface="Arial" pitchFamily="34" charset="-122"/>
                <a:cs typeface="Arial" pitchFamily="34" charset="-120"/>
              </a:rPr>
              <a:t>OBJECTIVE 01</a:t>
            </a:r>
            <a:endParaRPr lang="en-US" sz="900" dirty="0"/>
          </a:p>
        </p:txBody>
      </p:sp>
      <p:sp>
        <p:nvSpPr>
          <p:cNvPr id="34" name="Text 30"/>
          <p:cNvSpPr/>
          <p:nvPr/>
        </p:nvSpPr>
        <p:spPr>
          <a:xfrm>
            <a:off x="768096" y="5522976"/>
            <a:ext cx="310896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Emergency Prioritization</a:t>
            </a:r>
            <a:endParaRPr lang="en-US" sz="1350" dirty="0"/>
          </a:p>
        </p:txBody>
      </p:sp>
      <p:sp>
        <p:nvSpPr>
          <p:cNvPr id="35" name="Text 31"/>
          <p:cNvSpPr/>
          <p:nvPr/>
        </p:nvSpPr>
        <p:spPr>
          <a:xfrm>
            <a:off x="768096" y="5779008"/>
            <a:ext cx="3108960" cy="201168"/>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Anantha</a:t>
            </a:r>
            <a:endParaRPr lang="en-US" sz="1050" dirty="0"/>
          </a:p>
        </p:txBody>
      </p:sp>
      <p:sp>
        <p:nvSpPr>
          <p:cNvPr id="36" name="Shape 32"/>
          <p:cNvSpPr/>
          <p:nvPr/>
        </p:nvSpPr>
        <p:spPr>
          <a:xfrm>
            <a:off x="4334256" y="5193792"/>
            <a:ext cx="3557016" cy="841248"/>
          </a:xfrm>
          <a:prstGeom prst="roundRect">
            <a:avLst>
              <a:gd name="adj" fmla="val 10870"/>
            </a:avLst>
          </a:prstGeom>
          <a:solidFill>
            <a:srgbClr val="10331F"/>
          </a:solidFill>
          <a:ln w="12700">
            <a:solidFill>
              <a:srgbClr val="2FD68C"/>
            </a:solidFill>
            <a:prstDash val="solid"/>
          </a:ln>
        </p:spPr>
      </p:sp>
      <p:sp>
        <p:nvSpPr>
          <p:cNvPr id="37" name="Text 33"/>
          <p:cNvSpPr/>
          <p:nvPr/>
        </p:nvSpPr>
        <p:spPr>
          <a:xfrm>
            <a:off x="4553712" y="5303520"/>
            <a:ext cx="3108960" cy="219456"/>
          </a:xfrm>
          <a:prstGeom prst="rect">
            <a:avLst/>
          </a:prstGeom>
          <a:noFill/>
          <a:ln/>
        </p:spPr>
        <p:txBody>
          <a:bodyPr wrap="square" lIns="0" tIns="0" rIns="0" bIns="0" rtlCol="0" anchor="ctr"/>
          <a:lstStyle/>
          <a:p>
            <a:pPr indent="0" marL="0">
              <a:buNone/>
            </a:pPr>
            <a:r>
              <a:rPr lang="en-US" sz="900" b="1" spc="140" kern="0" dirty="0">
                <a:solidFill>
                  <a:srgbClr val="2FD68C"/>
                </a:solidFill>
                <a:latin typeface="Arial" pitchFamily="34" charset="0"/>
                <a:ea typeface="Arial" pitchFamily="34" charset="-122"/>
                <a:cs typeface="Arial" pitchFamily="34" charset="-120"/>
              </a:rPr>
              <a:t>OBJECTIVE 02</a:t>
            </a:r>
            <a:endParaRPr lang="en-US" sz="900" dirty="0"/>
          </a:p>
        </p:txBody>
      </p:sp>
      <p:sp>
        <p:nvSpPr>
          <p:cNvPr id="38" name="Text 34"/>
          <p:cNvSpPr/>
          <p:nvPr/>
        </p:nvSpPr>
        <p:spPr>
          <a:xfrm>
            <a:off x="4553712" y="5522976"/>
            <a:ext cx="310896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Fuel · Emission · Safety</a:t>
            </a:r>
            <a:endParaRPr lang="en-US" sz="1350" dirty="0"/>
          </a:p>
        </p:txBody>
      </p:sp>
      <p:sp>
        <p:nvSpPr>
          <p:cNvPr id="39" name="Text 35"/>
          <p:cNvSpPr/>
          <p:nvPr/>
        </p:nvSpPr>
        <p:spPr>
          <a:xfrm>
            <a:off x="4553712" y="5779008"/>
            <a:ext cx="3108960" cy="201168"/>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Shaun</a:t>
            </a:r>
            <a:endParaRPr lang="en-US" sz="1050" dirty="0"/>
          </a:p>
        </p:txBody>
      </p:sp>
      <p:sp>
        <p:nvSpPr>
          <p:cNvPr id="40" name="Shape 36"/>
          <p:cNvSpPr/>
          <p:nvPr/>
        </p:nvSpPr>
        <p:spPr>
          <a:xfrm>
            <a:off x="8119872" y="5193792"/>
            <a:ext cx="3557016" cy="841248"/>
          </a:xfrm>
          <a:prstGeom prst="roundRect">
            <a:avLst>
              <a:gd name="adj" fmla="val 10870"/>
            </a:avLst>
          </a:prstGeom>
          <a:solidFill>
            <a:srgbClr val="132B4D"/>
          </a:solidFill>
          <a:ln w="12700">
            <a:solidFill>
              <a:srgbClr val="4D9BFF"/>
            </a:solidFill>
            <a:prstDash val="solid"/>
          </a:ln>
        </p:spPr>
      </p:sp>
      <p:sp>
        <p:nvSpPr>
          <p:cNvPr id="41" name="Text 37"/>
          <p:cNvSpPr/>
          <p:nvPr/>
        </p:nvSpPr>
        <p:spPr>
          <a:xfrm>
            <a:off x="8339328" y="5303520"/>
            <a:ext cx="3108960" cy="219456"/>
          </a:xfrm>
          <a:prstGeom prst="rect">
            <a:avLst/>
          </a:prstGeom>
          <a:noFill/>
          <a:ln/>
        </p:spPr>
        <p:txBody>
          <a:bodyPr wrap="square" lIns="0" tIns="0" rIns="0" bIns="0" rtlCol="0" anchor="ctr"/>
          <a:lstStyle/>
          <a:p>
            <a:pPr indent="0" marL="0">
              <a:buNone/>
            </a:pPr>
            <a:r>
              <a:rPr lang="en-US" sz="900" b="1" spc="140" kern="0" dirty="0">
                <a:solidFill>
                  <a:srgbClr val="4D9BFF"/>
                </a:solidFill>
                <a:latin typeface="Arial" pitchFamily="34" charset="0"/>
                <a:ea typeface="Arial" pitchFamily="34" charset="-122"/>
                <a:cs typeface="Arial" pitchFamily="34" charset="-120"/>
              </a:rPr>
              <a:t>OBJECTIVE 03</a:t>
            </a:r>
            <a:endParaRPr lang="en-US" sz="900" dirty="0"/>
          </a:p>
        </p:txBody>
      </p:sp>
      <p:sp>
        <p:nvSpPr>
          <p:cNvPr id="42" name="Text 38"/>
          <p:cNvSpPr/>
          <p:nvPr/>
        </p:nvSpPr>
        <p:spPr>
          <a:xfrm>
            <a:off x="8339328" y="5522976"/>
            <a:ext cx="310896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Congestion Reduction</a:t>
            </a:r>
            <a:endParaRPr lang="en-US" sz="1350" dirty="0"/>
          </a:p>
        </p:txBody>
      </p:sp>
      <p:sp>
        <p:nvSpPr>
          <p:cNvPr id="43" name="Text 39"/>
          <p:cNvSpPr/>
          <p:nvPr/>
        </p:nvSpPr>
        <p:spPr>
          <a:xfrm>
            <a:off x="8339328" y="5779008"/>
            <a:ext cx="3108960" cy="201168"/>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Delna</a:t>
            </a:r>
            <a:endParaRPr lang="en-US" sz="1050" dirty="0"/>
          </a:p>
        </p:txBody>
      </p:sp>
      <p:sp>
        <p:nvSpPr>
          <p:cNvPr id="45" name="Text 40"/>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46" name="Text 41"/>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2D3EE"/>
                </a:solidFill>
                <a:latin typeface="Calibri" pitchFamily="34" charset="0"/>
                <a:ea typeface="Calibri" pitchFamily="34" charset="-122"/>
                <a:cs typeface="Calibri" pitchFamily="34" charset="-120"/>
              </a:rPr>
              <a:t>03 / 22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6"/>
        </a:solidFill>
      </p:bgPr>
    </p:bg>
    <p:spTree>
      <p:nvGrpSpPr>
        <p:cNvPr id="1" name=""/>
        <p:cNvGrpSpPr/>
        <p:nvPr/>
      </p:nvGrpSpPr>
      <p:grpSpPr>
        <a:xfrm>
          <a:off x="0" y="0"/>
          <a:ext cx="0" cy="0"/>
          <a:chOff x="0" y="0"/>
          <a:chExt cx="0" cy="0"/>
        </a:xfrm>
      </p:grpSpPr>
      <p:sp>
        <p:nvSpPr>
          <p:cNvPr id="2" name="Shape 0"/>
          <p:cNvSpPr/>
          <p:nvPr/>
        </p:nvSpPr>
        <p:spPr>
          <a:xfrm>
            <a:off x="7818120" y="0"/>
            <a:ext cx="4370832" cy="6858000"/>
          </a:xfrm>
          <a:prstGeom prst="rect">
            <a:avLst/>
          </a:prstGeom>
          <a:solidFill>
            <a:srgbClr val="0D1730"/>
          </a:solidFill>
          <a:ln w="12700">
            <a:solidFill>
              <a:srgbClr val="333333"/>
            </a:solidFill>
            <a:prstDash val="solid"/>
          </a:ln>
        </p:spPr>
      </p:sp>
      <p:sp>
        <p:nvSpPr>
          <p:cNvPr id="3" name="Text 1"/>
          <p:cNvSpPr/>
          <p:nvPr/>
        </p:nvSpPr>
        <p:spPr>
          <a:xfrm>
            <a:off x="411480" y="749808"/>
            <a:ext cx="2926080" cy="1737360"/>
          </a:xfrm>
          <a:prstGeom prst="rect">
            <a:avLst/>
          </a:prstGeom>
          <a:noFill/>
          <a:ln/>
        </p:spPr>
        <p:txBody>
          <a:bodyPr wrap="square" lIns="0" tIns="0" rIns="0" bIns="0" rtlCol="0" anchor="ctr"/>
          <a:lstStyle/>
          <a:p>
            <a:pPr indent="0" marL="0">
              <a:buNone/>
            </a:pPr>
            <a:r>
              <a:rPr lang="en-US" sz="12200" b="1" dirty="0">
                <a:solidFill>
                  <a:srgbClr val="3D2415"/>
                </a:solidFill>
                <a:latin typeface="Arial" pitchFamily="34" charset="0"/>
                <a:ea typeface="Arial" pitchFamily="34" charset="-122"/>
                <a:cs typeface="Arial" pitchFamily="34" charset="-120"/>
              </a:rPr>
              <a:t>01</a:t>
            </a:r>
            <a:endParaRPr lang="en-US" sz="12200" dirty="0"/>
          </a:p>
        </p:txBody>
      </p:sp>
      <p:sp>
        <p:nvSpPr>
          <p:cNvPr id="4" name="Text 2"/>
          <p:cNvSpPr/>
          <p:nvPr/>
        </p:nvSpPr>
        <p:spPr>
          <a:xfrm>
            <a:off x="566928" y="475488"/>
            <a:ext cx="5486400" cy="274320"/>
          </a:xfrm>
          <a:prstGeom prst="rect">
            <a:avLst/>
          </a:prstGeom>
          <a:noFill/>
          <a:ln/>
        </p:spPr>
        <p:txBody>
          <a:bodyPr wrap="square" lIns="0" tIns="0" rIns="0" bIns="0" rtlCol="0" anchor="ctr"/>
          <a:lstStyle/>
          <a:p>
            <a:pPr indent="0" marL="0">
              <a:buNone/>
            </a:pPr>
            <a:r>
              <a:rPr lang="en-US" sz="1050" b="1" spc="200" kern="0" dirty="0">
                <a:solidFill>
                  <a:srgbClr val="FF7A3D"/>
                </a:solidFill>
                <a:latin typeface="Arial" pitchFamily="34" charset="0"/>
                <a:ea typeface="Arial" pitchFamily="34" charset="-122"/>
                <a:cs typeface="Arial" pitchFamily="34" charset="-120"/>
              </a:rPr>
              <a:t>SECTION 01  ·  SLIDES 4–8</a:t>
            </a:r>
            <a:endParaRPr lang="en-US" sz="1050" dirty="0"/>
          </a:p>
        </p:txBody>
      </p:sp>
      <p:sp>
        <p:nvSpPr>
          <p:cNvPr id="5" name="Text 3"/>
          <p:cNvSpPr/>
          <p:nvPr/>
        </p:nvSpPr>
        <p:spPr>
          <a:xfrm>
            <a:off x="548640" y="2697480"/>
            <a:ext cx="6858000" cy="640080"/>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ANANTHA NARAYANAN A</a:t>
            </a:r>
            <a:endParaRPr lang="en-US" sz="3300" dirty="0"/>
          </a:p>
        </p:txBody>
      </p:sp>
      <p:sp>
        <p:nvSpPr>
          <p:cNvPr id="6" name="Text 4"/>
          <p:cNvSpPr/>
          <p:nvPr/>
        </p:nvSpPr>
        <p:spPr>
          <a:xfrm>
            <a:off x="548640" y="3383280"/>
            <a:ext cx="6949440" cy="822960"/>
          </a:xfrm>
          <a:prstGeom prst="rect">
            <a:avLst/>
          </a:prstGeom>
          <a:noFill/>
          <a:ln/>
        </p:spPr>
        <p:txBody>
          <a:bodyPr wrap="square" lIns="0" tIns="0" rIns="0" bIns="0" rtlCol="0" anchor="ctr"/>
          <a:lstStyle/>
          <a:p>
            <a:pPr indent="0" marL="0">
              <a:lnSpc>
                <a:spcPct val="100000"/>
              </a:lnSpc>
              <a:buNone/>
            </a:pPr>
            <a:r>
              <a:rPr lang="en-US" sz="1800" b="1" dirty="0">
                <a:solidFill>
                  <a:srgbClr val="FF7A3D"/>
                </a:solidFill>
                <a:latin typeface="Arial" pitchFamily="34" charset="0"/>
                <a:ea typeface="Arial" pitchFamily="34" charset="-122"/>
                <a:cs typeface="Arial" pitchFamily="34" charset="-120"/>
              </a:rPr>
              <a:t>Emergency Vehicle</a:t>
            </a:r>
            <a:endParaRPr lang="en-US" sz="1800" dirty="0"/>
          </a:p>
          <a:p>
            <a:pPr indent="0" marL="0">
              <a:lnSpc>
                <a:spcPct val="100000"/>
              </a:lnSpc>
              <a:buNone/>
            </a:pPr>
            <a:r>
              <a:rPr lang="en-US" sz="1800" b="1" dirty="0">
                <a:solidFill>
                  <a:srgbClr val="FF7A3D"/>
                </a:solidFill>
                <a:latin typeface="Arial" pitchFamily="34" charset="0"/>
                <a:ea typeface="Arial" pitchFamily="34" charset="-122"/>
                <a:cs typeface="Arial" pitchFamily="34" charset="-120"/>
              </a:rPr>
              <a:t>Prioritization Agent</a:t>
            </a:r>
            <a:endParaRPr lang="en-US" sz="1800" dirty="0"/>
          </a:p>
        </p:txBody>
      </p:sp>
      <p:sp>
        <p:nvSpPr>
          <p:cNvPr id="7" name="Shape 5"/>
          <p:cNvSpPr/>
          <p:nvPr/>
        </p:nvSpPr>
        <p:spPr>
          <a:xfrm>
            <a:off x="548640" y="4462272"/>
            <a:ext cx="6949440" cy="1463040"/>
          </a:xfrm>
          <a:prstGeom prst="roundRect">
            <a:avLst>
              <a:gd name="adj" fmla="val 6250"/>
            </a:avLst>
          </a:prstGeom>
          <a:solidFill>
            <a:srgbClr val="15223C"/>
          </a:solidFill>
          <a:ln w="12700">
            <a:solidFill>
              <a:srgbClr val="2B3E60"/>
            </a:solidFill>
            <a:prstDash val="solid"/>
          </a:ln>
        </p:spPr>
      </p:sp>
      <p:sp>
        <p:nvSpPr>
          <p:cNvPr id="8" name="Text 6"/>
          <p:cNvSpPr/>
          <p:nvPr/>
        </p:nvSpPr>
        <p:spPr>
          <a:xfrm>
            <a:off x="804672" y="4645152"/>
            <a:ext cx="3657600" cy="237744"/>
          </a:xfrm>
          <a:prstGeom prst="rect">
            <a:avLst/>
          </a:prstGeom>
          <a:noFill/>
          <a:ln/>
        </p:spPr>
        <p:txBody>
          <a:bodyPr wrap="square" lIns="0" tIns="0" rIns="0" bIns="0" rtlCol="0" anchor="ctr"/>
          <a:lstStyle/>
          <a:p>
            <a:pPr indent="0" marL="0">
              <a:buNone/>
            </a:pPr>
            <a:r>
              <a:rPr lang="en-US" sz="950" b="1" spc="160" kern="0" dirty="0">
                <a:solidFill>
                  <a:srgbClr val="FF7A3D"/>
                </a:solidFill>
                <a:latin typeface="Arial" pitchFamily="34" charset="0"/>
                <a:ea typeface="Arial" pitchFamily="34" charset="-122"/>
                <a:cs typeface="Arial" pitchFamily="34" charset="-120"/>
              </a:rPr>
              <a:t>OBJECTIVE</a:t>
            </a:r>
            <a:endParaRPr lang="en-US" sz="950" dirty="0"/>
          </a:p>
        </p:txBody>
      </p:sp>
      <p:sp>
        <p:nvSpPr>
          <p:cNvPr id="9" name="Text 7"/>
          <p:cNvSpPr/>
          <p:nvPr/>
        </p:nvSpPr>
        <p:spPr>
          <a:xfrm>
            <a:off x="804672" y="4937760"/>
            <a:ext cx="6437376" cy="868680"/>
          </a:xfrm>
          <a:prstGeom prst="rect">
            <a:avLst/>
          </a:prstGeom>
          <a:noFill/>
          <a:ln/>
        </p:spPr>
        <p:txBody>
          <a:bodyPr wrap="square" lIns="0" tIns="0" rIns="0" bIns="0" rtlCol="0" anchor="t"/>
          <a:lstStyle/>
          <a:p>
            <a:pPr indent="0" marL="0">
              <a:lnSpc>
                <a:spcPct val="105000"/>
              </a:lnSpc>
              <a:buNone/>
            </a:pPr>
            <a:r>
              <a:rPr lang="en-US" sz="1350" dirty="0">
                <a:solidFill>
                  <a:srgbClr val="9DB2CE"/>
                </a:solidFill>
                <a:latin typeface="Calibri" pitchFamily="34" charset="0"/>
                <a:ea typeface="Calibri" pitchFamily="34" charset="-122"/>
                <a:cs typeface="Calibri" pitchFamily="34" charset="-120"/>
              </a:rPr>
              <a:t>Develop an objective-focused agent that detects approaching emergency vehicles and prioritizes their movement, while maintaining efficient traffic flow for all other road users.</a:t>
            </a:r>
            <a:endParaRPr lang="en-US" sz="1350" dirty="0"/>
          </a:p>
        </p:txBody>
      </p:sp>
      <p:sp>
        <p:nvSpPr>
          <p:cNvPr id="10" name="Shape 8"/>
          <p:cNvSpPr/>
          <p:nvPr/>
        </p:nvSpPr>
        <p:spPr>
          <a:xfrm>
            <a:off x="8887968" y="2331720"/>
            <a:ext cx="2240280" cy="2240280"/>
          </a:xfrm>
          <a:prstGeom prst="ellipse">
            <a:avLst/>
          </a:prstGeom>
          <a:solidFill>
            <a:srgbClr val="3A2113"/>
          </a:solidFill>
          <a:ln w="15875">
            <a:solidFill>
              <a:srgbClr val="FF7A3D"/>
            </a:solidFill>
            <a:prstDash val="solid"/>
          </a:ln>
        </p:spPr>
      </p:sp>
      <p:pic>
        <p:nvPicPr>
          <p:cNvPr id="11" name="Image 0" descr="preencoded.png">    </p:cNvPr>
          <p:cNvPicPr>
            <a:picLocks noChangeAspect="1"/>
          </p:cNvPicPr>
          <p:nvPr/>
        </p:nvPicPr>
        <p:blipFill>
          <a:blip r:embed="rId1"/>
          <a:stretch>
            <a:fillRect/>
          </a:stretch>
        </p:blipFill>
        <p:spPr>
          <a:xfrm>
            <a:off x="9436608" y="2880360"/>
            <a:ext cx="1143000" cy="1143000"/>
          </a:xfrm>
          <a:prstGeom prst="rect">
            <a:avLst/>
          </a:prstGeom>
        </p:spPr>
      </p:pic>
      <p:sp>
        <p:nvSpPr>
          <p:cNvPr id="12" name="Text 9"/>
          <p:cNvSpPr/>
          <p:nvPr/>
        </p:nvSpPr>
        <p:spPr>
          <a:xfrm>
            <a:off x="8183880" y="4892040"/>
            <a:ext cx="3657600" cy="365760"/>
          </a:xfrm>
          <a:prstGeom prst="rect">
            <a:avLst/>
          </a:prstGeom>
          <a:noFill/>
          <a:ln/>
        </p:spPr>
        <p:txBody>
          <a:bodyPr wrap="square" lIns="0" tIns="0" rIns="0" bIns="0" rtlCol="0" anchor="ctr"/>
          <a:lstStyle/>
          <a:p>
            <a:pPr algn="ctr" indent="0" marL="0">
              <a:buNone/>
            </a:pPr>
            <a:r>
              <a:rPr lang="en-US" sz="1200" b="1" spc="100" kern="0" dirty="0">
                <a:solidFill>
                  <a:srgbClr val="FF7A3D"/>
                </a:solidFill>
                <a:latin typeface="Arial" pitchFamily="34" charset="0"/>
                <a:ea typeface="Arial" pitchFamily="34" charset="-122"/>
                <a:cs typeface="Arial" pitchFamily="34" charset="-120"/>
              </a:rPr>
              <a:t>EMERGENCY PRIORITY</a:t>
            </a:r>
            <a:endParaRPr lang="en-US" sz="1200" dirty="0"/>
          </a:p>
        </p:txBody>
      </p:sp>
      <p:sp>
        <p:nvSpPr>
          <p:cNvPr id="14" name="Text 10"/>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15" name="Text 11"/>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FF7A3D"/>
                </a:solidFill>
                <a:latin typeface="Calibri" pitchFamily="34" charset="0"/>
                <a:ea typeface="Calibri" pitchFamily="34" charset="-122"/>
                <a:cs typeface="Calibri" pitchFamily="34" charset="-120"/>
              </a:rPr>
              <a:t>04 / 22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FF7A3D"/>
                </a:solidFill>
                <a:latin typeface="Arial" pitchFamily="34" charset="0"/>
                <a:ea typeface="Arial" pitchFamily="34" charset="-122"/>
                <a:cs typeface="Arial" pitchFamily="34" charset="-120"/>
              </a:rPr>
              <a:t>EMERGENCY PRIORITIZATION  ·  THE PROBLEM</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Every Red Signal Costs Response Time</a:t>
            </a:r>
            <a:endParaRPr lang="en-US" sz="2800" dirty="0"/>
          </a:p>
        </p:txBody>
      </p:sp>
      <p:sp>
        <p:nvSpPr>
          <p:cNvPr id="4" name="Shape 2"/>
          <p:cNvSpPr/>
          <p:nvPr/>
        </p:nvSpPr>
        <p:spPr>
          <a:xfrm>
            <a:off x="548640" y="1234440"/>
            <a:ext cx="6720840" cy="1024128"/>
          </a:xfrm>
          <a:prstGeom prst="roundRect">
            <a:avLst>
              <a:gd name="adj" fmla="val 8929"/>
            </a:avLst>
          </a:prstGeom>
          <a:solidFill>
            <a:srgbClr val="15223C"/>
          </a:solidFill>
          <a:ln w="12700">
            <a:solidFill>
              <a:srgbClr val="2B3E60"/>
            </a:solidFill>
            <a:prstDash val="solid"/>
          </a:ln>
        </p:spPr>
      </p:sp>
      <p:sp>
        <p:nvSpPr>
          <p:cNvPr id="5" name="Shape 3"/>
          <p:cNvSpPr/>
          <p:nvPr/>
        </p:nvSpPr>
        <p:spPr>
          <a:xfrm>
            <a:off x="786384" y="1490472"/>
            <a:ext cx="512064" cy="512064"/>
          </a:xfrm>
          <a:prstGeom prst="ellipse">
            <a:avLst/>
          </a:prstGeom>
          <a:solidFill>
            <a:srgbClr val="3A2113"/>
          </a:solidFill>
          <a:ln w="12700">
            <a:solidFill>
              <a:srgbClr val="FF7A3D"/>
            </a:solidFill>
            <a:prstDash val="solid"/>
          </a:ln>
        </p:spPr>
      </p:sp>
      <p:pic>
        <p:nvPicPr>
          <p:cNvPr id="6" name="Image 0" descr="preencoded.png">    </p:cNvPr>
          <p:cNvPicPr>
            <a:picLocks noChangeAspect="1"/>
          </p:cNvPicPr>
          <p:nvPr/>
        </p:nvPicPr>
        <p:blipFill>
          <a:blip r:embed="rId1"/>
          <a:stretch>
            <a:fillRect/>
          </a:stretch>
        </p:blipFill>
        <p:spPr>
          <a:xfrm>
            <a:off x="924641" y="1628729"/>
            <a:ext cx="235549" cy="235549"/>
          </a:xfrm>
          <a:prstGeom prst="rect">
            <a:avLst/>
          </a:prstGeom>
        </p:spPr>
      </p:pic>
      <p:sp>
        <p:nvSpPr>
          <p:cNvPr id="7" name="Text 4"/>
          <p:cNvSpPr/>
          <p:nvPr/>
        </p:nvSpPr>
        <p:spPr>
          <a:xfrm>
            <a:off x="1481328" y="1399032"/>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Rapid passage is essential</a:t>
            </a:r>
            <a:endParaRPr lang="en-US" sz="1350" dirty="0"/>
          </a:p>
        </p:txBody>
      </p:sp>
      <p:sp>
        <p:nvSpPr>
          <p:cNvPr id="8" name="Text 5"/>
          <p:cNvSpPr/>
          <p:nvPr/>
        </p:nvSpPr>
        <p:spPr>
          <a:xfrm>
            <a:off x="1481328" y="1691640"/>
            <a:ext cx="5577840" cy="457200"/>
          </a:xfrm>
          <a:prstGeom prst="rect">
            <a:avLst/>
          </a:prstGeom>
          <a:noFill/>
          <a:ln/>
        </p:spPr>
        <p:txBody>
          <a:bodyPr wrap="square" lIns="0" tIns="0" rIns="0" bIns="0" rtlCol="0" anchor="ctr"/>
          <a:lstStyle/>
          <a:p>
            <a:pPr indent="0" marL="0">
              <a:lnSpc>
                <a:spcPct val="100000"/>
              </a:lnSpc>
              <a:buNone/>
            </a:pPr>
            <a:r>
              <a:rPr lang="en-US" sz="1150" dirty="0">
                <a:solidFill>
                  <a:srgbClr val="9DB2CE"/>
                </a:solidFill>
                <a:latin typeface="Calibri" pitchFamily="34" charset="0"/>
                <a:ea typeface="Calibri" pitchFamily="34" charset="-122"/>
                <a:cs typeface="Calibri" pitchFamily="34" charset="-120"/>
              </a:rPr>
              <a:t>Ambulances, fire engines and police vehicles must cross intersections without interruption.</a:t>
            </a:r>
            <a:endParaRPr lang="en-US" sz="1150" dirty="0"/>
          </a:p>
        </p:txBody>
      </p:sp>
      <p:sp>
        <p:nvSpPr>
          <p:cNvPr id="9" name="Shape 6"/>
          <p:cNvSpPr/>
          <p:nvPr/>
        </p:nvSpPr>
        <p:spPr>
          <a:xfrm>
            <a:off x="548640" y="2404872"/>
            <a:ext cx="6720840" cy="1024128"/>
          </a:xfrm>
          <a:prstGeom prst="roundRect">
            <a:avLst>
              <a:gd name="adj" fmla="val 8929"/>
            </a:avLst>
          </a:prstGeom>
          <a:solidFill>
            <a:srgbClr val="15223C"/>
          </a:solidFill>
          <a:ln w="12700">
            <a:solidFill>
              <a:srgbClr val="2B3E60"/>
            </a:solidFill>
            <a:prstDash val="solid"/>
          </a:ln>
        </p:spPr>
      </p:sp>
      <p:sp>
        <p:nvSpPr>
          <p:cNvPr id="10" name="Shape 7"/>
          <p:cNvSpPr/>
          <p:nvPr/>
        </p:nvSpPr>
        <p:spPr>
          <a:xfrm>
            <a:off x="786384" y="2660904"/>
            <a:ext cx="512064" cy="512064"/>
          </a:xfrm>
          <a:prstGeom prst="ellipse">
            <a:avLst/>
          </a:prstGeom>
          <a:solidFill>
            <a:srgbClr val="3A2113"/>
          </a:solidFill>
          <a:ln w="12700">
            <a:solidFill>
              <a:srgbClr val="FF7A3D"/>
            </a:solidFill>
            <a:prstDash val="solid"/>
          </a:ln>
        </p:spPr>
      </p:sp>
      <p:pic>
        <p:nvPicPr>
          <p:cNvPr id="11" name="Image 1" descr="preencoded.png">    </p:cNvPr>
          <p:cNvPicPr>
            <a:picLocks noChangeAspect="1"/>
          </p:cNvPicPr>
          <p:nvPr/>
        </p:nvPicPr>
        <p:blipFill>
          <a:blip r:embed="rId2"/>
          <a:stretch>
            <a:fillRect/>
          </a:stretch>
        </p:blipFill>
        <p:spPr>
          <a:xfrm>
            <a:off x="924641" y="2799161"/>
            <a:ext cx="235549" cy="235549"/>
          </a:xfrm>
          <a:prstGeom prst="rect">
            <a:avLst/>
          </a:prstGeom>
        </p:spPr>
      </p:pic>
      <p:sp>
        <p:nvSpPr>
          <p:cNvPr id="12" name="Text 8"/>
          <p:cNvSpPr/>
          <p:nvPr/>
        </p:nvSpPr>
        <p:spPr>
          <a:xfrm>
            <a:off x="1481328" y="2569464"/>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Fixed-time signals do not yield</a:t>
            </a:r>
            <a:endParaRPr lang="en-US" sz="1350" dirty="0"/>
          </a:p>
        </p:txBody>
      </p:sp>
      <p:sp>
        <p:nvSpPr>
          <p:cNvPr id="13" name="Text 9"/>
          <p:cNvSpPr/>
          <p:nvPr/>
        </p:nvSpPr>
        <p:spPr>
          <a:xfrm>
            <a:off x="1481328" y="2862072"/>
            <a:ext cx="5577840" cy="457200"/>
          </a:xfrm>
          <a:prstGeom prst="rect">
            <a:avLst/>
          </a:prstGeom>
          <a:noFill/>
          <a:ln/>
        </p:spPr>
        <p:txBody>
          <a:bodyPr wrap="square" lIns="0" tIns="0" rIns="0" bIns="0" rtlCol="0" anchor="ctr"/>
          <a:lstStyle/>
          <a:p>
            <a:pPr indent="0" marL="0">
              <a:lnSpc>
                <a:spcPct val="100000"/>
              </a:lnSpc>
              <a:buNone/>
            </a:pPr>
            <a:r>
              <a:rPr lang="en-US" sz="1150" dirty="0">
                <a:solidFill>
                  <a:srgbClr val="9DB2CE"/>
                </a:solidFill>
                <a:latin typeface="Calibri" pitchFamily="34" charset="0"/>
                <a:ea typeface="Calibri" pitchFamily="34" charset="-122"/>
                <a:cs typeface="Calibri" pitchFamily="34" charset="-120"/>
              </a:rPr>
              <a:t>A pre-set schedule can hold an emergency vehicle at red simply because its phase has not arrived.</a:t>
            </a:r>
            <a:endParaRPr lang="en-US" sz="1150" dirty="0"/>
          </a:p>
        </p:txBody>
      </p:sp>
      <p:sp>
        <p:nvSpPr>
          <p:cNvPr id="14" name="Shape 10"/>
          <p:cNvSpPr/>
          <p:nvPr/>
        </p:nvSpPr>
        <p:spPr>
          <a:xfrm>
            <a:off x="548640" y="3575304"/>
            <a:ext cx="6720840" cy="1024128"/>
          </a:xfrm>
          <a:prstGeom prst="roundRect">
            <a:avLst>
              <a:gd name="adj" fmla="val 8929"/>
            </a:avLst>
          </a:prstGeom>
          <a:solidFill>
            <a:srgbClr val="15223C"/>
          </a:solidFill>
          <a:ln w="12700">
            <a:solidFill>
              <a:srgbClr val="2B3E60"/>
            </a:solidFill>
            <a:prstDash val="solid"/>
          </a:ln>
        </p:spPr>
      </p:sp>
      <p:sp>
        <p:nvSpPr>
          <p:cNvPr id="15" name="Shape 11"/>
          <p:cNvSpPr/>
          <p:nvPr/>
        </p:nvSpPr>
        <p:spPr>
          <a:xfrm>
            <a:off x="786384" y="3831336"/>
            <a:ext cx="512064" cy="512064"/>
          </a:xfrm>
          <a:prstGeom prst="ellipse">
            <a:avLst/>
          </a:prstGeom>
          <a:solidFill>
            <a:srgbClr val="3A2113"/>
          </a:solidFill>
          <a:ln w="12700">
            <a:solidFill>
              <a:srgbClr val="FF7A3D"/>
            </a:solidFill>
            <a:prstDash val="solid"/>
          </a:ln>
        </p:spPr>
      </p:sp>
      <p:pic>
        <p:nvPicPr>
          <p:cNvPr id="16" name="Image 2" descr="preencoded.png">    </p:cNvPr>
          <p:cNvPicPr>
            <a:picLocks noChangeAspect="1"/>
          </p:cNvPicPr>
          <p:nvPr/>
        </p:nvPicPr>
        <p:blipFill>
          <a:blip r:embed="rId3"/>
          <a:stretch>
            <a:fillRect/>
          </a:stretch>
        </p:blipFill>
        <p:spPr>
          <a:xfrm>
            <a:off x="924641" y="3969593"/>
            <a:ext cx="235549" cy="235549"/>
          </a:xfrm>
          <a:prstGeom prst="rect">
            <a:avLst/>
          </a:prstGeom>
        </p:spPr>
      </p:pic>
      <p:sp>
        <p:nvSpPr>
          <p:cNvPr id="17" name="Text 12"/>
          <p:cNvSpPr/>
          <p:nvPr/>
        </p:nvSpPr>
        <p:spPr>
          <a:xfrm>
            <a:off x="1481328" y="3739896"/>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Delay compounds downstream</a:t>
            </a:r>
            <a:endParaRPr lang="en-US" sz="1350" dirty="0"/>
          </a:p>
        </p:txBody>
      </p:sp>
      <p:sp>
        <p:nvSpPr>
          <p:cNvPr id="18" name="Text 13"/>
          <p:cNvSpPr/>
          <p:nvPr/>
        </p:nvSpPr>
        <p:spPr>
          <a:xfrm>
            <a:off x="1481328" y="4032504"/>
            <a:ext cx="5577840" cy="457200"/>
          </a:xfrm>
          <a:prstGeom prst="rect">
            <a:avLst/>
          </a:prstGeom>
          <a:noFill/>
          <a:ln/>
        </p:spPr>
        <p:txBody>
          <a:bodyPr wrap="square" lIns="0" tIns="0" rIns="0" bIns="0" rtlCol="0" anchor="ctr"/>
          <a:lstStyle/>
          <a:p>
            <a:pPr indent="0" marL="0">
              <a:lnSpc>
                <a:spcPct val="100000"/>
              </a:lnSpc>
              <a:buNone/>
            </a:pPr>
            <a:r>
              <a:rPr lang="en-US" sz="1150" dirty="0">
                <a:solidFill>
                  <a:srgbClr val="9DB2CE"/>
                </a:solidFill>
                <a:latin typeface="Calibri" pitchFamily="34" charset="0"/>
                <a:ea typeface="Calibri" pitchFamily="34" charset="-122"/>
                <a:cs typeface="Calibri" pitchFamily="34" charset="-120"/>
              </a:rPr>
              <a:t>Time lost at each intersection accumulates directly into total emergency response time.</a:t>
            </a:r>
            <a:endParaRPr lang="en-US" sz="1150" dirty="0"/>
          </a:p>
        </p:txBody>
      </p:sp>
      <p:sp>
        <p:nvSpPr>
          <p:cNvPr id="19" name="Shape 14"/>
          <p:cNvSpPr/>
          <p:nvPr/>
        </p:nvSpPr>
        <p:spPr>
          <a:xfrm>
            <a:off x="548640" y="4745736"/>
            <a:ext cx="6720840" cy="1024128"/>
          </a:xfrm>
          <a:prstGeom prst="roundRect">
            <a:avLst>
              <a:gd name="adj" fmla="val 8929"/>
            </a:avLst>
          </a:prstGeom>
          <a:solidFill>
            <a:srgbClr val="15223C"/>
          </a:solidFill>
          <a:ln w="12700">
            <a:solidFill>
              <a:srgbClr val="2B3E60"/>
            </a:solidFill>
            <a:prstDash val="solid"/>
          </a:ln>
        </p:spPr>
      </p:sp>
      <p:sp>
        <p:nvSpPr>
          <p:cNvPr id="20" name="Shape 15"/>
          <p:cNvSpPr/>
          <p:nvPr/>
        </p:nvSpPr>
        <p:spPr>
          <a:xfrm>
            <a:off x="786384" y="5001768"/>
            <a:ext cx="512064" cy="512064"/>
          </a:xfrm>
          <a:prstGeom prst="ellipse">
            <a:avLst/>
          </a:prstGeom>
          <a:solidFill>
            <a:srgbClr val="3A2113"/>
          </a:solidFill>
          <a:ln w="12700">
            <a:solidFill>
              <a:srgbClr val="FF7A3D"/>
            </a:solidFill>
            <a:prstDash val="solid"/>
          </a:ln>
        </p:spPr>
      </p:sp>
      <p:pic>
        <p:nvPicPr>
          <p:cNvPr id="21" name="Image 3" descr="preencoded.png">    </p:cNvPr>
          <p:cNvPicPr>
            <a:picLocks noChangeAspect="1"/>
          </p:cNvPicPr>
          <p:nvPr/>
        </p:nvPicPr>
        <p:blipFill>
          <a:blip r:embed="rId4"/>
          <a:stretch>
            <a:fillRect/>
          </a:stretch>
        </p:blipFill>
        <p:spPr>
          <a:xfrm>
            <a:off x="924641" y="5140025"/>
            <a:ext cx="235549" cy="235549"/>
          </a:xfrm>
          <a:prstGeom prst="rect">
            <a:avLst/>
          </a:prstGeom>
        </p:spPr>
      </p:pic>
      <p:sp>
        <p:nvSpPr>
          <p:cNvPr id="22" name="Text 16"/>
          <p:cNvSpPr/>
          <p:nvPr/>
        </p:nvSpPr>
        <p:spPr>
          <a:xfrm>
            <a:off x="1481328" y="4910328"/>
            <a:ext cx="55778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Blind priority creates new delay</a:t>
            </a:r>
            <a:endParaRPr lang="en-US" sz="1350" dirty="0"/>
          </a:p>
        </p:txBody>
      </p:sp>
      <p:sp>
        <p:nvSpPr>
          <p:cNvPr id="23" name="Text 17"/>
          <p:cNvSpPr/>
          <p:nvPr/>
        </p:nvSpPr>
        <p:spPr>
          <a:xfrm>
            <a:off x="1481328" y="5202936"/>
            <a:ext cx="5577840" cy="457200"/>
          </a:xfrm>
          <a:prstGeom prst="rect">
            <a:avLst/>
          </a:prstGeom>
          <a:noFill/>
          <a:ln/>
        </p:spPr>
        <p:txBody>
          <a:bodyPr wrap="square" lIns="0" tIns="0" rIns="0" bIns="0" rtlCol="0" anchor="ctr"/>
          <a:lstStyle/>
          <a:p>
            <a:pPr indent="0" marL="0">
              <a:lnSpc>
                <a:spcPct val="100000"/>
              </a:lnSpc>
              <a:buNone/>
            </a:pPr>
            <a:r>
              <a:rPr lang="en-US" sz="1150" dirty="0">
                <a:solidFill>
                  <a:srgbClr val="9DB2CE"/>
                </a:solidFill>
                <a:latin typeface="Calibri" pitchFamily="34" charset="0"/>
                <a:ea typeface="Calibri" pitchFamily="34" charset="-122"/>
                <a:cs typeface="Calibri" pitchFamily="34" charset="-120"/>
              </a:rPr>
              <a:t>Clearing one approach at any cost pushes queues and waiting time onto every other direction.</a:t>
            </a:r>
            <a:endParaRPr lang="en-US" sz="1150" dirty="0"/>
          </a:p>
        </p:txBody>
      </p:sp>
      <p:sp>
        <p:nvSpPr>
          <p:cNvPr id="24" name="Shape 18"/>
          <p:cNvSpPr/>
          <p:nvPr/>
        </p:nvSpPr>
        <p:spPr>
          <a:xfrm>
            <a:off x="7571232" y="1234440"/>
            <a:ext cx="4069080" cy="4617720"/>
          </a:xfrm>
          <a:prstGeom prst="roundRect">
            <a:avLst>
              <a:gd name="adj" fmla="val 2247"/>
            </a:avLst>
          </a:prstGeom>
          <a:solidFill>
            <a:srgbClr val="3A2113"/>
          </a:solidFill>
          <a:ln w="12700">
            <a:solidFill>
              <a:srgbClr val="FF7A3D"/>
            </a:solidFill>
            <a:prstDash val="solid"/>
          </a:ln>
        </p:spPr>
      </p:sp>
      <p:sp>
        <p:nvSpPr>
          <p:cNvPr id="25" name="Text 19"/>
          <p:cNvSpPr/>
          <p:nvPr/>
        </p:nvSpPr>
        <p:spPr>
          <a:xfrm>
            <a:off x="7845552" y="1536192"/>
            <a:ext cx="3566160" cy="274320"/>
          </a:xfrm>
          <a:prstGeom prst="rect">
            <a:avLst/>
          </a:prstGeom>
          <a:noFill/>
          <a:ln/>
        </p:spPr>
        <p:txBody>
          <a:bodyPr wrap="square" lIns="0" tIns="0" rIns="0" bIns="0" rtlCol="0" anchor="ctr"/>
          <a:lstStyle/>
          <a:p>
            <a:pPr indent="0" marL="0">
              <a:buNone/>
            </a:pPr>
            <a:r>
              <a:rPr lang="en-US" sz="1050" b="1" spc="180" kern="0" dirty="0">
                <a:solidFill>
                  <a:srgbClr val="FF7A3D"/>
                </a:solidFill>
                <a:latin typeface="Arial" pitchFamily="34" charset="0"/>
                <a:ea typeface="Arial" pitchFamily="34" charset="-122"/>
                <a:cs typeface="Arial" pitchFamily="34" charset="-120"/>
              </a:rPr>
              <a:t>THE CORE CHALLENGE</a:t>
            </a:r>
            <a:endParaRPr lang="en-US" sz="1050" dirty="0"/>
          </a:p>
        </p:txBody>
      </p:sp>
      <p:sp>
        <p:nvSpPr>
          <p:cNvPr id="26" name="Text 20"/>
          <p:cNvSpPr/>
          <p:nvPr/>
        </p:nvSpPr>
        <p:spPr>
          <a:xfrm>
            <a:off x="7845552" y="1901952"/>
            <a:ext cx="3566160" cy="1600200"/>
          </a:xfrm>
          <a:prstGeom prst="rect">
            <a:avLst/>
          </a:prstGeom>
          <a:noFill/>
          <a:ln/>
        </p:spPr>
        <p:txBody>
          <a:bodyPr wrap="square" lIns="0" tIns="0" rIns="0" bIns="0" rtlCol="0" anchor="ctr"/>
          <a:lstStyle/>
          <a:p>
            <a:pPr indent="0" marL="0">
              <a:lnSpc>
                <a:spcPct val="98000"/>
              </a:lnSpc>
              <a:buNone/>
            </a:pPr>
            <a:r>
              <a:rPr lang="en-US" sz="2200" b="1" dirty="0">
                <a:solidFill>
                  <a:srgbClr val="FFFFFF"/>
                </a:solidFill>
                <a:latin typeface="Arial" pitchFamily="34" charset="0"/>
                <a:ea typeface="Arial" pitchFamily="34" charset="-122"/>
                <a:cs typeface="Arial" pitchFamily="34" charset="-120"/>
              </a:rPr>
              <a:t>Prioritize emergency vehicles — without sacrificing efficient traffic flow for everyone else.</a:t>
            </a:r>
            <a:endParaRPr lang="en-US" sz="2200" dirty="0"/>
          </a:p>
        </p:txBody>
      </p:sp>
      <p:sp>
        <p:nvSpPr>
          <p:cNvPr id="27" name="Text 21"/>
          <p:cNvSpPr/>
          <p:nvPr/>
        </p:nvSpPr>
        <p:spPr>
          <a:xfrm>
            <a:off x="7845552" y="3840480"/>
            <a:ext cx="3566160" cy="1280160"/>
          </a:xfrm>
          <a:prstGeom prst="rect">
            <a:avLst/>
          </a:prstGeom>
          <a:noFill/>
          <a:ln/>
        </p:spPr>
        <p:txBody>
          <a:bodyPr wrap="square" lIns="0" tIns="0" rIns="0" bIns="0" rtlCol="0" anchor="ctr"/>
          <a:lstStyle/>
          <a:p>
            <a:pPr indent="0" marL="0">
              <a:lnSpc>
                <a:spcPct val="106000"/>
              </a:lnSpc>
              <a:buNone/>
            </a:pPr>
            <a:r>
              <a:rPr lang="en-US" sz="1200" dirty="0">
                <a:solidFill>
                  <a:srgbClr val="9DB2CE"/>
                </a:solidFill>
                <a:latin typeface="Calibri" pitchFamily="34" charset="0"/>
                <a:ea typeface="Calibri" pitchFamily="34" charset="-122"/>
                <a:cs typeface="Calibri" pitchFamily="34" charset="-120"/>
              </a:rPr>
              <a:t>The agent must not simply clear the path at any cost. Emergency-priority actions remain constrained by traffic-signal safety rules — minimum green time, yellow transition intervals and maximum green duration.</a:t>
            </a:r>
            <a:endParaRPr lang="en-US" sz="1200" dirty="0"/>
          </a:p>
        </p:txBody>
      </p:sp>
      <p:sp>
        <p:nvSpPr>
          <p:cNvPr id="28" name="Text 22"/>
          <p:cNvSpPr/>
          <p:nvPr/>
        </p:nvSpPr>
        <p:spPr>
          <a:xfrm>
            <a:off x="7845552" y="5193792"/>
            <a:ext cx="3566160" cy="457200"/>
          </a:xfrm>
          <a:prstGeom prst="rect">
            <a:avLst/>
          </a:prstGeom>
          <a:noFill/>
          <a:ln/>
        </p:spPr>
        <p:txBody>
          <a:bodyPr wrap="square" lIns="0" tIns="0" rIns="0" bIns="0" rtlCol="0" anchor="ctr"/>
          <a:lstStyle/>
          <a:p>
            <a:pPr indent="0" marL="0">
              <a:buNone/>
            </a:pPr>
            <a:r>
              <a:rPr lang="en-US" sz="1150" i="1" dirty="0">
                <a:solidFill>
                  <a:srgbClr val="FF7A3D"/>
                </a:solidFill>
                <a:latin typeface="Calibri" pitchFamily="34" charset="0"/>
                <a:ea typeface="Calibri" pitchFamily="34" charset="-122"/>
                <a:cs typeface="Calibri" pitchFamily="34" charset="-120"/>
              </a:rPr>
              <a:t>Emergency-vehicle status is therefore built into the RL state itself.</a:t>
            </a:r>
            <a:endParaRPr lang="en-US" sz="1150" dirty="0"/>
          </a:p>
        </p:txBody>
      </p:sp>
      <p:sp>
        <p:nvSpPr>
          <p:cNvPr id="30" name="Text 23"/>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31" name="Text 24"/>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FF7A3D"/>
                </a:solidFill>
                <a:latin typeface="Calibri" pitchFamily="34" charset="0"/>
                <a:ea typeface="Calibri" pitchFamily="34" charset="-122"/>
                <a:cs typeface="Calibri" pitchFamily="34" charset="-120"/>
              </a:rPr>
              <a:t>05 / 22</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FF7A3D"/>
                </a:solidFill>
                <a:latin typeface="Arial" pitchFamily="34" charset="0"/>
                <a:ea typeface="Arial" pitchFamily="34" charset="-122"/>
                <a:cs typeface="Arial" pitchFamily="34" charset="-120"/>
              </a:rPr>
              <a:t>EMERGENCY PRIORITIZATION  ·  RL FORMULATION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State, Action and Reward</a:t>
            </a:r>
            <a:endParaRPr lang="en-US" sz="2800" dirty="0"/>
          </a:p>
        </p:txBody>
      </p:sp>
      <p:sp>
        <p:nvSpPr>
          <p:cNvPr id="4" name="Shape 2"/>
          <p:cNvSpPr/>
          <p:nvPr/>
        </p:nvSpPr>
        <p:spPr>
          <a:xfrm>
            <a:off x="548640" y="1188720"/>
            <a:ext cx="3794760" cy="3520440"/>
          </a:xfrm>
          <a:prstGeom prst="roundRect">
            <a:avLst>
              <a:gd name="adj" fmla="val 2597"/>
            </a:avLst>
          </a:prstGeom>
          <a:solidFill>
            <a:srgbClr val="15223C"/>
          </a:solidFill>
          <a:ln w="12700">
            <a:solidFill>
              <a:srgbClr val="2B3E60"/>
            </a:solidFill>
            <a:prstDash val="solid"/>
          </a:ln>
        </p:spPr>
      </p:sp>
      <p:sp>
        <p:nvSpPr>
          <p:cNvPr id="5" name="Shape 3"/>
          <p:cNvSpPr/>
          <p:nvPr/>
        </p:nvSpPr>
        <p:spPr>
          <a:xfrm>
            <a:off x="786384" y="1426464"/>
            <a:ext cx="1051560" cy="274320"/>
          </a:xfrm>
          <a:prstGeom prst="roundRect">
            <a:avLst>
              <a:gd name="adj" fmla="val 20000"/>
            </a:avLst>
          </a:prstGeom>
          <a:solidFill>
            <a:srgbClr val="3A2113"/>
          </a:solidFill>
          <a:ln w="12700">
            <a:solidFill>
              <a:srgbClr val="3A2113"/>
            </a:solidFill>
            <a:prstDash val="solid"/>
          </a:ln>
        </p:spPr>
      </p:sp>
      <p:sp>
        <p:nvSpPr>
          <p:cNvPr id="6" name="Text 4"/>
          <p:cNvSpPr/>
          <p:nvPr/>
        </p:nvSpPr>
        <p:spPr>
          <a:xfrm>
            <a:off x="786384" y="1426464"/>
            <a:ext cx="1051560" cy="274320"/>
          </a:xfrm>
          <a:prstGeom prst="rect">
            <a:avLst/>
          </a:prstGeom>
          <a:noFill/>
          <a:ln/>
        </p:spPr>
        <p:txBody>
          <a:bodyPr wrap="square" lIns="0" tIns="0" rIns="0" bIns="0" rtlCol="0" anchor="ctr"/>
          <a:lstStyle/>
          <a:p>
            <a:pPr algn="ctr" indent="0" marL="0">
              <a:buNone/>
            </a:pPr>
            <a:r>
              <a:rPr lang="en-US" sz="950" b="1" spc="120" kern="0" dirty="0">
                <a:solidFill>
                  <a:srgbClr val="FF7A3D"/>
                </a:solidFill>
                <a:latin typeface="Arial" pitchFamily="34" charset="0"/>
                <a:ea typeface="Arial" pitchFamily="34" charset="-122"/>
                <a:cs typeface="Arial" pitchFamily="34" charset="-120"/>
              </a:rPr>
              <a:t>STATE</a:t>
            </a:r>
            <a:endParaRPr lang="en-US" sz="950" dirty="0"/>
          </a:p>
        </p:txBody>
      </p:sp>
      <p:sp>
        <p:nvSpPr>
          <p:cNvPr id="7" name="Text 5"/>
          <p:cNvSpPr/>
          <p:nvPr/>
        </p:nvSpPr>
        <p:spPr>
          <a:xfrm>
            <a:off x="2002536" y="1426464"/>
            <a:ext cx="2103120" cy="274320"/>
          </a:xfrm>
          <a:prstGeom prst="rect">
            <a:avLst/>
          </a:prstGeom>
          <a:noFill/>
          <a:ln/>
        </p:spPr>
        <p:txBody>
          <a:bodyPr wrap="square" lIns="0" tIns="0" rIns="0" bIns="0" rtlCol="0" anchor="ctr"/>
          <a:lstStyle/>
          <a:p>
            <a:pPr indent="0" marL="0">
              <a:buNone/>
            </a:pPr>
            <a:r>
              <a:rPr lang="en-US" sz="1050" i="1" dirty="0">
                <a:solidFill>
                  <a:srgbClr val="6E86A8"/>
                </a:solidFill>
                <a:latin typeface="Calibri" pitchFamily="34" charset="0"/>
                <a:ea typeface="Calibri" pitchFamily="34" charset="-122"/>
                <a:cs typeface="Calibri" pitchFamily="34" charset="-120"/>
              </a:rPr>
              <a:t>what the agent sees</a:t>
            </a:r>
            <a:endParaRPr lang="en-US" sz="1050" dirty="0"/>
          </a:p>
        </p:txBody>
      </p:sp>
      <p:sp>
        <p:nvSpPr>
          <p:cNvPr id="8" name="Text 6"/>
          <p:cNvSpPr/>
          <p:nvPr/>
        </p:nvSpPr>
        <p:spPr>
          <a:xfrm>
            <a:off x="822960" y="1828800"/>
            <a:ext cx="3291840" cy="269748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Vehicle count</a:t>
            </a:r>
            <a:endParaRPr lang="en-US" sz="1250" dirty="0"/>
          </a:p>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Queue length</a:t>
            </a:r>
            <a:endParaRPr lang="en-US" sz="1250" dirty="0"/>
          </a:p>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Current signal phase</a:t>
            </a:r>
            <a:endParaRPr lang="en-US" sz="1250" dirty="0"/>
          </a:p>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Emergency vehicle presence</a:t>
            </a:r>
            <a:endParaRPr lang="en-US" sz="1250" dirty="0"/>
          </a:p>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Emergency vehicle distance</a:t>
            </a:r>
            <a:endParaRPr lang="en-US" sz="1250" dirty="0"/>
          </a:p>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Emergency approach direction</a:t>
            </a:r>
            <a:endParaRPr lang="en-US" sz="1250" dirty="0"/>
          </a:p>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Waiting time</a:t>
            </a:r>
            <a:endParaRPr lang="en-US" sz="1250" dirty="0"/>
          </a:p>
          <a:p>
            <a:pPr marL="342900" indent="-342900">
              <a:lnSpc>
                <a:spcPct val="100000"/>
              </a:lnSpc>
              <a:spcAft>
                <a:spcPts val="600"/>
              </a:spcAft>
              <a:buSzPct val="100000"/>
              <a:buChar char="•"/>
            </a:pPr>
            <a:r>
              <a:rPr lang="en-US" sz="1250" dirty="0">
                <a:solidFill>
                  <a:srgbClr val="9DB2CE"/>
                </a:solidFill>
                <a:latin typeface="Calibri" pitchFamily="34" charset="0"/>
                <a:ea typeface="Calibri" pitchFamily="34" charset="-122"/>
                <a:cs typeface="Calibri" pitchFamily="34" charset="-120"/>
              </a:rPr>
              <a:t>Traffic density in other directions</a:t>
            </a:r>
            <a:endParaRPr lang="en-US" sz="1250" dirty="0"/>
          </a:p>
        </p:txBody>
      </p:sp>
      <p:sp>
        <p:nvSpPr>
          <p:cNvPr id="9" name="Shape 7"/>
          <p:cNvSpPr/>
          <p:nvPr/>
        </p:nvSpPr>
        <p:spPr>
          <a:xfrm>
            <a:off x="4590288" y="1188720"/>
            <a:ext cx="2999232" cy="3520440"/>
          </a:xfrm>
          <a:prstGeom prst="roundRect">
            <a:avLst>
              <a:gd name="adj" fmla="val 3049"/>
            </a:avLst>
          </a:prstGeom>
          <a:solidFill>
            <a:srgbClr val="15223C"/>
          </a:solidFill>
          <a:ln w="12700">
            <a:solidFill>
              <a:srgbClr val="2B3E60"/>
            </a:solidFill>
            <a:prstDash val="solid"/>
          </a:ln>
        </p:spPr>
      </p:sp>
      <p:sp>
        <p:nvSpPr>
          <p:cNvPr id="10" name="Shape 8"/>
          <p:cNvSpPr/>
          <p:nvPr/>
        </p:nvSpPr>
        <p:spPr>
          <a:xfrm>
            <a:off x="4828032" y="1426464"/>
            <a:ext cx="1234440" cy="274320"/>
          </a:xfrm>
          <a:prstGeom prst="roundRect">
            <a:avLst>
              <a:gd name="adj" fmla="val 20000"/>
            </a:avLst>
          </a:prstGeom>
          <a:solidFill>
            <a:srgbClr val="3A2113"/>
          </a:solidFill>
          <a:ln w="12700">
            <a:solidFill>
              <a:srgbClr val="3A2113"/>
            </a:solidFill>
            <a:prstDash val="solid"/>
          </a:ln>
        </p:spPr>
      </p:sp>
      <p:sp>
        <p:nvSpPr>
          <p:cNvPr id="11" name="Text 9"/>
          <p:cNvSpPr/>
          <p:nvPr/>
        </p:nvSpPr>
        <p:spPr>
          <a:xfrm>
            <a:off x="4828032" y="1426464"/>
            <a:ext cx="1234440" cy="274320"/>
          </a:xfrm>
          <a:prstGeom prst="rect">
            <a:avLst/>
          </a:prstGeom>
          <a:noFill/>
          <a:ln/>
        </p:spPr>
        <p:txBody>
          <a:bodyPr wrap="square" lIns="0" tIns="0" rIns="0" bIns="0" rtlCol="0" anchor="ctr"/>
          <a:lstStyle/>
          <a:p>
            <a:pPr algn="ctr" indent="0" marL="0">
              <a:buNone/>
            </a:pPr>
            <a:r>
              <a:rPr lang="en-US" sz="950" b="1" spc="120" kern="0" dirty="0">
                <a:solidFill>
                  <a:srgbClr val="FF7A3D"/>
                </a:solidFill>
                <a:latin typeface="Arial" pitchFamily="34" charset="0"/>
                <a:ea typeface="Arial" pitchFamily="34" charset="-122"/>
                <a:cs typeface="Arial" pitchFamily="34" charset="-120"/>
              </a:rPr>
              <a:t>ACTIONS</a:t>
            </a:r>
            <a:endParaRPr lang="en-US" sz="950" dirty="0"/>
          </a:p>
        </p:txBody>
      </p:sp>
      <p:sp>
        <p:nvSpPr>
          <p:cNvPr id="12" name="Text 10"/>
          <p:cNvSpPr/>
          <p:nvPr/>
        </p:nvSpPr>
        <p:spPr>
          <a:xfrm>
            <a:off x="6227064" y="1426464"/>
            <a:ext cx="1124712" cy="274320"/>
          </a:xfrm>
          <a:prstGeom prst="rect">
            <a:avLst/>
          </a:prstGeom>
          <a:noFill/>
          <a:ln/>
        </p:spPr>
        <p:txBody>
          <a:bodyPr wrap="square" lIns="0" tIns="0" rIns="0" bIns="0" rtlCol="0" anchor="ctr"/>
          <a:lstStyle/>
          <a:p>
            <a:pPr indent="0" marL="0">
              <a:buNone/>
            </a:pPr>
            <a:r>
              <a:rPr lang="en-US" sz="1050" i="1" dirty="0">
                <a:solidFill>
                  <a:srgbClr val="6E86A8"/>
                </a:solidFill>
                <a:latin typeface="Calibri" pitchFamily="34" charset="0"/>
                <a:ea typeface="Calibri" pitchFamily="34" charset="-122"/>
                <a:cs typeface="Calibri" pitchFamily="34" charset="-120"/>
              </a:rPr>
              <a:t>discrete</a:t>
            </a:r>
            <a:endParaRPr lang="en-US" sz="1050" dirty="0"/>
          </a:p>
        </p:txBody>
      </p:sp>
      <p:sp>
        <p:nvSpPr>
          <p:cNvPr id="13" name="Shape 11"/>
          <p:cNvSpPr/>
          <p:nvPr/>
        </p:nvSpPr>
        <p:spPr>
          <a:xfrm>
            <a:off x="4828032" y="1691640"/>
            <a:ext cx="2523744" cy="548640"/>
          </a:xfrm>
          <a:prstGeom prst="roundRect">
            <a:avLst>
              <a:gd name="adj" fmla="val 13333"/>
            </a:avLst>
          </a:prstGeom>
          <a:solidFill>
            <a:srgbClr val="1B2B49"/>
          </a:solidFill>
          <a:ln w="12700">
            <a:solidFill>
              <a:srgbClr val="2B3E60"/>
            </a:solidFill>
            <a:prstDash val="solid"/>
          </a:ln>
        </p:spPr>
      </p:sp>
      <p:sp>
        <p:nvSpPr>
          <p:cNvPr id="14" name="Text 12"/>
          <p:cNvSpPr/>
          <p:nvPr/>
        </p:nvSpPr>
        <p:spPr>
          <a:xfrm>
            <a:off x="4937760" y="1691640"/>
            <a:ext cx="274320" cy="548640"/>
          </a:xfrm>
          <a:prstGeom prst="rect">
            <a:avLst/>
          </a:prstGeom>
          <a:noFill/>
          <a:ln/>
        </p:spPr>
        <p:txBody>
          <a:bodyPr wrap="square" lIns="0" tIns="0" rIns="0" bIns="0" rtlCol="0" anchor="ctr"/>
          <a:lstStyle/>
          <a:p>
            <a:pPr indent="0" marL="0">
              <a:buNone/>
            </a:pPr>
            <a:r>
              <a:rPr lang="en-US" sz="1100" b="1" dirty="0">
                <a:solidFill>
                  <a:srgbClr val="FF7A3D"/>
                </a:solidFill>
                <a:latin typeface="Courier New" pitchFamily="34" charset="0"/>
                <a:ea typeface="Courier New" pitchFamily="34" charset="-122"/>
                <a:cs typeface="Courier New" pitchFamily="34" charset="-120"/>
              </a:rPr>
              <a:t>1</a:t>
            </a:r>
            <a:endParaRPr lang="en-US" sz="1100" dirty="0"/>
          </a:p>
        </p:txBody>
      </p:sp>
      <p:sp>
        <p:nvSpPr>
          <p:cNvPr id="15" name="Text 13"/>
          <p:cNvSpPr/>
          <p:nvPr/>
        </p:nvSpPr>
        <p:spPr>
          <a:xfrm>
            <a:off x="5230368" y="1691640"/>
            <a:ext cx="2011680" cy="548640"/>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Keep current phase</a:t>
            </a:r>
            <a:endParaRPr lang="en-US" sz="1150" dirty="0"/>
          </a:p>
        </p:txBody>
      </p:sp>
      <p:sp>
        <p:nvSpPr>
          <p:cNvPr id="16" name="Shape 14"/>
          <p:cNvSpPr/>
          <p:nvPr/>
        </p:nvSpPr>
        <p:spPr>
          <a:xfrm>
            <a:off x="4828032" y="2386584"/>
            <a:ext cx="2523744" cy="548640"/>
          </a:xfrm>
          <a:prstGeom prst="roundRect">
            <a:avLst>
              <a:gd name="adj" fmla="val 13333"/>
            </a:avLst>
          </a:prstGeom>
          <a:solidFill>
            <a:srgbClr val="1B2B49"/>
          </a:solidFill>
          <a:ln w="12700">
            <a:solidFill>
              <a:srgbClr val="2B3E60"/>
            </a:solidFill>
            <a:prstDash val="solid"/>
          </a:ln>
        </p:spPr>
      </p:sp>
      <p:sp>
        <p:nvSpPr>
          <p:cNvPr id="17" name="Text 15"/>
          <p:cNvSpPr/>
          <p:nvPr/>
        </p:nvSpPr>
        <p:spPr>
          <a:xfrm>
            <a:off x="4937760" y="2386584"/>
            <a:ext cx="274320" cy="548640"/>
          </a:xfrm>
          <a:prstGeom prst="rect">
            <a:avLst/>
          </a:prstGeom>
          <a:noFill/>
          <a:ln/>
        </p:spPr>
        <p:txBody>
          <a:bodyPr wrap="square" lIns="0" tIns="0" rIns="0" bIns="0" rtlCol="0" anchor="ctr"/>
          <a:lstStyle/>
          <a:p>
            <a:pPr indent="0" marL="0">
              <a:buNone/>
            </a:pPr>
            <a:r>
              <a:rPr lang="en-US" sz="1100" b="1" dirty="0">
                <a:solidFill>
                  <a:srgbClr val="FF7A3D"/>
                </a:solidFill>
                <a:latin typeface="Courier New" pitchFamily="34" charset="0"/>
                <a:ea typeface="Courier New" pitchFamily="34" charset="-122"/>
                <a:cs typeface="Courier New" pitchFamily="34" charset="-120"/>
              </a:rPr>
              <a:t>2</a:t>
            </a:r>
            <a:endParaRPr lang="en-US" sz="1100" dirty="0"/>
          </a:p>
        </p:txBody>
      </p:sp>
      <p:sp>
        <p:nvSpPr>
          <p:cNvPr id="18" name="Text 16"/>
          <p:cNvSpPr/>
          <p:nvPr/>
        </p:nvSpPr>
        <p:spPr>
          <a:xfrm>
            <a:off x="5230368" y="2386584"/>
            <a:ext cx="2011680" cy="548640"/>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Extend current green</a:t>
            </a:r>
            <a:endParaRPr lang="en-US" sz="1150" dirty="0"/>
          </a:p>
        </p:txBody>
      </p:sp>
      <p:sp>
        <p:nvSpPr>
          <p:cNvPr id="19" name="Shape 17"/>
          <p:cNvSpPr/>
          <p:nvPr/>
        </p:nvSpPr>
        <p:spPr>
          <a:xfrm>
            <a:off x="4828032" y="3081528"/>
            <a:ext cx="2523744" cy="548640"/>
          </a:xfrm>
          <a:prstGeom prst="roundRect">
            <a:avLst>
              <a:gd name="adj" fmla="val 13333"/>
            </a:avLst>
          </a:prstGeom>
          <a:solidFill>
            <a:srgbClr val="1B2B49"/>
          </a:solidFill>
          <a:ln w="12700">
            <a:solidFill>
              <a:srgbClr val="2B3E60"/>
            </a:solidFill>
            <a:prstDash val="solid"/>
          </a:ln>
        </p:spPr>
      </p:sp>
      <p:sp>
        <p:nvSpPr>
          <p:cNvPr id="20" name="Text 18"/>
          <p:cNvSpPr/>
          <p:nvPr/>
        </p:nvSpPr>
        <p:spPr>
          <a:xfrm>
            <a:off x="4937760" y="3081528"/>
            <a:ext cx="274320" cy="548640"/>
          </a:xfrm>
          <a:prstGeom prst="rect">
            <a:avLst/>
          </a:prstGeom>
          <a:noFill/>
          <a:ln/>
        </p:spPr>
        <p:txBody>
          <a:bodyPr wrap="square" lIns="0" tIns="0" rIns="0" bIns="0" rtlCol="0" anchor="ctr"/>
          <a:lstStyle/>
          <a:p>
            <a:pPr indent="0" marL="0">
              <a:buNone/>
            </a:pPr>
            <a:r>
              <a:rPr lang="en-US" sz="1100" b="1" dirty="0">
                <a:solidFill>
                  <a:srgbClr val="FF7A3D"/>
                </a:solidFill>
                <a:latin typeface="Courier New" pitchFamily="34" charset="0"/>
                <a:ea typeface="Courier New" pitchFamily="34" charset="-122"/>
                <a:cs typeface="Courier New" pitchFamily="34" charset="-120"/>
              </a:rPr>
              <a:t>3</a:t>
            </a:r>
            <a:endParaRPr lang="en-US" sz="1100" dirty="0"/>
          </a:p>
        </p:txBody>
      </p:sp>
      <p:sp>
        <p:nvSpPr>
          <p:cNvPr id="21" name="Text 19"/>
          <p:cNvSpPr/>
          <p:nvPr/>
        </p:nvSpPr>
        <p:spPr>
          <a:xfrm>
            <a:off x="5230368" y="3081528"/>
            <a:ext cx="2011680" cy="548640"/>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Switch phase</a:t>
            </a:r>
            <a:endParaRPr lang="en-US" sz="1150" dirty="0"/>
          </a:p>
        </p:txBody>
      </p:sp>
      <p:sp>
        <p:nvSpPr>
          <p:cNvPr id="22" name="Shape 20"/>
          <p:cNvSpPr/>
          <p:nvPr/>
        </p:nvSpPr>
        <p:spPr>
          <a:xfrm>
            <a:off x="4828032" y="3776472"/>
            <a:ext cx="2523744" cy="548640"/>
          </a:xfrm>
          <a:prstGeom prst="roundRect">
            <a:avLst>
              <a:gd name="adj" fmla="val 13333"/>
            </a:avLst>
          </a:prstGeom>
          <a:solidFill>
            <a:srgbClr val="1B2B49"/>
          </a:solidFill>
          <a:ln w="12700">
            <a:solidFill>
              <a:srgbClr val="FF7A3D"/>
            </a:solidFill>
            <a:prstDash val="solid"/>
          </a:ln>
        </p:spPr>
      </p:sp>
      <p:sp>
        <p:nvSpPr>
          <p:cNvPr id="23" name="Text 21"/>
          <p:cNvSpPr/>
          <p:nvPr/>
        </p:nvSpPr>
        <p:spPr>
          <a:xfrm>
            <a:off x="4937760" y="3776472"/>
            <a:ext cx="274320" cy="548640"/>
          </a:xfrm>
          <a:prstGeom prst="rect">
            <a:avLst/>
          </a:prstGeom>
          <a:noFill/>
          <a:ln/>
        </p:spPr>
        <p:txBody>
          <a:bodyPr wrap="square" lIns="0" tIns="0" rIns="0" bIns="0" rtlCol="0" anchor="ctr"/>
          <a:lstStyle/>
          <a:p>
            <a:pPr indent="0" marL="0">
              <a:buNone/>
            </a:pPr>
            <a:r>
              <a:rPr lang="en-US" sz="1100" b="1" dirty="0">
                <a:solidFill>
                  <a:srgbClr val="FF7A3D"/>
                </a:solidFill>
                <a:latin typeface="Courier New" pitchFamily="34" charset="0"/>
                <a:ea typeface="Courier New" pitchFamily="34" charset="-122"/>
                <a:cs typeface="Courier New" pitchFamily="34" charset="-120"/>
              </a:rPr>
              <a:t>4</a:t>
            </a:r>
            <a:endParaRPr lang="en-US" sz="1100" dirty="0"/>
          </a:p>
        </p:txBody>
      </p:sp>
      <p:sp>
        <p:nvSpPr>
          <p:cNvPr id="24" name="Text 22"/>
          <p:cNvSpPr/>
          <p:nvPr/>
        </p:nvSpPr>
        <p:spPr>
          <a:xfrm>
            <a:off x="5230368" y="3776472"/>
            <a:ext cx="2011680" cy="548640"/>
          </a:xfrm>
          <a:prstGeom prst="rect">
            <a:avLst/>
          </a:prstGeom>
          <a:noFill/>
          <a:ln/>
        </p:spPr>
        <p:txBody>
          <a:bodyPr wrap="square" lIns="0" tIns="0" rIns="0" bIns="0" rtlCol="0" anchor="ctr"/>
          <a:lstStyle/>
          <a:p>
            <a:pPr indent="0" marL="0">
              <a:lnSpc>
                <a:spcPct val="92000"/>
              </a:lnSpc>
              <a:buNone/>
            </a:pPr>
            <a:r>
              <a:rPr lang="en-US" sz="1150" b="1" dirty="0">
                <a:solidFill>
                  <a:srgbClr val="FF7A3D"/>
                </a:solidFill>
                <a:latin typeface="Calibri" pitchFamily="34" charset="0"/>
                <a:ea typeface="Calibri" pitchFamily="34" charset="-122"/>
                <a:cs typeface="Calibri" pitchFamily="34" charset="-120"/>
              </a:rPr>
              <a:t>Activate emergency-priority phase</a:t>
            </a:r>
            <a:endParaRPr lang="en-US" sz="1150" dirty="0"/>
          </a:p>
        </p:txBody>
      </p:sp>
      <p:sp>
        <p:nvSpPr>
          <p:cNvPr id="25" name="Shape 23"/>
          <p:cNvSpPr/>
          <p:nvPr/>
        </p:nvSpPr>
        <p:spPr>
          <a:xfrm>
            <a:off x="7836408" y="1188720"/>
            <a:ext cx="3803904" cy="3520440"/>
          </a:xfrm>
          <a:prstGeom prst="roundRect">
            <a:avLst>
              <a:gd name="adj" fmla="val 2597"/>
            </a:avLst>
          </a:prstGeom>
          <a:solidFill>
            <a:srgbClr val="15223C"/>
          </a:solidFill>
          <a:ln w="12700">
            <a:solidFill>
              <a:srgbClr val="2B3E60"/>
            </a:solidFill>
            <a:prstDash val="solid"/>
          </a:ln>
        </p:spPr>
      </p:sp>
      <p:sp>
        <p:nvSpPr>
          <p:cNvPr id="26" name="Shape 24"/>
          <p:cNvSpPr/>
          <p:nvPr/>
        </p:nvSpPr>
        <p:spPr>
          <a:xfrm>
            <a:off x="8074152" y="1426464"/>
            <a:ext cx="1188720" cy="274320"/>
          </a:xfrm>
          <a:prstGeom prst="roundRect">
            <a:avLst>
              <a:gd name="adj" fmla="val 20000"/>
            </a:avLst>
          </a:prstGeom>
          <a:solidFill>
            <a:srgbClr val="3A2113"/>
          </a:solidFill>
          <a:ln w="12700">
            <a:solidFill>
              <a:srgbClr val="3A2113"/>
            </a:solidFill>
            <a:prstDash val="solid"/>
          </a:ln>
        </p:spPr>
      </p:sp>
      <p:sp>
        <p:nvSpPr>
          <p:cNvPr id="27" name="Text 25"/>
          <p:cNvSpPr/>
          <p:nvPr/>
        </p:nvSpPr>
        <p:spPr>
          <a:xfrm>
            <a:off x="8074152" y="1426464"/>
            <a:ext cx="1188720" cy="274320"/>
          </a:xfrm>
          <a:prstGeom prst="rect">
            <a:avLst/>
          </a:prstGeom>
          <a:noFill/>
          <a:ln/>
        </p:spPr>
        <p:txBody>
          <a:bodyPr wrap="square" lIns="0" tIns="0" rIns="0" bIns="0" rtlCol="0" anchor="ctr"/>
          <a:lstStyle/>
          <a:p>
            <a:pPr algn="ctr" indent="0" marL="0">
              <a:buNone/>
            </a:pPr>
            <a:r>
              <a:rPr lang="en-US" sz="950" b="1" spc="120" kern="0" dirty="0">
                <a:solidFill>
                  <a:srgbClr val="FF7A3D"/>
                </a:solidFill>
                <a:latin typeface="Arial" pitchFamily="34" charset="0"/>
                <a:ea typeface="Arial" pitchFamily="34" charset="-122"/>
                <a:cs typeface="Arial" pitchFamily="34" charset="-120"/>
              </a:rPr>
              <a:t>REWARD</a:t>
            </a:r>
            <a:endParaRPr lang="en-US" sz="950" dirty="0"/>
          </a:p>
        </p:txBody>
      </p:sp>
      <p:sp>
        <p:nvSpPr>
          <p:cNvPr id="28" name="Shape 26"/>
          <p:cNvSpPr/>
          <p:nvPr/>
        </p:nvSpPr>
        <p:spPr>
          <a:xfrm>
            <a:off x="8074152" y="1664208"/>
            <a:ext cx="3328416" cy="1005840"/>
          </a:xfrm>
          <a:prstGeom prst="roundRect">
            <a:avLst>
              <a:gd name="adj" fmla="val 7273"/>
            </a:avLst>
          </a:prstGeom>
          <a:solidFill>
            <a:srgbClr val="0D1730"/>
          </a:solidFill>
          <a:ln w="12700">
            <a:solidFill>
              <a:srgbClr val="FF7A3D"/>
            </a:solidFill>
            <a:prstDash val="solid"/>
          </a:ln>
        </p:spPr>
      </p:sp>
      <p:sp>
        <p:nvSpPr>
          <p:cNvPr id="29" name="Text 27"/>
          <p:cNvSpPr/>
          <p:nvPr/>
        </p:nvSpPr>
        <p:spPr>
          <a:xfrm>
            <a:off x="8183880" y="1700784"/>
            <a:ext cx="3108960" cy="932688"/>
          </a:xfrm>
          <a:prstGeom prst="rect">
            <a:avLst/>
          </a:prstGeom>
          <a:noFill/>
          <a:ln/>
        </p:spPr>
        <p:txBody>
          <a:bodyPr wrap="square" lIns="0" tIns="0" rIns="0" bIns="0" rtlCol="0" anchor="ctr"/>
          <a:lstStyle/>
          <a:p>
            <a:pPr indent="0" marL="0">
              <a:lnSpc>
                <a:spcPct val="100000"/>
              </a:lnSpc>
              <a:buNone/>
            </a:pPr>
            <a:r>
              <a:rPr lang="en-US" sz="1050" dirty="0">
                <a:solidFill>
                  <a:srgbClr val="FFFFFF"/>
                </a:solidFill>
                <a:latin typeface="Courier New" pitchFamily="34" charset="0"/>
                <a:ea typeface="Courier New" pitchFamily="34" charset="-122"/>
                <a:cs typeface="Courier New" pitchFamily="34" charset="-120"/>
              </a:rPr>
              <a:t>R_emergency  =</a:t>
            </a:r>
            <a:endParaRPr lang="en-US" sz="1050" dirty="0"/>
          </a:p>
          <a:p>
            <a:pPr indent="0" marL="0">
              <a:lnSpc>
                <a:spcPct val="100000"/>
              </a:lnSpc>
              <a:buNone/>
            </a:pPr>
            <a:r>
              <a:rPr lang="en-US" sz="1050" dirty="0">
                <a:solidFill>
                  <a:srgbClr val="FFFFFF"/>
                </a:solidFill>
                <a:latin typeface="Courier New" pitchFamily="34" charset="0"/>
                <a:ea typeface="Courier New" pitchFamily="34" charset="-122"/>
                <a:cs typeface="Courier New" pitchFamily="34" charset="-120"/>
              </a:rPr>
              <a:t>− Emergency Waiting Time</a:t>
            </a:r>
            <a:endParaRPr lang="en-US" sz="1050" dirty="0"/>
          </a:p>
          <a:p>
            <a:pPr indent="0" marL="0">
              <a:lnSpc>
                <a:spcPct val="100000"/>
              </a:lnSpc>
              <a:buNone/>
            </a:pPr>
            <a:r>
              <a:rPr lang="en-US" sz="1050" dirty="0">
                <a:solidFill>
                  <a:srgbClr val="FFFFFF"/>
                </a:solidFill>
                <a:latin typeface="Courier New" pitchFamily="34" charset="0"/>
                <a:ea typeface="Courier New" pitchFamily="34" charset="-122"/>
                <a:cs typeface="Courier New" pitchFamily="34" charset="-120"/>
              </a:rPr>
              <a:t>+ Priority Reward</a:t>
            </a:r>
            <a:endParaRPr lang="en-US" sz="1050" dirty="0"/>
          </a:p>
          <a:p>
            <a:pPr indent="0" marL="0">
              <a:lnSpc>
                <a:spcPct val="100000"/>
              </a:lnSpc>
              <a:buNone/>
            </a:pPr>
            <a:r>
              <a:rPr lang="en-US" sz="1050" dirty="0">
                <a:solidFill>
                  <a:srgbClr val="FFFFFF"/>
                </a:solidFill>
                <a:latin typeface="Courier New" pitchFamily="34" charset="0"/>
                <a:ea typeface="Courier New" pitchFamily="34" charset="-122"/>
                <a:cs typeface="Courier New" pitchFamily="34" charset="-120"/>
              </a:rPr>
              <a:t>− General Traffic Delay Penalty</a:t>
            </a:r>
            <a:endParaRPr lang="en-US" sz="1050" dirty="0"/>
          </a:p>
        </p:txBody>
      </p:sp>
      <p:sp>
        <p:nvSpPr>
          <p:cNvPr id="30" name="Text 28"/>
          <p:cNvSpPr/>
          <p:nvPr/>
        </p:nvSpPr>
        <p:spPr>
          <a:xfrm>
            <a:off x="8110728" y="2816352"/>
            <a:ext cx="3291840" cy="1280160"/>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1150" dirty="0">
                <a:solidFill>
                  <a:srgbClr val="9DB2CE"/>
                </a:solidFill>
                <a:latin typeface="Calibri" pitchFamily="34" charset="0"/>
                <a:ea typeface="Calibri" pitchFamily="34" charset="-122"/>
                <a:cs typeface="Calibri" pitchFamily="34" charset="-120"/>
              </a:rPr>
              <a:t>Strong positive reward for safely reducing emergency delay</a:t>
            </a:r>
            <a:endParaRPr lang="en-US" sz="1150" dirty="0"/>
          </a:p>
          <a:p>
            <a:pPr marL="342900" indent="-342900">
              <a:lnSpc>
                <a:spcPct val="100000"/>
              </a:lnSpc>
              <a:spcAft>
                <a:spcPts val="500"/>
              </a:spcAft>
              <a:buSzPct val="100000"/>
              <a:buChar char="•"/>
            </a:pPr>
            <a:r>
              <a:rPr lang="en-US" sz="1150" dirty="0">
                <a:solidFill>
                  <a:srgbClr val="9DB2CE"/>
                </a:solidFill>
                <a:latin typeface="Calibri" pitchFamily="34" charset="0"/>
                <a:ea typeface="Calibri" pitchFamily="34" charset="-122"/>
                <a:cs typeface="Calibri" pitchFamily="34" charset="-120"/>
              </a:rPr>
              <a:t>Penalty when general traffic delay grows</a:t>
            </a:r>
            <a:endParaRPr lang="en-US" sz="1150" dirty="0"/>
          </a:p>
          <a:p>
            <a:pPr marL="342900" indent="-342900">
              <a:lnSpc>
                <a:spcPct val="100000"/>
              </a:lnSpc>
              <a:spcAft>
                <a:spcPts val="500"/>
              </a:spcAft>
              <a:buSzPct val="100000"/>
              <a:buChar char="•"/>
            </a:pPr>
            <a:r>
              <a:rPr lang="en-US" sz="1150" dirty="0">
                <a:solidFill>
                  <a:srgbClr val="9DB2CE"/>
                </a:solidFill>
                <a:latin typeface="Calibri" pitchFamily="34" charset="0"/>
                <a:ea typeface="Calibri" pitchFamily="34" charset="-122"/>
                <a:cs typeface="Calibri" pitchFamily="34" charset="-120"/>
              </a:rPr>
              <a:t>Penalty for unsafe signal switching</a:t>
            </a:r>
            <a:endParaRPr lang="en-US" sz="1150" dirty="0"/>
          </a:p>
        </p:txBody>
      </p:sp>
      <p:sp>
        <p:nvSpPr>
          <p:cNvPr id="31" name="Shape 29"/>
          <p:cNvSpPr/>
          <p:nvPr/>
        </p:nvSpPr>
        <p:spPr>
          <a:xfrm>
            <a:off x="548640" y="4983480"/>
            <a:ext cx="11091672" cy="1005840"/>
          </a:xfrm>
          <a:prstGeom prst="roundRect">
            <a:avLst>
              <a:gd name="adj" fmla="val 9091"/>
            </a:avLst>
          </a:prstGeom>
          <a:solidFill>
            <a:srgbClr val="0D1730"/>
          </a:solidFill>
          <a:ln w="12700">
            <a:solidFill>
              <a:srgbClr val="2B3E60"/>
            </a:solidFill>
            <a:prstDash val="solid"/>
          </a:ln>
        </p:spPr>
      </p:sp>
      <p:sp>
        <p:nvSpPr>
          <p:cNvPr id="32" name="Text 30"/>
          <p:cNvSpPr/>
          <p:nvPr/>
        </p:nvSpPr>
        <p:spPr>
          <a:xfrm>
            <a:off x="822960" y="5120640"/>
            <a:ext cx="2377440" cy="731520"/>
          </a:xfrm>
          <a:prstGeom prst="rect">
            <a:avLst/>
          </a:prstGeom>
          <a:noFill/>
          <a:ln/>
        </p:spPr>
        <p:txBody>
          <a:bodyPr wrap="square" lIns="0" tIns="0" rIns="0" bIns="0" rtlCol="0" anchor="ctr"/>
          <a:lstStyle/>
          <a:p>
            <a:pPr indent="0" marL="0">
              <a:buNone/>
            </a:pPr>
            <a:r>
              <a:rPr lang="en-US" sz="1000" b="1" spc="140" kern="0" dirty="0">
                <a:solidFill>
                  <a:srgbClr val="6E86A8"/>
                </a:solidFill>
                <a:latin typeface="Arial" pitchFamily="34" charset="0"/>
                <a:ea typeface="Arial" pitchFamily="34" charset="-122"/>
                <a:cs typeface="Arial" pitchFamily="34" charset="-120"/>
              </a:rPr>
              <a:t>THE AGENT MUST BALANCE</a:t>
            </a:r>
            <a:endParaRPr lang="en-US" sz="1000" dirty="0"/>
          </a:p>
        </p:txBody>
      </p:sp>
      <p:sp>
        <p:nvSpPr>
          <p:cNvPr id="33" name="Shape 31"/>
          <p:cNvSpPr/>
          <p:nvPr/>
        </p:nvSpPr>
        <p:spPr>
          <a:xfrm>
            <a:off x="3383280" y="5193792"/>
            <a:ext cx="2560320" cy="566928"/>
          </a:xfrm>
          <a:prstGeom prst="roundRect">
            <a:avLst>
              <a:gd name="adj" fmla="val 22581"/>
            </a:avLst>
          </a:prstGeom>
          <a:solidFill>
            <a:srgbClr val="3A2113"/>
          </a:solidFill>
          <a:ln w="12700">
            <a:solidFill>
              <a:srgbClr val="FF7A3D"/>
            </a:solidFill>
            <a:prstDash val="solid"/>
          </a:ln>
        </p:spPr>
      </p:sp>
      <p:sp>
        <p:nvSpPr>
          <p:cNvPr id="34" name="Text 32"/>
          <p:cNvSpPr/>
          <p:nvPr/>
        </p:nvSpPr>
        <p:spPr>
          <a:xfrm>
            <a:off x="3493008" y="5193792"/>
            <a:ext cx="2340864" cy="566928"/>
          </a:xfrm>
          <a:prstGeom prst="rect">
            <a:avLst/>
          </a:prstGeom>
          <a:noFill/>
          <a:ln/>
        </p:spPr>
        <p:txBody>
          <a:bodyPr wrap="square" lIns="0" tIns="0" rIns="0" bIns="0" rtlCol="0" anchor="ctr"/>
          <a:lstStyle/>
          <a:p>
            <a:pPr algn="ctr" indent="0" marL="0">
              <a:buNone/>
            </a:pPr>
            <a:r>
              <a:rPr lang="en-US" sz="1200" b="1" dirty="0">
                <a:solidFill>
                  <a:srgbClr val="FF7A3D"/>
                </a:solidFill>
                <a:latin typeface="Arial" pitchFamily="34" charset="0"/>
                <a:ea typeface="Arial" pitchFamily="34" charset="-122"/>
                <a:cs typeface="Arial" pitchFamily="34" charset="-120"/>
              </a:rPr>
              <a:t>Emergency Response Time</a:t>
            </a:r>
            <a:endParaRPr lang="en-US" sz="1200" dirty="0"/>
          </a:p>
        </p:txBody>
      </p:sp>
      <p:sp>
        <p:nvSpPr>
          <p:cNvPr id="35" name="Text 33"/>
          <p:cNvSpPr/>
          <p:nvPr/>
        </p:nvSpPr>
        <p:spPr>
          <a:xfrm>
            <a:off x="5961888" y="5193792"/>
            <a:ext cx="237744" cy="566928"/>
          </a:xfrm>
          <a:prstGeom prst="rect">
            <a:avLst/>
          </a:prstGeom>
          <a:noFill/>
          <a:ln/>
        </p:spPr>
        <p:txBody>
          <a:bodyPr wrap="square" lIns="0" tIns="0" rIns="0" bIns="0" rtlCol="0" anchor="ctr"/>
          <a:lstStyle/>
          <a:p>
            <a:pPr algn="ctr" indent="0" marL="0">
              <a:buNone/>
            </a:pPr>
            <a:r>
              <a:rPr lang="en-US" sz="1400" b="1" dirty="0">
                <a:solidFill>
                  <a:srgbClr val="6E86A8"/>
                </a:solidFill>
                <a:latin typeface="Arial" pitchFamily="34" charset="0"/>
                <a:ea typeface="Arial" pitchFamily="34" charset="-122"/>
                <a:cs typeface="Arial" pitchFamily="34" charset="-120"/>
              </a:rPr>
              <a:t>+</a:t>
            </a:r>
            <a:endParaRPr lang="en-US" sz="1400" dirty="0"/>
          </a:p>
        </p:txBody>
      </p:sp>
      <p:sp>
        <p:nvSpPr>
          <p:cNvPr id="36" name="Shape 34"/>
          <p:cNvSpPr/>
          <p:nvPr/>
        </p:nvSpPr>
        <p:spPr>
          <a:xfrm>
            <a:off x="6217920" y="5193792"/>
            <a:ext cx="2560320" cy="566928"/>
          </a:xfrm>
          <a:prstGeom prst="roundRect">
            <a:avLst>
              <a:gd name="adj" fmla="val 22581"/>
            </a:avLst>
          </a:prstGeom>
          <a:solidFill>
            <a:srgbClr val="3A2113"/>
          </a:solidFill>
          <a:ln w="12700">
            <a:solidFill>
              <a:srgbClr val="FF7A3D"/>
            </a:solidFill>
            <a:prstDash val="solid"/>
          </a:ln>
        </p:spPr>
      </p:sp>
      <p:sp>
        <p:nvSpPr>
          <p:cNvPr id="37" name="Text 35"/>
          <p:cNvSpPr/>
          <p:nvPr/>
        </p:nvSpPr>
        <p:spPr>
          <a:xfrm>
            <a:off x="6327648" y="5193792"/>
            <a:ext cx="2340864" cy="566928"/>
          </a:xfrm>
          <a:prstGeom prst="rect">
            <a:avLst/>
          </a:prstGeom>
          <a:noFill/>
          <a:ln/>
        </p:spPr>
        <p:txBody>
          <a:bodyPr wrap="square" lIns="0" tIns="0" rIns="0" bIns="0" rtlCol="0" anchor="ctr"/>
          <a:lstStyle/>
          <a:p>
            <a:pPr algn="ctr" indent="0" marL="0">
              <a:buNone/>
            </a:pPr>
            <a:r>
              <a:rPr lang="en-US" sz="1200" b="1" dirty="0">
                <a:solidFill>
                  <a:srgbClr val="FF7A3D"/>
                </a:solidFill>
                <a:latin typeface="Arial" pitchFamily="34" charset="0"/>
                <a:ea typeface="Arial" pitchFamily="34" charset="-122"/>
                <a:cs typeface="Arial" pitchFamily="34" charset="-120"/>
              </a:rPr>
              <a:t>General Traffic Efficiency</a:t>
            </a:r>
            <a:endParaRPr lang="en-US" sz="1200" dirty="0"/>
          </a:p>
        </p:txBody>
      </p:sp>
      <p:sp>
        <p:nvSpPr>
          <p:cNvPr id="38" name="Text 36"/>
          <p:cNvSpPr/>
          <p:nvPr/>
        </p:nvSpPr>
        <p:spPr>
          <a:xfrm>
            <a:off x="8796528" y="5193792"/>
            <a:ext cx="237744" cy="566928"/>
          </a:xfrm>
          <a:prstGeom prst="rect">
            <a:avLst/>
          </a:prstGeom>
          <a:noFill/>
          <a:ln/>
        </p:spPr>
        <p:txBody>
          <a:bodyPr wrap="square" lIns="0" tIns="0" rIns="0" bIns="0" rtlCol="0" anchor="ctr"/>
          <a:lstStyle/>
          <a:p>
            <a:pPr algn="ctr" indent="0" marL="0">
              <a:buNone/>
            </a:pPr>
            <a:r>
              <a:rPr lang="en-US" sz="1400" b="1" dirty="0">
                <a:solidFill>
                  <a:srgbClr val="6E86A8"/>
                </a:solidFill>
                <a:latin typeface="Arial" pitchFamily="34" charset="0"/>
                <a:ea typeface="Arial" pitchFamily="34" charset="-122"/>
                <a:cs typeface="Arial" pitchFamily="34" charset="-120"/>
              </a:rPr>
              <a:t>+</a:t>
            </a:r>
            <a:endParaRPr lang="en-US" sz="1400" dirty="0"/>
          </a:p>
        </p:txBody>
      </p:sp>
      <p:sp>
        <p:nvSpPr>
          <p:cNvPr id="39" name="Shape 37"/>
          <p:cNvSpPr/>
          <p:nvPr/>
        </p:nvSpPr>
        <p:spPr>
          <a:xfrm>
            <a:off x="9052560" y="5193792"/>
            <a:ext cx="2560320" cy="566928"/>
          </a:xfrm>
          <a:prstGeom prst="roundRect">
            <a:avLst>
              <a:gd name="adj" fmla="val 22581"/>
            </a:avLst>
          </a:prstGeom>
          <a:solidFill>
            <a:srgbClr val="3A2113"/>
          </a:solidFill>
          <a:ln w="12700">
            <a:solidFill>
              <a:srgbClr val="FF7A3D"/>
            </a:solidFill>
            <a:prstDash val="solid"/>
          </a:ln>
        </p:spPr>
      </p:sp>
      <p:sp>
        <p:nvSpPr>
          <p:cNvPr id="40" name="Text 38"/>
          <p:cNvSpPr/>
          <p:nvPr/>
        </p:nvSpPr>
        <p:spPr>
          <a:xfrm>
            <a:off x="9162288" y="5193792"/>
            <a:ext cx="2340864" cy="566928"/>
          </a:xfrm>
          <a:prstGeom prst="rect">
            <a:avLst/>
          </a:prstGeom>
          <a:noFill/>
          <a:ln/>
        </p:spPr>
        <p:txBody>
          <a:bodyPr wrap="square" lIns="0" tIns="0" rIns="0" bIns="0" rtlCol="0" anchor="ctr"/>
          <a:lstStyle/>
          <a:p>
            <a:pPr algn="ctr" indent="0" marL="0">
              <a:buNone/>
            </a:pPr>
            <a:r>
              <a:rPr lang="en-US" sz="1200" b="1" dirty="0">
                <a:solidFill>
                  <a:srgbClr val="FF7A3D"/>
                </a:solidFill>
                <a:latin typeface="Arial" pitchFamily="34" charset="0"/>
                <a:ea typeface="Arial" pitchFamily="34" charset="-122"/>
                <a:cs typeface="Arial" pitchFamily="34" charset="-120"/>
              </a:rPr>
              <a:t>Safety</a:t>
            </a:r>
            <a:endParaRPr lang="en-US" sz="1200" dirty="0"/>
          </a:p>
        </p:txBody>
      </p:sp>
      <p:sp>
        <p:nvSpPr>
          <p:cNvPr id="42" name="Text 39"/>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43" name="Text 40"/>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FF7A3D"/>
                </a:solidFill>
                <a:latin typeface="Calibri" pitchFamily="34" charset="0"/>
                <a:ea typeface="Calibri" pitchFamily="34" charset="-122"/>
                <a:cs typeface="Calibri" pitchFamily="34" charset="-120"/>
              </a:rPr>
              <a:t>06 / 22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FF7A3D"/>
                </a:solidFill>
                <a:latin typeface="Arial" pitchFamily="34" charset="0"/>
                <a:ea typeface="Arial" pitchFamily="34" charset="-122"/>
                <a:cs typeface="Arial" pitchFamily="34" charset="-120"/>
              </a:rPr>
              <a:t>EMERGENCY PRIORITIZATION  ·  WORKING SCENARIO</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Ambulance Approaching from the North</a:t>
            </a:r>
            <a:endParaRPr lang="en-US" sz="2800" dirty="0"/>
          </a:p>
        </p:txBody>
      </p:sp>
      <p:sp>
        <p:nvSpPr>
          <p:cNvPr id="4" name="Shape 2"/>
          <p:cNvSpPr/>
          <p:nvPr/>
        </p:nvSpPr>
        <p:spPr>
          <a:xfrm>
            <a:off x="548640" y="1188720"/>
            <a:ext cx="5532120" cy="4663440"/>
          </a:xfrm>
          <a:prstGeom prst="roundRect">
            <a:avLst>
              <a:gd name="adj" fmla="val 1961"/>
            </a:avLst>
          </a:prstGeom>
          <a:solidFill>
            <a:srgbClr val="15223C"/>
          </a:solidFill>
          <a:ln w="12700">
            <a:solidFill>
              <a:srgbClr val="2B3E60"/>
            </a:solidFill>
            <a:prstDash val="solid"/>
          </a:ln>
        </p:spPr>
      </p:sp>
      <p:sp>
        <p:nvSpPr>
          <p:cNvPr id="5" name="Shape 3"/>
          <p:cNvSpPr/>
          <p:nvPr/>
        </p:nvSpPr>
        <p:spPr>
          <a:xfrm>
            <a:off x="2743200" y="1481328"/>
            <a:ext cx="1133856" cy="3639312"/>
          </a:xfrm>
          <a:prstGeom prst="rect">
            <a:avLst/>
          </a:prstGeom>
          <a:solidFill>
            <a:srgbClr val="0D1730"/>
          </a:solidFill>
          <a:ln w="12700">
            <a:solidFill>
              <a:srgbClr val="333333"/>
            </a:solidFill>
            <a:prstDash val="solid"/>
          </a:ln>
        </p:spPr>
      </p:sp>
      <p:sp>
        <p:nvSpPr>
          <p:cNvPr id="6" name="Shape 4"/>
          <p:cNvSpPr/>
          <p:nvPr/>
        </p:nvSpPr>
        <p:spPr>
          <a:xfrm>
            <a:off x="841248" y="2999232"/>
            <a:ext cx="4937760" cy="1133856"/>
          </a:xfrm>
          <a:prstGeom prst="rect">
            <a:avLst/>
          </a:prstGeom>
          <a:solidFill>
            <a:srgbClr val="0D1730"/>
          </a:solidFill>
          <a:ln w="12700">
            <a:solidFill>
              <a:srgbClr val="333333"/>
            </a:solidFill>
            <a:prstDash val="solid"/>
          </a:ln>
        </p:spPr>
      </p:sp>
      <p:sp>
        <p:nvSpPr>
          <p:cNvPr id="7" name="Shape 5"/>
          <p:cNvSpPr/>
          <p:nvPr/>
        </p:nvSpPr>
        <p:spPr>
          <a:xfrm>
            <a:off x="3282696" y="1572768"/>
            <a:ext cx="54864" cy="219456"/>
          </a:xfrm>
          <a:prstGeom prst="rect">
            <a:avLst/>
          </a:prstGeom>
          <a:solidFill>
            <a:srgbClr val="2B3E60"/>
          </a:solidFill>
          <a:ln w="12700">
            <a:solidFill>
              <a:srgbClr val="333333"/>
            </a:solidFill>
            <a:prstDash val="solid"/>
          </a:ln>
        </p:spPr>
      </p:sp>
      <p:sp>
        <p:nvSpPr>
          <p:cNvPr id="8" name="Shape 6"/>
          <p:cNvSpPr/>
          <p:nvPr/>
        </p:nvSpPr>
        <p:spPr>
          <a:xfrm>
            <a:off x="3282696" y="1984248"/>
            <a:ext cx="54864" cy="219456"/>
          </a:xfrm>
          <a:prstGeom prst="rect">
            <a:avLst/>
          </a:prstGeom>
          <a:solidFill>
            <a:srgbClr val="2B3E60"/>
          </a:solidFill>
          <a:ln w="12700">
            <a:solidFill>
              <a:srgbClr val="333333"/>
            </a:solidFill>
            <a:prstDash val="solid"/>
          </a:ln>
        </p:spPr>
      </p:sp>
      <p:sp>
        <p:nvSpPr>
          <p:cNvPr id="9" name="Shape 7"/>
          <p:cNvSpPr/>
          <p:nvPr/>
        </p:nvSpPr>
        <p:spPr>
          <a:xfrm>
            <a:off x="3282696" y="2395728"/>
            <a:ext cx="54864" cy="219456"/>
          </a:xfrm>
          <a:prstGeom prst="rect">
            <a:avLst/>
          </a:prstGeom>
          <a:solidFill>
            <a:srgbClr val="2B3E60"/>
          </a:solidFill>
          <a:ln w="12700">
            <a:solidFill>
              <a:srgbClr val="333333"/>
            </a:solidFill>
            <a:prstDash val="solid"/>
          </a:ln>
        </p:spPr>
      </p:sp>
      <p:sp>
        <p:nvSpPr>
          <p:cNvPr id="10" name="Shape 8"/>
          <p:cNvSpPr/>
          <p:nvPr/>
        </p:nvSpPr>
        <p:spPr>
          <a:xfrm>
            <a:off x="3282696" y="2807208"/>
            <a:ext cx="54864" cy="219456"/>
          </a:xfrm>
          <a:prstGeom prst="rect">
            <a:avLst/>
          </a:prstGeom>
          <a:solidFill>
            <a:srgbClr val="2B3E60"/>
          </a:solidFill>
          <a:ln w="12700">
            <a:solidFill>
              <a:srgbClr val="333333"/>
            </a:solidFill>
            <a:prstDash val="solid"/>
          </a:ln>
        </p:spPr>
      </p:sp>
      <p:sp>
        <p:nvSpPr>
          <p:cNvPr id="11" name="Shape 9"/>
          <p:cNvSpPr/>
          <p:nvPr/>
        </p:nvSpPr>
        <p:spPr>
          <a:xfrm>
            <a:off x="3282696" y="4370832"/>
            <a:ext cx="54864" cy="182880"/>
          </a:xfrm>
          <a:prstGeom prst="rect">
            <a:avLst/>
          </a:prstGeom>
          <a:solidFill>
            <a:srgbClr val="2B3E60"/>
          </a:solidFill>
          <a:ln w="12700">
            <a:solidFill>
              <a:srgbClr val="333333"/>
            </a:solidFill>
            <a:prstDash val="solid"/>
          </a:ln>
        </p:spPr>
      </p:sp>
      <p:sp>
        <p:nvSpPr>
          <p:cNvPr id="12" name="Shape 10"/>
          <p:cNvSpPr/>
          <p:nvPr/>
        </p:nvSpPr>
        <p:spPr>
          <a:xfrm>
            <a:off x="3282696" y="4700016"/>
            <a:ext cx="54864" cy="182880"/>
          </a:xfrm>
          <a:prstGeom prst="rect">
            <a:avLst/>
          </a:prstGeom>
          <a:solidFill>
            <a:srgbClr val="2B3E60"/>
          </a:solidFill>
          <a:ln w="12700">
            <a:solidFill>
              <a:srgbClr val="333333"/>
            </a:solidFill>
            <a:prstDash val="solid"/>
          </a:ln>
        </p:spPr>
      </p:sp>
      <p:sp>
        <p:nvSpPr>
          <p:cNvPr id="13" name="Shape 11"/>
          <p:cNvSpPr/>
          <p:nvPr/>
        </p:nvSpPr>
        <p:spPr>
          <a:xfrm>
            <a:off x="960120" y="3538728"/>
            <a:ext cx="201168" cy="54864"/>
          </a:xfrm>
          <a:prstGeom prst="rect">
            <a:avLst/>
          </a:prstGeom>
          <a:solidFill>
            <a:srgbClr val="2B3E60"/>
          </a:solidFill>
          <a:ln w="12700">
            <a:solidFill>
              <a:srgbClr val="333333"/>
            </a:solidFill>
            <a:prstDash val="solid"/>
          </a:ln>
        </p:spPr>
      </p:sp>
      <p:sp>
        <p:nvSpPr>
          <p:cNvPr id="14" name="Shape 12"/>
          <p:cNvSpPr/>
          <p:nvPr/>
        </p:nvSpPr>
        <p:spPr>
          <a:xfrm>
            <a:off x="1344168" y="3538728"/>
            <a:ext cx="201168" cy="54864"/>
          </a:xfrm>
          <a:prstGeom prst="rect">
            <a:avLst/>
          </a:prstGeom>
          <a:solidFill>
            <a:srgbClr val="2B3E60"/>
          </a:solidFill>
          <a:ln w="12700">
            <a:solidFill>
              <a:srgbClr val="333333"/>
            </a:solidFill>
            <a:prstDash val="solid"/>
          </a:ln>
        </p:spPr>
      </p:sp>
      <p:sp>
        <p:nvSpPr>
          <p:cNvPr id="15" name="Shape 13"/>
          <p:cNvSpPr/>
          <p:nvPr/>
        </p:nvSpPr>
        <p:spPr>
          <a:xfrm>
            <a:off x="1728216" y="3538728"/>
            <a:ext cx="201168" cy="54864"/>
          </a:xfrm>
          <a:prstGeom prst="rect">
            <a:avLst/>
          </a:prstGeom>
          <a:solidFill>
            <a:srgbClr val="2B3E60"/>
          </a:solidFill>
          <a:ln w="12700">
            <a:solidFill>
              <a:srgbClr val="333333"/>
            </a:solidFill>
            <a:prstDash val="solid"/>
          </a:ln>
        </p:spPr>
      </p:sp>
      <p:sp>
        <p:nvSpPr>
          <p:cNvPr id="16" name="Shape 14"/>
          <p:cNvSpPr/>
          <p:nvPr/>
        </p:nvSpPr>
        <p:spPr>
          <a:xfrm>
            <a:off x="4572000" y="3538728"/>
            <a:ext cx="201168" cy="54864"/>
          </a:xfrm>
          <a:prstGeom prst="rect">
            <a:avLst/>
          </a:prstGeom>
          <a:solidFill>
            <a:srgbClr val="2B3E60"/>
          </a:solidFill>
          <a:ln w="12700">
            <a:solidFill>
              <a:srgbClr val="333333"/>
            </a:solidFill>
            <a:prstDash val="solid"/>
          </a:ln>
        </p:spPr>
      </p:sp>
      <p:sp>
        <p:nvSpPr>
          <p:cNvPr id="17" name="Shape 15"/>
          <p:cNvSpPr/>
          <p:nvPr/>
        </p:nvSpPr>
        <p:spPr>
          <a:xfrm>
            <a:off x="4956048" y="3538728"/>
            <a:ext cx="201168" cy="54864"/>
          </a:xfrm>
          <a:prstGeom prst="rect">
            <a:avLst/>
          </a:prstGeom>
          <a:solidFill>
            <a:srgbClr val="2B3E60"/>
          </a:solidFill>
          <a:ln w="12700">
            <a:solidFill>
              <a:srgbClr val="333333"/>
            </a:solidFill>
            <a:prstDash val="solid"/>
          </a:ln>
        </p:spPr>
      </p:sp>
      <p:sp>
        <p:nvSpPr>
          <p:cNvPr id="18" name="Shape 16"/>
          <p:cNvSpPr/>
          <p:nvPr/>
        </p:nvSpPr>
        <p:spPr>
          <a:xfrm>
            <a:off x="5340096" y="3538728"/>
            <a:ext cx="201168" cy="54864"/>
          </a:xfrm>
          <a:prstGeom prst="rect">
            <a:avLst/>
          </a:prstGeom>
          <a:solidFill>
            <a:srgbClr val="2B3E60"/>
          </a:solidFill>
          <a:ln w="12700">
            <a:solidFill>
              <a:srgbClr val="333333"/>
            </a:solidFill>
            <a:prstDash val="solid"/>
          </a:ln>
        </p:spPr>
      </p:sp>
      <p:sp>
        <p:nvSpPr>
          <p:cNvPr id="19" name="Shape 17"/>
          <p:cNvSpPr/>
          <p:nvPr/>
        </p:nvSpPr>
        <p:spPr>
          <a:xfrm>
            <a:off x="2441448" y="2670048"/>
            <a:ext cx="274320" cy="274320"/>
          </a:xfrm>
          <a:prstGeom prst="ellipse">
            <a:avLst/>
          </a:prstGeom>
          <a:solidFill>
            <a:srgbClr val="E74C3C"/>
          </a:solidFill>
          <a:ln w="12700">
            <a:solidFill>
              <a:srgbClr val="E74C3C"/>
            </a:solidFill>
            <a:prstDash val="solid"/>
          </a:ln>
        </p:spPr>
      </p:sp>
      <p:sp>
        <p:nvSpPr>
          <p:cNvPr id="20" name="Text 18"/>
          <p:cNvSpPr/>
          <p:nvPr/>
        </p:nvSpPr>
        <p:spPr>
          <a:xfrm>
            <a:off x="1481328" y="2633472"/>
            <a:ext cx="914400" cy="274320"/>
          </a:xfrm>
          <a:prstGeom prst="rect">
            <a:avLst/>
          </a:prstGeom>
          <a:noFill/>
          <a:ln/>
        </p:spPr>
        <p:txBody>
          <a:bodyPr wrap="square" lIns="0" tIns="0" rIns="0" bIns="0" rtlCol="0" anchor="ctr"/>
          <a:lstStyle/>
          <a:p>
            <a:pPr algn="r" indent="0" marL="0">
              <a:buNone/>
            </a:pPr>
            <a:r>
              <a:rPr lang="en-US" sz="1050" b="1" dirty="0">
                <a:solidFill>
                  <a:srgbClr val="E74C3C"/>
                </a:solidFill>
                <a:latin typeface="Arial" pitchFamily="34" charset="0"/>
                <a:ea typeface="Arial" pitchFamily="34" charset="-122"/>
                <a:cs typeface="Arial" pitchFamily="34" charset="-120"/>
              </a:rPr>
              <a:t>N–S  RED</a:t>
            </a:r>
            <a:endParaRPr lang="en-US" sz="1050" dirty="0"/>
          </a:p>
        </p:txBody>
      </p:sp>
      <p:sp>
        <p:nvSpPr>
          <p:cNvPr id="21" name="Shape 19"/>
          <p:cNvSpPr/>
          <p:nvPr/>
        </p:nvSpPr>
        <p:spPr>
          <a:xfrm>
            <a:off x="3913632" y="4206240"/>
            <a:ext cx="274320" cy="274320"/>
          </a:xfrm>
          <a:prstGeom prst="ellipse">
            <a:avLst/>
          </a:prstGeom>
          <a:solidFill>
            <a:srgbClr val="2FD68C"/>
          </a:solidFill>
          <a:ln w="12700">
            <a:solidFill>
              <a:srgbClr val="2FD68C"/>
            </a:solidFill>
            <a:prstDash val="solid"/>
          </a:ln>
        </p:spPr>
      </p:sp>
      <p:sp>
        <p:nvSpPr>
          <p:cNvPr id="22" name="Text 20"/>
          <p:cNvSpPr/>
          <p:nvPr/>
        </p:nvSpPr>
        <p:spPr>
          <a:xfrm>
            <a:off x="4224528" y="4169664"/>
            <a:ext cx="1234440" cy="274320"/>
          </a:xfrm>
          <a:prstGeom prst="rect">
            <a:avLst/>
          </a:prstGeom>
          <a:noFill/>
          <a:ln/>
        </p:spPr>
        <p:txBody>
          <a:bodyPr wrap="square" lIns="0" tIns="0" rIns="0" bIns="0" rtlCol="0" anchor="ctr"/>
          <a:lstStyle/>
          <a:p>
            <a:pPr indent="0" marL="0">
              <a:buNone/>
            </a:pPr>
            <a:r>
              <a:rPr lang="en-US" sz="1050" b="1" dirty="0">
                <a:solidFill>
                  <a:srgbClr val="2FD68C"/>
                </a:solidFill>
                <a:latin typeface="Arial" pitchFamily="34" charset="0"/>
                <a:ea typeface="Arial" pitchFamily="34" charset="-122"/>
                <a:cs typeface="Arial" pitchFamily="34" charset="-120"/>
              </a:rPr>
              <a:t>E–W  GREEN</a:t>
            </a:r>
            <a:endParaRPr lang="en-US" sz="1050" dirty="0"/>
          </a:p>
        </p:txBody>
      </p:sp>
      <p:sp>
        <p:nvSpPr>
          <p:cNvPr id="23" name="Shape 21"/>
          <p:cNvSpPr/>
          <p:nvPr/>
        </p:nvSpPr>
        <p:spPr>
          <a:xfrm>
            <a:off x="2999232" y="1737360"/>
            <a:ext cx="621792" cy="384048"/>
          </a:xfrm>
          <a:prstGeom prst="roundRect">
            <a:avLst>
              <a:gd name="adj" fmla="val 16667"/>
            </a:avLst>
          </a:prstGeom>
          <a:solidFill>
            <a:srgbClr val="FF7A3D"/>
          </a:solidFill>
          <a:ln w="12700">
            <a:solidFill>
              <a:srgbClr val="FF7A3D"/>
            </a:solidFill>
            <a:prstDash val="solid"/>
          </a:ln>
        </p:spPr>
      </p:sp>
      <p:pic>
        <p:nvPicPr>
          <p:cNvPr id="24" name="Image 0" descr="preencoded.png">    </p:cNvPr>
          <p:cNvPicPr>
            <a:picLocks noChangeAspect="1"/>
          </p:cNvPicPr>
          <p:nvPr/>
        </p:nvPicPr>
        <p:blipFill>
          <a:blip r:embed="rId1"/>
          <a:stretch>
            <a:fillRect/>
          </a:stretch>
        </p:blipFill>
        <p:spPr>
          <a:xfrm>
            <a:off x="3136392" y="1810512"/>
            <a:ext cx="347472" cy="237744"/>
          </a:xfrm>
          <a:prstGeom prst="rect">
            <a:avLst/>
          </a:prstGeom>
        </p:spPr>
      </p:pic>
      <p:sp>
        <p:nvSpPr>
          <p:cNvPr id="25" name="Shape 22"/>
          <p:cNvSpPr/>
          <p:nvPr/>
        </p:nvSpPr>
        <p:spPr>
          <a:xfrm rot="10800000">
            <a:off x="3191256" y="2212848"/>
            <a:ext cx="237744" cy="237744"/>
          </a:xfrm>
          <a:prstGeom prst="triangle">
            <a:avLst/>
          </a:prstGeom>
          <a:solidFill>
            <a:srgbClr val="FF7A3D"/>
          </a:solidFill>
          <a:ln w="12700">
            <a:solidFill>
              <a:srgbClr val="333333"/>
            </a:solidFill>
            <a:prstDash val="solid"/>
          </a:ln>
        </p:spPr>
      </p:sp>
      <p:sp>
        <p:nvSpPr>
          <p:cNvPr id="26" name="Text 23"/>
          <p:cNvSpPr/>
          <p:nvPr/>
        </p:nvSpPr>
        <p:spPr>
          <a:xfrm>
            <a:off x="3767328" y="1700784"/>
            <a:ext cx="1554480" cy="457200"/>
          </a:xfrm>
          <a:prstGeom prst="rect">
            <a:avLst/>
          </a:prstGeom>
          <a:noFill/>
          <a:ln/>
        </p:spPr>
        <p:txBody>
          <a:bodyPr wrap="square" lIns="0" tIns="0" rIns="0" bIns="0" rtlCol="0" anchor="ctr"/>
          <a:lstStyle/>
          <a:p>
            <a:pPr indent="0" marL="0">
              <a:lnSpc>
                <a:spcPct val="95000"/>
              </a:lnSpc>
              <a:buNone/>
            </a:pPr>
            <a:r>
              <a:rPr lang="en-US" sz="950" b="1" dirty="0">
                <a:solidFill>
                  <a:srgbClr val="FF7A3D"/>
                </a:solidFill>
                <a:latin typeface="Arial" pitchFamily="34" charset="0"/>
                <a:ea typeface="Arial" pitchFamily="34" charset="-122"/>
                <a:cs typeface="Arial" pitchFamily="34" charset="-120"/>
              </a:rPr>
              <a:t>EMERGENCY</a:t>
            </a:r>
            <a:endParaRPr lang="en-US" sz="950" dirty="0"/>
          </a:p>
          <a:p>
            <a:pPr indent="0" marL="0">
              <a:lnSpc>
                <a:spcPct val="95000"/>
              </a:lnSpc>
              <a:buNone/>
            </a:pPr>
            <a:r>
              <a:rPr lang="en-US" sz="950" b="1" dirty="0">
                <a:solidFill>
                  <a:srgbClr val="FF7A3D"/>
                </a:solidFill>
                <a:latin typeface="Arial" pitchFamily="34" charset="0"/>
                <a:ea typeface="Arial" pitchFamily="34" charset="-122"/>
                <a:cs typeface="Arial" pitchFamily="34" charset="-120"/>
              </a:rPr>
              <a:t>VEHICLE DETECTED</a:t>
            </a:r>
            <a:endParaRPr lang="en-US" sz="950" dirty="0"/>
          </a:p>
        </p:txBody>
      </p:sp>
      <p:sp>
        <p:nvSpPr>
          <p:cNvPr id="27" name="Shape 24"/>
          <p:cNvSpPr/>
          <p:nvPr/>
        </p:nvSpPr>
        <p:spPr>
          <a:xfrm>
            <a:off x="2852928" y="2542032"/>
            <a:ext cx="402336" cy="274320"/>
          </a:xfrm>
          <a:prstGeom prst="roundRect">
            <a:avLst>
              <a:gd name="adj" fmla="val 16667"/>
            </a:avLst>
          </a:prstGeom>
          <a:solidFill>
            <a:srgbClr val="1B2B49"/>
          </a:solidFill>
          <a:ln w="12700">
            <a:solidFill>
              <a:srgbClr val="2B3E60"/>
            </a:solidFill>
            <a:prstDash val="solid"/>
          </a:ln>
        </p:spPr>
      </p:sp>
      <p:sp>
        <p:nvSpPr>
          <p:cNvPr id="28" name="Shape 25"/>
          <p:cNvSpPr/>
          <p:nvPr/>
        </p:nvSpPr>
        <p:spPr>
          <a:xfrm>
            <a:off x="2852928" y="2907792"/>
            <a:ext cx="402336" cy="274320"/>
          </a:xfrm>
          <a:prstGeom prst="roundRect">
            <a:avLst>
              <a:gd name="adj" fmla="val 16667"/>
            </a:avLst>
          </a:prstGeom>
          <a:solidFill>
            <a:srgbClr val="1B2B49"/>
          </a:solidFill>
          <a:ln w="12700">
            <a:solidFill>
              <a:srgbClr val="2B3E60"/>
            </a:solidFill>
            <a:prstDash val="solid"/>
          </a:ln>
        </p:spPr>
      </p:sp>
      <p:sp>
        <p:nvSpPr>
          <p:cNvPr id="29" name="Shape 26"/>
          <p:cNvSpPr/>
          <p:nvPr/>
        </p:nvSpPr>
        <p:spPr>
          <a:xfrm>
            <a:off x="2852928" y="3273552"/>
            <a:ext cx="402336" cy="274320"/>
          </a:xfrm>
          <a:prstGeom prst="roundRect">
            <a:avLst>
              <a:gd name="adj" fmla="val 16667"/>
            </a:avLst>
          </a:prstGeom>
          <a:solidFill>
            <a:srgbClr val="1B2B49"/>
          </a:solidFill>
          <a:ln w="12700">
            <a:solidFill>
              <a:srgbClr val="2B3E60"/>
            </a:solidFill>
            <a:prstDash val="solid"/>
          </a:ln>
        </p:spPr>
      </p:sp>
      <p:sp>
        <p:nvSpPr>
          <p:cNvPr id="30" name="Shape 27"/>
          <p:cNvSpPr/>
          <p:nvPr/>
        </p:nvSpPr>
        <p:spPr>
          <a:xfrm>
            <a:off x="1188720" y="3108960"/>
            <a:ext cx="402336" cy="274320"/>
          </a:xfrm>
          <a:prstGeom prst="roundRect">
            <a:avLst>
              <a:gd name="adj" fmla="val 16667"/>
            </a:avLst>
          </a:prstGeom>
          <a:solidFill>
            <a:srgbClr val="1B2B49"/>
          </a:solidFill>
          <a:ln w="12700">
            <a:solidFill>
              <a:srgbClr val="2B3E60"/>
            </a:solidFill>
            <a:prstDash val="solid"/>
          </a:ln>
        </p:spPr>
      </p:sp>
      <p:sp>
        <p:nvSpPr>
          <p:cNvPr id="31" name="Shape 28"/>
          <p:cNvSpPr/>
          <p:nvPr/>
        </p:nvSpPr>
        <p:spPr>
          <a:xfrm>
            <a:off x="1700784" y="3108960"/>
            <a:ext cx="402336" cy="274320"/>
          </a:xfrm>
          <a:prstGeom prst="roundRect">
            <a:avLst>
              <a:gd name="adj" fmla="val 16667"/>
            </a:avLst>
          </a:prstGeom>
          <a:solidFill>
            <a:srgbClr val="1B2B49"/>
          </a:solidFill>
          <a:ln w="12700">
            <a:solidFill>
              <a:srgbClr val="2B3E60"/>
            </a:solidFill>
            <a:prstDash val="solid"/>
          </a:ln>
        </p:spPr>
      </p:sp>
      <p:sp>
        <p:nvSpPr>
          <p:cNvPr id="32" name="Shape 29"/>
          <p:cNvSpPr/>
          <p:nvPr/>
        </p:nvSpPr>
        <p:spPr>
          <a:xfrm>
            <a:off x="2212848" y="3108960"/>
            <a:ext cx="402336" cy="274320"/>
          </a:xfrm>
          <a:prstGeom prst="roundRect">
            <a:avLst>
              <a:gd name="adj" fmla="val 16667"/>
            </a:avLst>
          </a:prstGeom>
          <a:solidFill>
            <a:srgbClr val="1B2B49"/>
          </a:solidFill>
          <a:ln w="12700">
            <a:solidFill>
              <a:srgbClr val="2B3E60"/>
            </a:solidFill>
            <a:prstDash val="solid"/>
          </a:ln>
        </p:spPr>
      </p:sp>
      <p:sp>
        <p:nvSpPr>
          <p:cNvPr id="33" name="Text 30"/>
          <p:cNvSpPr/>
          <p:nvPr/>
        </p:nvSpPr>
        <p:spPr>
          <a:xfrm>
            <a:off x="3127248" y="1243584"/>
            <a:ext cx="365760" cy="237744"/>
          </a:xfrm>
          <a:prstGeom prst="rect">
            <a:avLst/>
          </a:prstGeom>
          <a:noFill/>
          <a:ln/>
        </p:spPr>
        <p:txBody>
          <a:bodyPr wrap="square" lIns="0" tIns="0" rIns="0" bIns="0" rtlCol="0" anchor="ctr"/>
          <a:lstStyle/>
          <a:p>
            <a:pPr algn="ctr" indent="0" marL="0">
              <a:buNone/>
            </a:pPr>
            <a:r>
              <a:rPr lang="en-US" sz="1100" b="1" dirty="0">
                <a:solidFill>
                  <a:srgbClr val="6E86A8"/>
                </a:solidFill>
                <a:latin typeface="Arial" pitchFamily="34" charset="0"/>
                <a:ea typeface="Arial" pitchFamily="34" charset="-122"/>
                <a:cs typeface="Arial" pitchFamily="34" charset="-120"/>
              </a:rPr>
              <a:t>N</a:t>
            </a:r>
            <a:endParaRPr lang="en-US" sz="1100" dirty="0"/>
          </a:p>
        </p:txBody>
      </p:sp>
      <p:sp>
        <p:nvSpPr>
          <p:cNvPr id="34" name="Text 31"/>
          <p:cNvSpPr/>
          <p:nvPr/>
        </p:nvSpPr>
        <p:spPr>
          <a:xfrm>
            <a:off x="841248" y="5321808"/>
            <a:ext cx="4937760" cy="457200"/>
          </a:xfrm>
          <a:prstGeom prst="rect">
            <a:avLst/>
          </a:prstGeom>
          <a:noFill/>
          <a:ln/>
        </p:spPr>
        <p:txBody>
          <a:bodyPr wrap="square" lIns="0" tIns="0" rIns="0" bIns="0" rtlCol="0" anchor="ctr"/>
          <a:lstStyle/>
          <a:p>
            <a:pPr algn="ctr" indent="0" marL="0">
              <a:lnSpc>
                <a:spcPct val="100000"/>
              </a:lnSpc>
              <a:buNone/>
            </a:pPr>
            <a:r>
              <a:rPr lang="en-US" sz="1100" i="1" dirty="0">
                <a:solidFill>
                  <a:srgbClr val="6E86A8"/>
                </a:solidFill>
                <a:latin typeface="Calibri" pitchFamily="34" charset="0"/>
                <a:ea typeface="Calibri" pitchFamily="34" charset="-122"/>
                <a:cs typeface="Calibri" pitchFamily="34" charset="-120"/>
              </a:rPr>
              <a:t>Competing traffic still flowing east–west — the agent weighs its delay before switching.</a:t>
            </a:r>
            <a:endParaRPr lang="en-US" sz="1100" dirty="0"/>
          </a:p>
        </p:txBody>
      </p:sp>
      <p:sp>
        <p:nvSpPr>
          <p:cNvPr id="35" name="Shape 32"/>
          <p:cNvSpPr/>
          <p:nvPr/>
        </p:nvSpPr>
        <p:spPr>
          <a:xfrm>
            <a:off x="6446520" y="1188720"/>
            <a:ext cx="5193792" cy="566928"/>
          </a:xfrm>
          <a:prstGeom prst="roundRect">
            <a:avLst>
              <a:gd name="adj" fmla="val 16129"/>
            </a:avLst>
          </a:prstGeom>
          <a:solidFill>
            <a:srgbClr val="15223C"/>
          </a:solidFill>
          <a:ln w="12700">
            <a:solidFill>
              <a:srgbClr val="2B3E60"/>
            </a:solidFill>
            <a:prstDash val="solid"/>
          </a:ln>
        </p:spPr>
      </p:sp>
      <p:sp>
        <p:nvSpPr>
          <p:cNvPr id="36" name="Text 33"/>
          <p:cNvSpPr/>
          <p:nvPr/>
        </p:nvSpPr>
        <p:spPr>
          <a:xfrm>
            <a:off x="6537960" y="1243584"/>
            <a:ext cx="5010912" cy="45720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Detect emergency vehicle</a:t>
            </a:r>
            <a:endParaRPr lang="en-US" sz="1250" dirty="0"/>
          </a:p>
        </p:txBody>
      </p:sp>
      <p:sp>
        <p:nvSpPr>
          <p:cNvPr id="37" name="Shape 34"/>
          <p:cNvSpPr/>
          <p:nvPr/>
        </p:nvSpPr>
        <p:spPr>
          <a:xfrm rot="10800000">
            <a:off x="8933688" y="1810512"/>
            <a:ext cx="219456" cy="182880"/>
          </a:xfrm>
          <a:prstGeom prst="triangle">
            <a:avLst/>
          </a:prstGeom>
          <a:solidFill>
            <a:srgbClr val="FF7A3D"/>
          </a:solidFill>
          <a:ln w="12700">
            <a:solidFill>
              <a:srgbClr val="FF7A3D"/>
            </a:solidFill>
            <a:prstDash val="solid"/>
          </a:ln>
        </p:spPr>
      </p:sp>
      <p:sp>
        <p:nvSpPr>
          <p:cNvPr id="38" name="Shape 35"/>
          <p:cNvSpPr/>
          <p:nvPr/>
        </p:nvSpPr>
        <p:spPr>
          <a:xfrm>
            <a:off x="6446520" y="1993392"/>
            <a:ext cx="5193792" cy="566928"/>
          </a:xfrm>
          <a:prstGeom prst="roundRect">
            <a:avLst>
              <a:gd name="adj" fmla="val 16129"/>
            </a:avLst>
          </a:prstGeom>
          <a:solidFill>
            <a:srgbClr val="15223C"/>
          </a:solidFill>
          <a:ln w="12700">
            <a:solidFill>
              <a:srgbClr val="2B3E60"/>
            </a:solidFill>
            <a:prstDash val="solid"/>
          </a:ln>
        </p:spPr>
      </p:sp>
      <p:sp>
        <p:nvSpPr>
          <p:cNvPr id="39" name="Text 36"/>
          <p:cNvSpPr/>
          <p:nvPr/>
        </p:nvSpPr>
        <p:spPr>
          <a:xfrm>
            <a:off x="6537960" y="2048256"/>
            <a:ext cx="5010912" cy="45720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Identify approach direction</a:t>
            </a:r>
            <a:endParaRPr lang="en-US" sz="1250" dirty="0"/>
          </a:p>
        </p:txBody>
      </p:sp>
      <p:sp>
        <p:nvSpPr>
          <p:cNvPr id="40" name="Shape 37"/>
          <p:cNvSpPr/>
          <p:nvPr/>
        </p:nvSpPr>
        <p:spPr>
          <a:xfrm rot="10800000">
            <a:off x="8933688" y="2615184"/>
            <a:ext cx="219456" cy="182880"/>
          </a:xfrm>
          <a:prstGeom prst="triangle">
            <a:avLst/>
          </a:prstGeom>
          <a:solidFill>
            <a:srgbClr val="FF7A3D"/>
          </a:solidFill>
          <a:ln w="12700">
            <a:solidFill>
              <a:srgbClr val="FF7A3D"/>
            </a:solidFill>
            <a:prstDash val="solid"/>
          </a:ln>
        </p:spPr>
      </p:sp>
      <p:sp>
        <p:nvSpPr>
          <p:cNvPr id="41" name="Shape 38"/>
          <p:cNvSpPr/>
          <p:nvPr/>
        </p:nvSpPr>
        <p:spPr>
          <a:xfrm>
            <a:off x="6446520" y="2798064"/>
            <a:ext cx="5193792" cy="566928"/>
          </a:xfrm>
          <a:prstGeom prst="roundRect">
            <a:avLst>
              <a:gd name="adj" fmla="val 16129"/>
            </a:avLst>
          </a:prstGeom>
          <a:solidFill>
            <a:srgbClr val="15223C"/>
          </a:solidFill>
          <a:ln w="12700">
            <a:solidFill>
              <a:srgbClr val="2B3E60"/>
            </a:solidFill>
            <a:prstDash val="solid"/>
          </a:ln>
        </p:spPr>
      </p:sp>
      <p:sp>
        <p:nvSpPr>
          <p:cNvPr id="42" name="Text 39"/>
          <p:cNvSpPr/>
          <p:nvPr/>
        </p:nvSpPr>
        <p:spPr>
          <a:xfrm>
            <a:off x="6537960" y="2852928"/>
            <a:ext cx="5010912" cy="45720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Evaluate available actions</a:t>
            </a:r>
            <a:endParaRPr lang="en-US" sz="1250" dirty="0"/>
          </a:p>
        </p:txBody>
      </p:sp>
      <p:sp>
        <p:nvSpPr>
          <p:cNvPr id="43" name="Shape 40"/>
          <p:cNvSpPr/>
          <p:nvPr/>
        </p:nvSpPr>
        <p:spPr>
          <a:xfrm rot="10800000">
            <a:off x="8933688" y="3419856"/>
            <a:ext cx="219456" cy="182880"/>
          </a:xfrm>
          <a:prstGeom prst="triangle">
            <a:avLst/>
          </a:prstGeom>
          <a:solidFill>
            <a:srgbClr val="FF7A3D"/>
          </a:solidFill>
          <a:ln w="12700">
            <a:solidFill>
              <a:srgbClr val="FF7A3D"/>
            </a:solidFill>
            <a:prstDash val="solid"/>
          </a:ln>
        </p:spPr>
      </p:sp>
      <p:sp>
        <p:nvSpPr>
          <p:cNvPr id="44" name="Shape 41"/>
          <p:cNvSpPr/>
          <p:nvPr/>
        </p:nvSpPr>
        <p:spPr>
          <a:xfrm>
            <a:off x="6446520" y="3602736"/>
            <a:ext cx="5193792" cy="566928"/>
          </a:xfrm>
          <a:prstGeom prst="roundRect">
            <a:avLst>
              <a:gd name="adj" fmla="val 16129"/>
            </a:avLst>
          </a:prstGeom>
          <a:solidFill>
            <a:srgbClr val="3A2113"/>
          </a:solidFill>
          <a:ln w="12700">
            <a:solidFill>
              <a:srgbClr val="FF7A3D"/>
            </a:solidFill>
            <a:prstDash val="solid"/>
          </a:ln>
        </p:spPr>
      </p:sp>
      <p:sp>
        <p:nvSpPr>
          <p:cNvPr id="45" name="Text 42"/>
          <p:cNvSpPr/>
          <p:nvPr/>
        </p:nvSpPr>
        <p:spPr>
          <a:xfrm>
            <a:off x="6537960" y="3657600"/>
            <a:ext cx="5010912" cy="457200"/>
          </a:xfrm>
          <a:prstGeom prst="rect">
            <a:avLst/>
          </a:prstGeom>
          <a:noFill/>
          <a:ln/>
        </p:spPr>
        <p:txBody>
          <a:bodyPr wrap="square" lIns="0" tIns="0" rIns="0" bIns="0" rtlCol="0" anchor="ctr"/>
          <a:lstStyle/>
          <a:p>
            <a:pPr algn="ctr" indent="0" marL="0">
              <a:lnSpc>
                <a:spcPct val="95000"/>
              </a:lnSpc>
              <a:buNone/>
            </a:pPr>
            <a:r>
              <a:rPr lang="en-US" sz="1250" b="1" dirty="0">
                <a:solidFill>
                  <a:srgbClr val="FF7A3D"/>
                </a:solidFill>
                <a:latin typeface="Calibri" pitchFamily="34" charset="0"/>
                <a:ea typeface="Calibri" pitchFamily="34" charset="-122"/>
                <a:cs typeface="Calibri" pitchFamily="34" charset="-120"/>
              </a:rPr>
              <a:t>Grant safe emergency priority</a:t>
            </a:r>
            <a:endParaRPr lang="en-US" sz="1250" dirty="0"/>
          </a:p>
        </p:txBody>
      </p:sp>
      <p:sp>
        <p:nvSpPr>
          <p:cNvPr id="46" name="Shape 43"/>
          <p:cNvSpPr/>
          <p:nvPr/>
        </p:nvSpPr>
        <p:spPr>
          <a:xfrm rot="10800000">
            <a:off x="8933688" y="4224528"/>
            <a:ext cx="219456" cy="182880"/>
          </a:xfrm>
          <a:prstGeom prst="triangle">
            <a:avLst/>
          </a:prstGeom>
          <a:solidFill>
            <a:srgbClr val="FF7A3D"/>
          </a:solidFill>
          <a:ln w="12700">
            <a:solidFill>
              <a:srgbClr val="FF7A3D"/>
            </a:solidFill>
            <a:prstDash val="solid"/>
          </a:ln>
        </p:spPr>
      </p:sp>
      <p:sp>
        <p:nvSpPr>
          <p:cNvPr id="47" name="Shape 44"/>
          <p:cNvSpPr/>
          <p:nvPr/>
        </p:nvSpPr>
        <p:spPr>
          <a:xfrm>
            <a:off x="6446520" y="4407408"/>
            <a:ext cx="5193792" cy="566928"/>
          </a:xfrm>
          <a:prstGeom prst="roundRect">
            <a:avLst>
              <a:gd name="adj" fmla="val 16129"/>
            </a:avLst>
          </a:prstGeom>
          <a:solidFill>
            <a:srgbClr val="15223C"/>
          </a:solidFill>
          <a:ln w="12700">
            <a:solidFill>
              <a:srgbClr val="2B3E60"/>
            </a:solidFill>
            <a:prstDash val="solid"/>
          </a:ln>
        </p:spPr>
      </p:sp>
      <p:sp>
        <p:nvSpPr>
          <p:cNvPr id="48" name="Text 45"/>
          <p:cNvSpPr/>
          <p:nvPr/>
        </p:nvSpPr>
        <p:spPr>
          <a:xfrm>
            <a:off x="6537960" y="4462272"/>
            <a:ext cx="5010912" cy="45720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Ambulance clears intersection</a:t>
            </a:r>
            <a:endParaRPr lang="en-US" sz="1250" dirty="0"/>
          </a:p>
        </p:txBody>
      </p:sp>
      <p:sp>
        <p:nvSpPr>
          <p:cNvPr id="49" name="Shape 46"/>
          <p:cNvSpPr/>
          <p:nvPr/>
        </p:nvSpPr>
        <p:spPr>
          <a:xfrm rot="10800000">
            <a:off x="8933688" y="5029200"/>
            <a:ext cx="219456" cy="182880"/>
          </a:xfrm>
          <a:prstGeom prst="triangle">
            <a:avLst/>
          </a:prstGeom>
          <a:solidFill>
            <a:srgbClr val="FF7A3D"/>
          </a:solidFill>
          <a:ln w="12700">
            <a:solidFill>
              <a:srgbClr val="FF7A3D"/>
            </a:solidFill>
            <a:prstDash val="solid"/>
          </a:ln>
        </p:spPr>
      </p:sp>
      <p:sp>
        <p:nvSpPr>
          <p:cNvPr id="50" name="Shape 47"/>
          <p:cNvSpPr/>
          <p:nvPr/>
        </p:nvSpPr>
        <p:spPr>
          <a:xfrm>
            <a:off x="6446520" y="5212080"/>
            <a:ext cx="5193792" cy="566928"/>
          </a:xfrm>
          <a:prstGeom prst="roundRect">
            <a:avLst>
              <a:gd name="adj" fmla="val 16129"/>
            </a:avLst>
          </a:prstGeom>
          <a:solidFill>
            <a:srgbClr val="15223C"/>
          </a:solidFill>
          <a:ln w="12700">
            <a:solidFill>
              <a:srgbClr val="2B3E60"/>
            </a:solidFill>
            <a:prstDash val="solid"/>
          </a:ln>
        </p:spPr>
      </p:sp>
      <p:sp>
        <p:nvSpPr>
          <p:cNvPr id="51" name="Text 48"/>
          <p:cNvSpPr/>
          <p:nvPr/>
        </p:nvSpPr>
        <p:spPr>
          <a:xfrm>
            <a:off x="6537960" y="5266944"/>
            <a:ext cx="5010912" cy="45720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Return to adaptive control</a:t>
            </a:r>
            <a:endParaRPr lang="en-US" sz="1250" dirty="0"/>
          </a:p>
        </p:txBody>
      </p:sp>
      <p:sp>
        <p:nvSpPr>
          <p:cNvPr id="53" name="Text 49"/>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54" name="Text 50"/>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FF7A3D"/>
                </a:solidFill>
                <a:latin typeface="Calibri" pitchFamily="34" charset="0"/>
                <a:ea typeface="Calibri" pitchFamily="34" charset="-122"/>
                <a:cs typeface="Calibri" pitchFamily="34" charset="-120"/>
              </a:rPr>
              <a:t>07 / 22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FF7A3D"/>
                </a:solidFill>
                <a:latin typeface="Arial" pitchFamily="34" charset="0"/>
                <a:ea typeface="Arial" pitchFamily="34" charset="-122"/>
                <a:cs typeface="Arial" pitchFamily="34" charset="-120"/>
              </a:rPr>
              <a:t>EMERGENCY PRIORITIZATION  ·  EXPECTED OUTCOME</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the Trained Agent Should Achieve</a:t>
            </a:r>
            <a:endParaRPr lang="en-US" sz="2800" dirty="0"/>
          </a:p>
        </p:txBody>
      </p:sp>
      <p:sp>
        <p:nvSpPr>
          <p:cNvPr id="4" name="Shape 2"/>
          <p:cNvSpPr/>
          <p:nvPr/>
        </p:nvSpPr>
        <p:spPr>
          <a:xfrm>
            <a:off x="548640" y="1298448"/>
            <a:ext cx="3557016" cy="1554480"/>
          </a:xfrm>
          <a:prstGeom prst="roundRect">
            <a:avLst>
              <a:gd name="adj" fmla="val 5882"/>
            </a:avLst>
          </a:prstGeom>
          <a:solidFill>
            <a:srgbClr val="15223C"/>
          </a:solidFill>
          <a:ln w="12700">
            <a:solidFill>
              <a:srgbClr val="2B3E60"/>
            </a:solidFill>
            <a:prstDash val="solid"/>
          </a:ln>
        </p:spPr>
      </p:sp>
      <p:sp>
        <p:nvSpPr>
          <p:cNvPr id="5" name="Shape 3"/>
          <p:cNvSpPr/>
          <p:nvPr/>
        </p:nvSpPr>
        <p:spPr>
          <a:xfrm>
            <a:off x="804672" y="1536192"/>
            <a:ext cx="475488" cy="475488"/>
          </a:xfrm>
          <a:prstGeom prst="ellipse">
            <a:avLst/>
          </a:prstGeom>
          <a:solidFill>
            <a:srgbClr val="3A2113"/>
          </a:solidFill>
          <a:ln w="12700">
            <a:solidFill>
              <a:srgbClr val="FF7A3D"/>
            </a:solidFill>
            <a:prstDash val="solid"/>
          </a:ln>
        </p:spPr>
      </p:sp>
      <p:pic>
        <p:nvPicPr>
          <p:cNvPr id="6" name="Image 0" descr="preencoded.png">    </p:cNvPr>
          <p:cNvPicPr>
            <a:picLocks noChangeAspect="1"/>
          </p:cNvPicPr>
          <p:nvPr/>
        </p:nvPicPr>
        <p:blipFill>
          <a:blip r:embed="rId1"/>
          <a:stretch>
            <a:fillRect/>
          </a:stretch>
        </p:blipFill>
        <p:spPr>
          <a:xfrm>
            <a:off x="933054" y="1664574"/>
            <a:ext cx="218724" cy="218724"/>
          </a:xfrm>
          <a:prstGeom prst="rect">
            <a:avLst/>
          </a:prstGeom>
        </p:spPr>
      </p:pic>
      <p:sp>
        <p:nvSpPr>
          <p:cNvPr id="7" name="Text 4"/>
          <p:cNvSpPr/>
          <p:nvPr/>
        </p:nvSpPr>
        <p:spPr>
          <a:xfrm>
            <a:off x="1481328" y="155448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Reduced emergency waiting time</a:t>
            </a:r>
            <a:endParaRPr lang="en-US" sz="1250" dirty="0"/>
          </a:p>
        </p:txBody>
      </p:sp>
      <p:sp>
        <p:nvSpPr>
          <p:cNvPr id="8" name="Text 5"/>
          <p:cNvSpPr/>
          <p:nvPr/>
        </p:nvSpPr>
        <p:spPr>
          <a:xfrm>
            <a:off x="804672" y="217627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Less time held at red on the emergency approach.</a:t>
            </a:r>
            <a:endParaRPr lang="en-US" sz="1100" dirty="0"/>
          </a:p>
        </p:txBody>
      </p:sp>
      <p:sp>
        <p:nvSpPr>
          <p:cNvPr id="9" name="Shape 6"/>
          <p:cNvSpPr/>
          <p:nvPr/>
        </p:nvSpPr>
        <p:spPr>
          <a:xfrm>
            <a:off x="4315968" y="1298448"/>
            <a:ext cx="3557016" cy="1554480"/>
          </a:xfrm>
          <a:prstGeom prst="roundRect">
            <a:avLst>
              <a:gd name="adj" fmla="val 5882"/>
            </a:avLst>
          </a:prstGeom>
          <a:solidFill>
            <a:srgbClr val="15223C"/>
          </a:solidFill>
          <a:ln w="12700">
            <a:solidFill>
              <a:srgbClr val="2B3E60"/>
            </a:solidFill>
            <a:prstDash val="solid"/>
          </a:ln>
        </p:spPr>
      </p:sp>
      <p:sp>
        <p:nvSpPr>
          <p:cNvPr id="10" name="Shape 7"/>
          <p:cNvSpPr/>
          <p:nvPr/>
        </p:nvSpPr>
        <p:spPr>
          <a:xfrm>
            <a:off x="4572000" y="1536192"/>
            <a:ext cx="475488" cy="475488"/>
          </a:xfrm>
          <a:prstGeom prst="ellipse">
            <a:avLst/>
          </a:prstGeom>
          <a:solidFill>
            <a:srgbClr val="3A2113"/>
          </a:solidFill>
          <a:ln w="12700">
            <a:solidFill>
              <a:srgbClr val="FF7A3D"/>
            </a:solidFill>
            <a:prstDash val="solid"/>
          </a:ln>
        </p:spPr>
      </p:sp>
      <p:pic>
        <p:nvPicPr>
          <p:cNvPr id="11" name="Image 1" descr="preencoded.png">    </p:cNvPr>
          <p:cNvPicPr>
            <a:picLocks noChangeAspect="1"/>
          </p:cNvPicPr>
          <p:nvPr/>
        </p:nvPicPr>
        <p:blipFill>
          <a:blip r:embed="rId2"/>
          <a:stretch>
            <a:fillRect/>
          </a:stretch>
        </p:blipFill>
        <p:spPr>
          <a:xfrm>
            <a:off x="4700382" y="1664574"/>
            <a:ext cx="218724" cy="218724"/>
          </a:xfrm>
          <a:prstGeom prst="rect">
            <a:avLst/>
          </a:prstGeom>
        </p:spPr>
      </p:pic>
      <p:sp>
        <p:nvSpPr>
          <p:cNvPr id="12" name="Text 8"/>
          <p:cNvSpPr/>
          <p:nvPr/>
        </p:nvSpPr>
        <p:spPr>
          <a:xfrm>
            <a:off x="5248656" y="155448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Faster emergency movement</a:t>
            </a:r>
            <a:endParaRPr lang="en-US" sz="1250" dirty="0"/>
          </a:p>
        </p:txBody>
      </p:sp>
      <p:sp>
        <p:nvSpPr>
          <p:cNvPr id="13" name="Text 9"/>
          <p:cNvSpPr/>
          <p:nvPr/>
        </p:nvSpPr>
        <p:spPr>
          <a:xfrm>
            <a:off x="4572000" y="217627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Quicker passage through the intersection.</a:t>
            </a:r>
            <a:endParaRPr lang="en-US" sz="1100" dirty="0"/>
          </a:p>
        </p:txBody>
      </p:sp>
      <p:sp>
        <p:nvSpPr>
          <p:cNvPr id="14" name="Shape 10"/>
          <p:cNvSpPr/>
          <p:nvPr/>
        </p:nvSpPr>
        <p:spPr>
          <a:xfrm>
            <a:off x="8083296" y="1298448"/>
            <a:ext cx="3557016" cy="1554480"/>
          </a:xfrm>
          <a:prstGeom prst="roundRect">
            <a:avLst>
              <a:gd name="adj" fmla="val 5882"/>
            </a:avLst>
          </a:prstGeom>
          <a:solidFill>
            <a:srgbClr val="15223C"/>
          </a:solidFill>
          <a:ln w="12700">
            <a:solidFill>
              <a:srgbClr val="2B3E60"/>
            </a:solidFill>
            <a:prstDash val="solid"/>
          </a:ln>
        </p:spPr>
      </p:sp>
      <p:sp>
        <p:nvSpPr>
          <p:cNvPr id="15" name="Shape 11"/>
          <p:cNvSpPr/>
          <p:nvPr/>
        </p:nvSpPr>
        <p:spPr>
          <a:xfrm>
            <a:off x="8339328" y="1536192"/>
            <a:ext cx="475488" cy="475488"/>
          </a:xfrm>
          <a:prstGeom prst="ellipse">
            <a:avLst/>
          </a:prstGeom>
          <a:solidFill>
            <a:srgbClr val="3A2113"/>
          </a:solidFill>
          <a:ln w="12700">
            <a:solidFill>
              <a:srgbClr val="FF7A3D"/>
            </a:solidFill>
            <a:prstDash val="solid"/>
          </a:ln>
        </p:spPr>
      </p:sp>
      <p:pic>
        <p:nvPicPr>
          <p:cNvPr id="16" name="Image 2" descr="preencoded.png">    </p:cNvPr>
          <p:cNvPicPr>
            <a:picLocks noChangeAspect="1"/>
          </p:cNvPicPr>
          <p:nvPr/>
        </p:nvPicPr>
        <p:blipFill>
          <a:blip r:embed="rId3"/>
          <a:stretch>
            <a:fillRect/>
          </a:stretch>
        </p:blipFill>
        <p:spPr>
          <a:xfrm>
            <a:off x="8467710" y="1664574"/>
            <a:ext cx="218724" cy="218724"/>
          </a:xfrm>
          <a:prstGeom prst="rect">
            <a:avLst/>
          </a:prstGeom>
        </p:spPr>
      </p:pic>
      <p:sp>
        <p:nvSpPr>
          <p:cNvPr id="17" name="Text 12"/>
          <p:cNvSpPr/>
          <p:nvPr/>
        </p:nvSpPr>
        <p:spPr>
          <a:xfrm>
            <a:off x="9015984" y="155448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Improved response efficiency</a:t>
            </a:r>
            <a:endParaRPr lang="en-US" sz="1250" dirty="0"/>
          </a:p>
        </p:txBody>
      </p:sp>
      <p:sp>
        <p:nvSpPr>
          <p:cNvPr id="18" name="Text 13"/>
          <p:cNvSpPr/>
          <p:nvPr/>
        </p:nvSpPr>
        <p:spPr>
          <a:xfrm>
            <a:off x="8339328" y="217627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Lower emergency travel time and delay overall.</a:t>
            </a:r>
            <a:endParaRPr lang="en-US" sz="1100" dirty="0"/>
          </a:p>
        </p:txBody>
      </p:sp>
      <p:sp>
        <p:nvSpPr>
          <p:cNvPr id="19" name="Shape 14"/>
          <p:cNvSpPr/>
          <p:nvPr/>
        </p:nvSpPr>
        <p:spPr>
          <a:xfrm>
            <a:off x="548640" y="2944368"/>
            <a:ext cx="3557016" cy="1554480"/>
          </a:xfrm>
          <a:prstGeom prst="roundRect">
            <a:avLst>
              <a:gd name="adj" fmla="val 5882"/>
            </a:avLst>
          </a:prstGeom>
          <a:solidFill>
            <a:srgbClr val="15223C"/>
          </a:solidFill>
          <a:ln w="12700">
            <a:solidFill>
              <a:srgbClr val="2B3E60"/>
            </a:solidFill>
            <a:prstDash val="solid"/>
          </a:ln>
        </p:spPr>
      </p:sp>
      <p:sp>
        <p:nvSpPr>
          <p:cNvPr id="20" name="Shape 15"/>
          <p:cNvSpPr/>
          <p:nvPr/>
        </p:nvSpPr>
        <p:spPr>
          <a:xfrm>
            <a:off x="804672" y="3182112"/>
            <a:ext cx="475488" cy="475488"/>
          </a:xfrm>
          <a:prstGeom prst="ellipse">
            <a:avLst/>
          </a:prstGeom>
          <a:solidFill>
            <a:srgbClr val="3A2113"/>
          </a:solidFill>
          <a:ln w="12700">
            <a:solidFill>
              <a:srgbClr val="FF7A3D"/>
            </a:solidFill>
            <a:prstDash val="solid"/>
          </a:ln>
        </p:spPr>
      </p:sp>
      <p:pic>
        <p:nvPicPr>
          <p:cNvPr id="21" name="Image 3" descr="preencoded.png">    </p:cNvPr>
          <p:cNvPicPr>
            <a:picLocks noChangeAspect="1"/>
          </p:cNvPicPr>
          <p:nvPr/>
        </p:nvPicPr>
        <p:blipFill>
          <a:blip r:embed="rId4"/>
          <a:stretch>
            <a:fillRect/>
          </a:stretch>
        </p:blipFill>
        <p:spPr>
          <a:xfrm>
            <a:off x="933054" y="3310494"/>
            <a:ext cx="218724" cy="218724"/>
          </a:xfrm>
          <a:prstGeom prst="rect">
            <a:avLst/>
          </a:prstGeom>
        </p:spPr>
      </p:pic>
      <p:sp>
        <p:nvSpPr>
          <p:cNvPr id="22" name="Text 16"/>
          <p:cNvSpPr/>
          <p:nvPr/>
        </p:nvSpPr>
        <p:spPr>
          <a:xfrm>
            <a:off x="1481328" y="320040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Dynamic signal prioritization</a:t>
            </a:r>
            <a:endParaRPr lang="en-US" sz="1250" dirty="0"/>
          </a:p>
        </p:txBody>
      </p:sp>
      <p:sp>
        <p:nvSpPr>
          <p:cNvPr id="23" name="Text 17"/>
          <p:cNvSpPr/>
          <p:nvPr/>
        </p:nvSpPr>
        <p:spPr>
          <a:xfrm>
            <a:off x="804672" y="382219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Priority granted from the observed state, not a fixed rule.</a:t>
            </a:r>
            <a:endParaRPr lang="en-US" sz="1100" dirty="0"/>
          </a:p>
        </p:txBody>
      </p:sp>
      <p:sp>
        <p:nvSpPr>
          <p:cNvPr id="24" name="Shape 18"/>
          <p:cNvSpPr/>
          <p:nvPr/>
        </p:nvSpPr>
        <p:spPr>
          <a:xfrm>
            <a:off x="4315968" y="2944368"/>
            <a:ext cx="3557016" cy="1554480"/>
          </a:xfrm>
          <a:prstGeom prst="roundRect">
            <a:avLst>
              <a:gd name="adj" fmla="val 5882"/>
            </a:avLst>
          </a:prstGeom>
          <a:solidFill>
            <a:srgbClr val="15223C"/>
          </a:solidFill>
          <a:ln w="12700">
            <a:solidFill>
              <a:srgbClr val="2B3E60"/>
            </a:solidFill>
            <a:prstDash val="solid"/>
          </a:ln>
        </p:spPr>
      </p:sp>
      <p:sp>
        <p:nvSpPr>
          <p:cNvPr id="25" name="Shape 19"/>
          <p:cNvSpPr/>
          <p:nvPr/>
        </p:nvSpPr>
        <p:spPr>
          <a:xfrm>
            <a:off x="4572000" y="3182112"/>
            <a:ext cx="475488" cy="475488"/>
          </a:xfrm>
          <a:prstGeom prst="ellipse">
            <a:avLst/>
          </a:prstGeom>
          <a:solidFill>
            <a:srgbClr val="3A2113"/>
          </a:solidFill>
          <a:ln w="12700">
            <a:solidFill>
              <a:srgbClr val="FF7A3D"/>
            </a:solidFill>
            <a:prstDash val="solid"/>
          </a:ln>
        </p:spPr>
      </p:sp>
      <p:pic>
        <p:nvPicPr>
          <p:cNvPr id="26" name="Image 4" descr="preencoded.png">    </p:cNvPr>
          <p:cNvPicPr>
            <a:picLocks noChangeAspect="1"/>
          </p:cNvPicPr>
          <p:nvPr/>
        </p:nvPicPr>
        <p:blipFill>
          <a:blip r:embed="rId5"/>
          <a:stretch>
            <a:fillRect/>
          </a:stretch>
        </p:blipFill>
        <p:spPr>
          <a:xfrm>
            <a:off x="4700382" y="3310494"/>
            <a:ext cx="218724" cy="218724"/>
          </a:xfrm>
          <a:prstGeom prst="rect">
            <a:avLst/>
          </a:prstGeom>
        </p:spPr>
      </p:pic>
      <p:sp>
        <p:nvSpPr>
          <p:cNvPr id="27" name="Text 20"/>
          <p:cNvSpPr/>
          <p:nvPr/>
        </p:nvSpPr>
        <p:spPr>
          <a:xfrm>
            <a:off x="5248656" y="320040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Reduced disruption to normal traffic</a:t>
            </a:r>
            <a:endParaRPr lang="en-US" sz="1250" dirty="0"/>
          </a:p>
        </p:txBody>
      </p:sp>
      <p:sp>
        <p:nvSpPr>
          <p:cNvPr id="28" name="Text 21"/>
          <p:cNvSpPr/>
          <p:nvPr/>
        </p:nvSpPr>
        <p:spPr>
          <a:xfrm>
            <a:off x="4572000" y="382219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Other approaches avoid unnecessary added delay.</a:t>
            </a:r>
            <a:endParaRPr lang="en-US" sz="1100" dirty="0"/>
          </a:p>
        </p:txBody>
      </p:sp>
      <p:sp>
        <p:nvSpPr>
          <p:cNvPr id="29" name="Shape 22"/>
          <p:cNvSpPr/>
          <p:nvPr/>
        </p:nvSpPr>
        <p:spPr>
          <a:xfrm>
            <a:off x="8083296" y="2944368"/>
            <a:ext cx="3557016" cy="1554480"/>
          </a:xfrm>
          <a:prstGeom prst="roundRect">
            <a:avLst>
              <a:gd name="adj" fmla="val 5882"/>
            </a:avLst>
          </a:prstGeom>
          <a:solidFill>
            <a:srgbClr val="0D1730"/>
          </a:solidFill>
          <a:ln w="12700">
            <a:solidFill>
              <a:srgbClr val="F5B041"/>
            </a:solidFill>
            <a:prstDash val="solid"/>
          </a:ln>
        </p:spPr>
      </p:sp>
      <p:sp>
        <p:nvSpPr>
          <p:cNvPr id="30" name="Shape 23"/>
          <p:cNvSpPr/>
          <p:nvPr/>
        </p:nvSpPr>
        <p:spPr>
          <a:xfrm>
            <a:off x="8339328" y="3182112"/>
            <a:ext cx="475488" cy="475488"/>
          </a:xfrm>
          <a:prstGeom prst="ellipse">
            <a:avLst/>
          </a:prstGeom>
          <a:solidFill>
            <a:srgbClr val="2A2013"/>
          </a:solidFill>
          <a:ln w="12700">
            <a:solidFill>
              <a:srgbClr val="F5B041"/>
            </a:solidFill>
            <a:prstDash val="solid"/>
          </a:ln>
        </p:spPr>
      </p:sp>
      <p:pic>
        <p:nvPicPr>
          <p:cNvPr id="31" name="Image 5" descr="preencoded.png">    </p:cNvPr>
          <p:cNvPicPr>
            <a:picLocks noChangeAspect="1"/>
          </p:cNvPicPr>
          <p:nvPr/>
        </p:nvPicPr>
        <p:blipFill>
          <a:blip r:embed="rId6"/>
          <a:stretch>
            <a:fillRect/>
          </a:stretch>
        </p:blipFill>
        <p:spPr>
          <a:xfrm>
            <a:off x="8467710" y="3310494"/>
            <a:ext cx="218724" cy="218724"/>
          </a:xfrm>
          <a:prstGeom prst="rect">
            <a:avLst/>
          </a:prstGeom>
        </p:spPr>
      </p:pic>
      <p:sp>
        <p:nvSpPr>
          <p:cNvPr id="32" name="Text 24"/>
          <p:cNvSpPr/>
          <p:nvPr/>
        </p:nvSpPr>
        <p:spPr>
          <a:xfrm>
            <a:off x="8979408" y="3200400"/>
            <a:ext cx="2560320" cy="274320"/>
          </a:xfrm>
          <a:prstGeom prst="rect">
            <a:avLst/>
          </a:prstGeom>
          <a:noFill/>
          <a:ln/>
        </p:spPr>
        <p:txBody>
          <a:bodyPr wrap="square" lIns="0" tIns="0" rIns="0" bIns="0" rtlCol="0" anchor="ctr"/>
          <a:lstStyle/>
          <a:p>
            <a:pPr indent="0" marL="0">
              <a:buNone/>
            </a:pPr>
            <a:r>
              <a:rPr lang="en-US" sz="1100" b="1" spc="120" kern="0" dirty="0">
                <a:solidFill>
                  <a:srgbClr val="F5B041"/>
                </a:solidFill>
                <a:latin typeface="Arial" pitchFamily="34" charset="0"/>
                <a:ea typeface="Arial" pitchFamily="34" charset="-122"/>
                <a:cs typeface="Arial" pitchFamily="34" charset="-120"/>
              </a:rPr>
              <a:t>EXPECTED OUTCOME</a:t>
            </a:r>
            <a:endParaRPr lang="en-US" sz="1100" dirty="0"/>
          </a:p>
        </p:txBody>
      </p:sp>
      <p:sp>
        <p:nvSpPr>
          <p:cNvPr id="33" name="Text 25"/>
          <p:cNvSpPr/>
          <p:nvPr/>
        </p:nvSpPr>
        <p:spPr>
          <a:xfrm>
            <a:off x="8339328" y="3730752"/>
            <a:ext cx="3044952" cy="685800"/>
          </a:xfrm>
          <a:prstGeom prst="rect">
            <a:avLst/>
          </a:prstGeom>
          <a:noFill/>
          <a:ln/>
        </p:spPr>
        <p:txBody>
          <a:bodyPr wrap="square" lIns="0" tIns="0" rIns="0" bIns="0" rtlCol="0" anchor="ctr"/>
          <a:lstStyle/>
          <a:p>
            <a:pPr indent="0" marL="0">
              <a:lnSpc>
                <a:spcPct val="102000"/>
              </a:lnSpc>
              <a:buNone/>
            </a:pPr>
            <a:r>
              <a:rPr lang="en-US" sz="1100" dirty="0">
                <a:solidFill>
                  <a:srgbClr val="9DB2CE"/>
                </a:solidFill>
                <a:latin typeface="Calibri" pitchFamily="34" charset="0"/>
                <a:ea typeface="Calibri" pitchFamily="34" charset="-122"/>
                <a:cs typeface="Calibri" pitchFamily="34" charset="-120"/>
              </a:rPr>
              <a:t>No numerical improvement is claimed. Actual values are to be evaluated experimentally in SUMO against a fixed-time baseline.</a:t>
            </a:r>
            <a:endParaRPr lang="en-US" sz="1100" dirty="0"/>
          </a:p>
        </p:txBody>
      </p:sp>
      <p:sp>
        <p:nvSpPr>
          <p:cNvPr id="34" name="Shape 26"/>
          <p:cNvSpPr/>
          <p:nvPr/>
        </p:nvSpPr>
        <p:spPr>
          <a:xfrm>
            <a:off x="548640" y="4773168"/>
            <a:ext cx="11091672" cy="1024128"/>
          </a:xfrm>
          <a:prstGeom prst="roundRect">
            <a:avLst>
              <a:gd name="adj" fmla="val 8929"/>
            </a:avLst>
          </a:prstGeom>
          <a:solidFill>
            <a:srgbClr val="3A2113"/>
          </a:solidFill>
          <a:ln w="12700">
            <a:solidFill>
              <a:srgbClr val="FF7A3D"/>
            </a:solidFill>
            <a:prstDash val="solid"/>
          </a:ln>
        </p:spPr>
      </p:sp>
      <p:sp>
        <p:nvSpPr>
          <p:cNvPr id="35" name="Text 27"/>
          <p:cNvSpPr/>
          <p:nvPr/>
        </p:nvSpPr>
        <p:spPr>
          <a:xfrm>
            <a:off x="822960" y="4773168"/>
            <a:ext cx="10515600" cy="1024128"/>
          </a:xfrm>
          <a:prstGeom prst="rect">
            <a:avLst/>
          </a:prstGeom>
          <a:noFill/>
          <a:ln/>
        </p:spPr>
        <p:txBody>
          <a:bodyPr wrap="square" lIns="0" tIns="0" rIns="0" bIns="0" rtlCol="0" anchor="ctr"/>
          <a:lstStyle/>
          <a:p>
            <a:pPr algn="ctr" indent="0" marL="0">
              <a:buNone/>
            </a:pPr>
            <a:r>
              <a:rPr lang="en-US" sz="1900" b="1" i="1" dirty="0">
                <a:solidFill>
                  <a:srgbClr val="FF7A3D"/>
                </a:solidFill>
                <a:latin typeface="Arial" pitchFamily="34" charset="0"/>
                <a:ea typeface="Arial" pitchFamily="34" charset="-122"/>
                <a:cs typeface="Arial" pitchFamily="34" charset="-120"/>
              </a:rPr>
              <a:t>“Priority when it matters — without sacrificing overall traffic efficiency.”</a:t>
            </a:r>
            <a:endParaRPr lang="en-US" sz="1900" dirty="0"/>
          </a:p>
        </p:txBody>
      </p:sp>
      <p:sp>
        <p:nvSpPr>
          <p:cNvPr id="36" name="Text 28"/>
          <p:cNvSpPr/>
          <p:nvPr/>
        </p:nvSpPr>
        <p:spPr>
          <a:xfrm>
            <a:off x="548640" y="5943600"/>
            <a:ext cx="7772400" cy="274320"/>
          </a:xfrm>
          <a:prstGeom prst="rect">
            <a:avLst/>
          </a:prstGeom>
          <a:noFill/>
          <a:ln/>
        </p:spPr>
        <p:txBody>
          <a:bodyPr wrap="square" lIns="0" tIns="0" rIns="0" bIns="0" rtlCol="0" anchor="ctr"/>
          <a:lstStyle/>
          <a:p>
            <a:pPr indent="0" marL="0">
              <a:buNone/>
            </a:pPr>
            <a:r>
              <a:rPr lang="en-US" sz="1100" i="1" dirty="0">
                <a:solidFill>
                  <a:srgbClr val="6E86A8"/>
                </a:solidFill>
                <a:latin typeface="Calibri" pitchFamily="34" charset="0"/>
                <a:ea typeface="Calibri" pitchFamily="34" charset="-122"/>
                <a:cs typeface="Calibri" pitchFamily="34" charset="-120"/>
              </a:rPr>
              <a:t>Handing over to Shaun, who covers fuel consumption, emissions and traffic violation detection.</a:t>
            </a:r>
            <a:endParaRPr lang="en-US" sz="1100" dirty="0"/>
          </a:p>
        </p:txBody>
      </p:sp>
      <p:sp>
        <p:nvSpPr>
          <p:cNvPr id="38" name="Text 29"/>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Anantha Narayanan A</a:t>
            </a:r>
            <a:endParaRPr lang="en-US" sz="950" dirty="0"/>
          </a:p>
        </p:txBody>
      </p:sp>
      <p:sp>
        <p:nvSpPr>
          <p:cNvPr id="39" name="Text 30"/>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FF7A3D"/>
                </a:solidFill>
                <a:latin typeface="Calibri" pitchFamily="34" charset="0"/>
                <a:ea typeface="Calibri" pitchFamily="34" charset="-122"/>
                <a:cs typeface="Calibri" pitchFamily="34" charset="-120"/>
              </a:rPr>
              <a:t>08 / 22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6"/>
        </a:solidFill>
      </p:bgPr>
    </p:bg>
    <p:spTree>
      <p:nvGrpSpPr>
        <p:cNvPr id="1" name=""/>
        <p:cNvGrpSpPr/>
        <p:nvPr/>
      </p:nvGrpSpPr>
      <p:grpSpPr>
        <a:xfrm>
          <a:off x="0" y="0"/>
          <a:ext cx="0" cy="0"/>
          <a:chOff x="0" y="0"/>
          <a:chExt cx="0" cy="0"/>
        </a:xfrm>
      </p:grpSpPr>
      <p:sp>
        <p:nvSpPr>
          <p:cNvPr id="2" name="Shape 0"/>
          <p:cNvSpPr/>
          <p:nvPr/>
        </p:nvSpPr>
        <p:spPr>
          <a:xfrm>
            <a:off x="7818120" y="0"/>
            <a:ext cx="4370832" cy="6858000"/>
          </a:xfrm>
          <a:prstGeom prst="rect">
            <a:avLst/>
          </a:prstGeom>
          <a:solidFill>
            <a:srgbClr val="0D1730"/>
          </a:solidFill>
          <a:ln w="12700">
            <a:solidFill>
              <a:srgbClr val="333333"/>
            </a:solidFill>
            <a:prstDash val="solid"/>
          </a:ln>
        </p:spPr>
      </p:sp>
      <p:sp>
        <p:nvSpPr>
          <p:cNvPr id="3" name="Text 1"/>
          <p:cNvSpPr/>
          <p:nvPr/>
        </p:nvSpPr>
        <p:spPr>
          <a:xfrm>
            <a:off x="411480" y="749808"/>
            <a:ext cx="2926080" cy="1737360"/>
          </a:xfrm>
          <a:prstGeom prst="rect">
            <a:avLst/>
          </a:prstGeom>
          <a:noFill/>
          <a:ln/>
        </p:spPr>
        <p:txBody>
          <a:bodyPr wrap="square" lIns="0" tIns="0" rIns="0" bIns="0" rtlCol="0" anchor="ctr"/>
          <a:lstStyle/>
          <a:p>
            <a:pPr indent="0" marL="0">
              <a:buNone/>
            </a:pPr>
            <a:r>
              <a:rPr lang="en-US" sz="12200" b="1" dirty="0">
                <a:solidFill>
                  <a:srgbClr val="13351F"/>
                </a:solidFill>
                <a:latin typeface="Arial" pitchFamily="34" charset="0"/>
                <a:ea typeface="Arial" pitchFamily="34" charset="-122"/>
                <a:cs typeface="Arial" pitchFamily="34" charset="-120"/>
              </a:rPr>
              <a:t>02</a:t>
            </a:r>
            <a:endParaRPr lang="en-US" sz="12200" dirty="0"/>
          </a:p>
        </p:txBody>
      </p:sp>
      <p:sp>
        <p:nvSpPr>
          <p:cNvPr id="4" name="Text 2"/>
          <p:cNvSpPr/>
          <p:nvPr/>
        </p:nvSpPr>
        <p:spPr>
          <a:xfrm>
            <a:off x="566928" y="475488"/>
            <a:ext cx="5486400" cy="274320"/>
          </a:xfrm>
          <a:prstGeom prst="rect">
            <a:avLst/>
          </a:prstGeom>
          <a:noFill/>
          <a:ln/>
        </p:spPr>
        <p:txBody>
          <a:bodyPr wrap="square" lIns="0" tIns="0" rIns="0" bIns="0" rtlCol="0" anchor="ctr"/>
          <a:lstStyle/>
          <a:p>
            <a:pPr indent="0" marL="0">
              <a:buNone/>
            </a:pPr>
            <a:r>
              <a:rPr lang="en-US" sz="1050" b="1" spc="200" kern="0" dirty="0">
                <a:solidFill>
                  <a:srgbClr val="2FD68C"/>
                </a:solidFill>
                <a:latin typeface="Arial" pitchFamily="34" charset="0"/>
                <a:ea typeface="Arial" pitchFamily="34" charset="-122"/>
                <a:cs typeface="Arial" pitchFamily="34" charset="-120"/>
              </a:rPr>
              <a:t>SECTION 02  ·  SLIDES 9–13</a:t>
            </a:r>
            <a:endParaRPr lang="en-US" sz="1050" dirty="0"/>
          </a:p>
        </p:txBody>
      </p:sp>
      <p:sp>
        <p:nvSpPr>
          <p:cNvPr id="5" name="Text 3"/>
          <p:cNvSpPr/>
          <p:nvPr/>
        </p:nvSpPr>
        <p:spPr>
          <a:xfrm>
            <a:off x="548640" y="2697480"/>
            <a:ext cx="6858000" cy="640080"/>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SHAUN JOSEPH SABU</a:t>
            </a:r>
            <a:endParaRPr lang="en-US" sz="3300" dirty="0"/>
          </a:p>
        </p:txBody>
      </p:sp>
      <p:sp>
        <p:nvSpPr>
          <p:cNvPr id="6" name="Text 4"/>
          <p:cNvSpPr/>
          <p:nvPr/>
        </p:nvSpPr>
        <p:spPr>
          <a:xfrm>
            <a:off x="548640" y="3383280"/>
            <a:ext cx="6949440" cy="822960"/>
          </a:xfrm>
          <a:prstGeom prst="rect">
            <a:avLst/>
          </a:prstGeom>
          <a:noFill/>
          <a:ln/>
        </p:spPr>
        <p:txBody>
          <a:bodyPr wrap="square" lIns="0" tIns="0" rIns="0" bIns="0" rtlCol="0" anchor="ctr"/>
          <a:lstStyle/>
          <a:p>
            <a:pPr indent="0" marL="0">
              <a:lnSpc>
                <a:spcPct val="100000"/>
              </a:lnSpc>
              <a:buNone/>
            </a:pPr>
            <a:r>
              <a:rPr lang="en-US" sz="1800" b="1" dirty="0">
                <a:solidFill>
                  <a:srgbClr val="2FD68C"/>
                </a:solidFill>
                <a:latin typeface="Arial" pitchFamily="34" charset="0"/>
                <a:ea typeface="Arial" pitchFamily="34" charset="-122"/>
                <a:cs typeface="Arial" pitchFamily="34" charset="-120"/>
              </a:rPr>
              <a:t>Fuel Consumption, Emission Reduction</a:t>
            </a:r>
            <a:endParaRPr lang="en-US" sz="1800" dirty="0"/>
          </a:p>
          <a:p>
            <a:pPr indent="0" marL="0">
              <a:lnSpc>
                <a:spcPct val="100000"/>
              </a:lnSpc>
              <a:buNone/>
            </a:pPr>
            <a:r>
              <a:rPr lang="en-US" sz="1800" b="1" dirty="0">
                <a:solidFill>
                  <a:srgbClr val="2FD68C"/>
                </a:solidFill>
                <a:latin typeface="Arial" pitchFamily="34" charset="0"/>
                <a:ea typeface="Arial" pitchFamily="34" charset="-122"/>
                <a:cs typeface="Arial" pitchFamily="34" charset="-120"/>
              </a:rPr>
              <a:t>&amp; Traffic Violation Detection</a:t>
            </a:r>
            <a:endParaRPr lang="en-US" sz="1800" dirty="0"/>
          </a:p>
        </p:txBody>
      </p:sp>
      <p:sp>
        <p:nvSpPr>
          <p:cNvPr id="7" name="Shape 5"/>
          <p:cNvSpPr/>
          <p:nvPr/>
        </p:nvSpPr>
        <p:spPr>
          <a:xfrm>
            <a:off x="548640" y="4462272"/>
            <a:ext cx="6949440" cy="1463040"/>
          </a:xfrm>
          <a:prstGeom prst="roundRect">
            <a:avLst>
              <a:gd name="adj" fmla="val 6250"/>
            </a:avLst>
          </a:prstGeom>
          <a:solidFill>
            <a:srgbClr val="15223C"/>
          </a:solidFill>
          <a:ln w="12700">
            <a:solidFill>
              <a:srgbClr val="2B3E60"/>
            </a:solidFill>
            <a:prstDash val="solid"/>
          </a:ln>
        </p:spPr>
      </p:sp>
      <p:sp>
        <p:nvSpPr>
          <p:cNvPr id="8" name="Text 6"/>
          <p:cNvSpPr/>
          <p:nvPr/>
        </p:nvSpPr>
        <p:spPr>
          <a:xfrm>
            <a:off x="804672" y="4645152"/>
            <a:ext cx="3657600" cy="237744"/>
          </a:xfrm>
          <a:prstGeom prst="rect">
            <a:avLst/>
          </a:prstGeom>
          <a:noFill/>
          <a:ln/>
        </p:spPr>
        <p:txBody>
          <a:bodyPr wrap="square" lIns="0" tIns="0" rIns="0" bIns="0" rtlCol="0" anchor="ctr"/>
          <a:lstStyle/>
          <a:p>
            <a:pPr indent="0" marL="0">
              <a:buNone/>
            </a:pPr>
            <a:r>
              <a:rPr lang="en-US" sz="950" b="1" spc="160" kern="0" dirty="0">
                <a:solidFill>
                  <a:srgbClr val="2FD68C"/>
                </a:solidFill>
                <a:latin typeface="Arial" pitchFamily="34" charset="0"/>
                <a:ea typeface="Arial" pitchFamily="34" charset="-122"/>
                <a:cs typeface="Arial" pitchFamily="34" charset="-120"/>
              </a:rPr>
              <a:t>OBJECTIVE</a:t>
            </a:r>
            <a:endParaRPr lang="en-US" sz="950" dirty="0"/>
          </a:p>
        </p:txBody>
      </p:sp>
      <p:sp>
        <p:nvSpPr>
          <p:cNvPr id="9" name="Text 7"/>
          <p:cNvSpPr/>
          <p:nvPr/>
        </p:nvSpPr>
        <p:spPr>
          <a:xfrm>
            <a:off x="804672" y="4937760"/>
            <a:ext cx="6437376" cy="868680"/>
          </a:xfrm>
          <a:prstGeom prst="rect">
            <a:avLst/>
          </a:prstGeom>
          <a:noFill/>
          <a:ln/>
        </p:spPr>
        <p:txBody>
          <a:bodyPr wrap="square" lIns="0" tIns="0" rIns="0" bIns="0" rtlCol="0" anchor="t"/>
          <a:lstStyle/>
          <a:p>
            <a:pPr indent="0" marL="0">
              <a:lnSpc>
                <a:spcPct val="105000"/>
              </a:lnSpc>
              <a:buNone/>
            </a:pPr>
            <a:r>
              <a:rPr lang="en-US" sz="1350" dirty="0">
                <a:solidFill>
                  <a:srgbClr val="9DB2CE"/>
                </a:solidFill>
                <a:latin typeface="Calibri" pitchFamily="34" charset="0"/>
                <a:ea typeface="Calibri" pitchFamily="34" charset="-122"/>
                <a:cs typeface="Calibri" pitchFamily="34" charset="-120"/>
              </a:rPr>
              <a:t>Develop an objective-focused agent that reduces unnecessary stops, idling and waiting — thereby reducing fuel consumption and vehicular emissions — while identifying traffic violations.</a:t>
            </a:r>
            <a:endParaRPr lang="en-US" sz="1350" dirty="0"/>
          </a:p>
        </p:txBody>
      </p:sp>
      <p:sp>
        <p:nvSpPr>
          <p:cNvPr id="10" name="Shape 8"/>
          <p:cNvSpPr/>
          <p:nvPr/>
        </p:nvSpPr>
        <p:spPr>
          <a:xfrm>
            <a:off x="8887968" y="2331720"/>
            <a:ext cx="2240280" cy="2240280"/>
          </a:xfrm>
          <a:prstGeom prst="ellipse">
            <a:avLst/>
          </a:prstGeom>
          <a:solidFill>
            <a:srgbClr val="10331F"/>
          </a:solidFill>
          <a:ln w="15875">
            <a:solidFill>
              <a:srgbClr val="2FD68C"/>
            </a:solidFill>
            <a:prstDash val="solid"/>
          </a:ln>
        </p:spPr>
      </p:sp>
      <p:pic>
        <p:nvPicPr>
          <p:cNvPr id="11" name="Image 0" descr="preencoded.png">    </p:cNvPr>
          <p:cNvPicPr>
            <a:picLocks noChangeAspect="1"/>
          </p:cNvPicPr>
          <p:nvPr/>
        </p:nvPicPr>
        <p:blipFill>
          <a:blip r:embed="rId1"/>
          <a:stretch>
            <a:fillRect/>
          </a:stretch>
        </p:blipFill>
        <p:spPr>
          <a:xfrm>
            <a:off x="9436608" y="2880360"/>
            <a:ext cx="1143000" cy="1143000"/>
          </a:xfrm>
          <a:prstGeom prst="rect">
            <a:avLst/>
          </a:prstGeom>
        </p:spPr>
      </p:pic>
      <p:sp>
        <p:nvSpPr>
          <p:cNvPr id="12" name="Text 9"/>
          <p:cNvSpPr/>
          <p:nvPr/>
        </p:nvSpPr>
        <p:spPr>
          <a:xfrm>
            <a:off x="8183880" y="4892040"/>
            <a:ext cx="3657600" cy="365760"/>
          </a:xfrm>
          <a:prstGeom prst="rect">
            <a:avLst/>
          </a:prstGeom>
          <a:noFill/>
          <a:ln/>
        </p:spPr>
        <p:txBody>
          <a:bodyPr wrap="square" lIns="0" tIns="0" rIns="0" bIns="0" rtlCol="0" anchor="ctr"/>
          <a:lstStyle/>
          <a:p>
            <a:pPr algn="ctr" indent="0" marL="0">
              <a:buNone/>
            </a:pPr>
            <a:r>
              <a:rPr lang="en-US" sz="1200" b="1" spc="100" kern="0" dirty="0">
                <a:solidFill>
                  <a:srgbClr val="2FD68C"/>
                </a:solidFill>
                <a:latin typeface="Arial" pitchFamily="34" charset="0"/>
                <a:ea typeface="Arial" pitchFamily="34" charset="-122"/>
                <a:cs typeface="Arial" pitchFamily="34" charset="-120"/>
              </a:rPr>
              <a:t>EFFICIENCY &amp; SAFETY</a:t>
            </a:r>
            <a:endParaRPr lang="en-US" sz="1200" dirty="0"/>
          </a:p>
        </p:txBody>
      </p:sp>
      <p:sp>
        <p:nvSpPr>
          <p:cNvPr id="14" name="Text 10"/>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Shaun Joseph Sabu</a:t>
            </a:r>
            <a:endParaRPr lang="en-US" sz="950" dirty="0"/>
          </a:p>
        </p:txBody>
      </p:sp>
      <p:sp>
        <p:nvSpPr>
          <p:cNvPr id="15" name="Text 11"/>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FD68C"/>
                </a:solidFill>
                <a:latin typeface="Calibri" pitchFamily="34" charset="0"/>
                <a:ea typeface="Calibri" pitchFamily="34" charset="-122"/>
                <a:cs typeface="Calibri" pitchFamily="34" charset="-120"/>
              </a:rPr>
              <a:t>09 / 22</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FD68C"/>
                </a:solidFill>
                <a:latin typeface="Arial" pitchFamily="34" charset="0"/>
                <a:ea typeface="Arial" pitchFamily="34" charset="-122"/>
                <a:cs typeface="Arial" pitchFamily="34" charset="-120"/>
              </a:rPr>
              <a:t>FUEL &amp; EMISSIONS  ·  THE PROBLEM</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Stop-and-Go Traffic Burns Fuel</a:t>
            </a:r>
            <a:endParaRPr lang="en-US" sz="2800" dirty="0"/>
          </a:p>
        </p:txBody>
      </p:sp>
      <p:sp>
        <p:nvSpPr>
          <p:cNvPr id="4" name="Shape 2"/>
          <p:cNvSpPr/>
          <p:nvPr/>
        </p:nvSpPr>
        <p:spPr>
          <a:xfrm>
            <a:off x="548640" y="1207008"/>
            <a:ext cx="3557016" cy="914400"/>
          </a:xfrm>
          <a:prstGeom prst="roundRect">
            <a:avLst>
              <a:gd name="adj" fmla="val 10000"/>
            </a:avLst>
          </a:prstGeom>
          <a:solidFill>
            <a:srgbClr val="15223C"/>
          </a:solidFill>
          <a:ln w="12700">
            <a:solidFill>
              <a:srgbClr val="2B3E60"/>
            </a:solidFill>
            <a:prstDash val="solid"/>
          </a:ln>
        </p:spPr>
      </p:sp>
      <p:sp>
        <p:nvSpPr>
          <p:cNvPr id="5" name="Shape 3"/>
          <p:cNvSpPr/>
          <p:nvPr/>
        </p:nvSpPr>
        <p:spPr>
          <a:xfrm>
            <a:off x="804672" y="1417320"/>
            <a:ext cx="493776" cy="493776"/>
          </a:xfrm>
          <a:prstGeom prst="ellipse">
            <a:avLst/>
          </a:prstGeom>
          <a:solidFill>
            <a:srgbClr val="10331F"/>
          </a:solidFill>
          <a:ln w="12700">
            <a:solidFill>
              <a:srgbClr val="2FD68C"/>
            </a:solidFill>
            <a:prstDash val="solid"/>
          </a:ln>
        </p:spPr>
      </p:sp>
      <p:pic>
        <p:nvPicPr>
          <p:cNvPr id="6" name="Image 0" descr="preencoded.png">    </p:cNvPr>
          <p:cNvPicPr>
            <a:picLocks noChangeAspect="1"/>
          </p:cNvPicPr>
          <p:nvPr/>
        </p:nvPicPr>
        <p:blipFill>
          <a:blip r:embed="rId1"/>
          <a:stretch>
            <a:fillRect/>
          </a:stretch>
        </p:blipFill>
        <p:spPr>
          <a:xfrm>
            <a:off x="937992" y="1550640"/>
            <a:ext cx="227137" cy="227137"/>
          </a:xfrm>
          <a:prstGeom prst="rect">
            <a:avLst/>
          </a:prstGeom>
        </p:spPr>
      </p:pic>
      <p:sp>
        <p:nvSpPr>
          <p:cNvPr id="7" name="Text 4"/>
          <p:cNvSpPr/>
          <p:nvPr/>
        </p:nvSpPr>
        <p:spPr>
          <a:xfrm>
            <a:off x="1463040" y="1207008"/>
            <a:ext cx="2468880" cy="9144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Repeated Stopping</a:t>
            </a:r>
            <a:endParaRPr lang="en-US" sz="1400" dirty="0"/>
          </a:p>
        </p:txBody>
      </p:sp>
      <p:sp>
        <p:nvSpPr>
          <p:cNvPr id="8" name="Shape 5"/>
          <p:cNvSpPr/>
          <p:nvPr/>
        </p:nvSpPr>
        <p:spPr>
          <a:xfrm rot="5400000">
            <a:off x="4169664" y="1554480"/>
            <a:ext cx="182880" cy="219456"/>
          </a:xfrm>
          <a:prstGeom prst="triangle">
            <a:avLst/>
          </a:prstGeom>
          <a:solidFill>
            <a:srgbClr val="2FD68C"/>
          </a:solidFill>
          <a:ln w="12700">
            <a:solidFill>
              <a:srgbClr val="2FD68C"/>
            </a:solidFill>
            <a:prstDash val="solid"/>
          </a:ln>
        </p:spPr>
      </p:sp>
      <p:sp>
        <p:nvSpPr>
          <p:cNvPr id="9" name="Shape 6"/>
          <p:cNvSpPr/>
          <p:nvPr/>
        </p:nvSpPr>
        <p:spPr>
          <a:xfrm>
            <a:off x="4334256" y="1207008"/>
            <a:ext cx="3557016" cy="914400"/>
          </a:xfrm>
          <a:prstGeom prst="roundRect">
            <a:avLst>
              <a:gd name="adj" fmla="val 10000"/>
            </a:avLst>
          </a:prstGeom>
          <a:solidFill>
            <a:srgbClr val="15223C"/>
          </a:solidFill>
          <a:ln w="12700">
            <a:solidFill>
              <a:srgbClr val="2B3E60"/>
            </a:solidFill>
            <a:prstDash val="solid"/>
          </a:ln>
        </p:spPr>
      </p:sp>
      <p:sp>
        <p:nvSpPr>
          <p:cNvPr id="10" name="Shape 7"/>
          <p:cNvSpPr/>
          <p:nvPr/>
        </p:nvSpPr>
        <p:spPr>
          <a:xfrm>
            <a:off x="4590288" y="1417320"/>
            <a:ext cx="493776" cy="493776"/>
          </a:xfrm>
          <a:prstGeom prst="ellipse">
            <a:avLst/>
          </a:prstGeom>
          <a:solidFill>
            <a:srgbClr val="10331F"/>
          </a:solidFill>
          <a:ln w="12700">
            <a:solidFill>
              <a:srgbClr val="2FD68C"/>
            </a:solidFill>
            <a:prstDash val="solid"/>
          </a:ln>
        </p:spPr>
      </p:sp>
      <p:pic>
        <p:nvPicPr>
          <p:cNvPr id="11" name="Image 1" descr="preencoded.png">    </p:cNvPr>
          <p:cNvPicPr>
            <a:picLocks noChangeAspect="1"/>
          </p:cNvPicPr>
          <p:nvPr/>
        </p:nvPicPr>
        <p:blipFill>
          <a:blip r:embed="rId2"/>
          <a:stretch>
            <a:fillRect/>
          </a:stretch>
        </p:blipFill>
        <p:spPr>
          <a:xfrm>
            <a:off x="4723608" y="1550640"/>
            <a:ext cx="227137" cy="227137"/>
          </a:xfrm>
          <a:prstGeom prst="rect">
            <a:avLst/>
          </a:prstGeom>
        </p:spPr>
      </p:pic>
      <p:sp>
        <p:nvSpPr>
          <p:cNvPr id="12" name="Text 8"/>
          <p:cNvSpPr/>
          <p:nvPr/>
        </p:nvSpPr>
        <p:spPr>
          <a:xfrm>
            <a:off x="5248656" y="1207008"/>
            <a:ext cx="2468880" cy="9144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Idling in Queue</a:t>
            </a:r>
            <a:endParaRPr lang="en-US" sz="1400" dirty="0"/>
          </a:p>
        </p:txBody>
      </p:sp>
      <p:sp>
        <p:nvSpPr>
          <p:cNvPr id="13" name="Shape 9"/>
          <p:cNvSpPr/>
          <p:nvPr/>
        </p:nvSpPr>
        <p:spPr>
          <a:xfrm rot="5400000">
            <a:off x="7955280" y="1554480"/>
            <a:ext cx="182880" cy="219456"/>
          </a:xfrm>
          <a:prstGeom prst="triangle">
            <a:avLst/>
          </a:prstGeom>
          <a:solidFill>
            <a:srgbClr val="2FD68C"/>
          </a:solidFill>
          <a:ln w="12700">
            <a:solidFill>
              <a:srgbClr val="2FD68C"/>
            </a:solidFill>
            <a:prstDash val="solid"/>
          </a:ln>
        </p:spPr>
      </p:sp>
      <p:sp>
        <p:nvSpPr>
          <p:cNvPr id="14" name="Shape 10"/>
          <p:cNvSpPr/>
          <p:nvPr/>
        </p:nvSpPr>
        <p:spPr>
          <a:xfrm>
            <a:off x="8119872" y="1207008"/>
            <a:ext cx="3557016" cy="914400"/>
          </a:xfrm>
          <a:prstGeom prst="roundRect">
            <a:avLst>
              <a:gd name="adj" fmla="val 10000"/>
            </a:avLst>
          </a:prstGeom>
          <a:solidFill>
            <a:srgbClr val="15223C"/>
          </a:solidFill>
          <a:ln w="12700">
            <a:solidFill>
              <a:srgbClr val="2B3E60"/>
            </a:solidFill>
            <a:prstDash val="solid"/>
          </a:ln>
        </p:spPr>
      </p:sp>
      <p:sp>
        <p:nvSpPr>
          <p:cNvPr id="15" name="Shape 11"/>
          <p:cNvSpPr/>
          <p:nvPr/>
        </p:nvSpPr>
        <p:spPr>
          <a:xfrm>
            <a:off x="8375904" y="1417320"/>
            <a:ext cx="493776" cy="493776"/>
          </a:xfrm>
          <a:prstGeom prst="ellipse">
            <a:avLst/>
          </a:prstGeom>
          <a:solidFill>
            <a:srgbClr val="10331F"/>
          </a:solidFill>
          <a:ln w="12700">
            <a:solidFill>
              <a:srgbClr val="2FD68C"/>
            </a:solidFill>
            <a:prstDash val="solid"/>
          </a:ln>
        </p:spPr>
      </p:sp>
      <p:pic>
        <p:nvPicPr>
          <p:cNvPr id="16" name="Image 2" descr="preencoded.png">    </p:cNvPr>
          <p:cNvPicPr>
            <a:picLocks noChangeAspect="1"/>
          </p:cNvPicPr>
          <p:nvPr/>
        </p:nvPicPr>
        <p:blipFill>
          <a:blip r:embed="rId3"/>
          <a:stretch>
            <a:fillRect/>
          </a:stretch>
        </p:blipFill>
        <p:spPr>
          <a:xfrm>
            <a:off x="8509224" y="1550640"/>
            <a:ext cx="227137" cy="227137"/>
          </a:xfrm>
          <a:prstGeom prst="rect">
            <a:avLst/>
          </a:prstGeom>
        </p:spPr>
      </p:pic>
      <p:sp>
        <p:nvSpPr>
          <p:cNvPr id="17" name="Text 12"/>
          <p:cNvSpPr/>
          <p:nvPr/>
        </p:nvSpPr>
        <p:spPr>
          <a:xfrm>
            <a:off x="9034272" y="1207008"/>
            <a:ext cx="2468880" cy="9144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Unnecessary Acceleration</a:t>
            </a:r>
            <a:endParaRPr lang="en-US" sz="1400" dirty="0"/>
          </a:p>
        </p:txBody>
      </p:sp>
      <p:sp>
        <p:nvSpPr>
          <p:cNvPr id="18" name="Shape 13"/>
          <p:cNvSpPr/>
          <p:nvPr/>
        </p:nvSpPr>
        <p:spPr>
          <a:xfrm>
            <a:off x="548640" y="2432304"/>
            <a:ext cx="2606040" cy="1371600"/>
          </a:xfrm>
          <a:prstGeom prst="roundRect">
            <a:avLst>
              <a:gd name="adj" fmla="val 6667"/>
            </a:avLst>
          </a:prstGeom>
          <a:solidFill>
            <a:srgbClr val="1B2B49"/>
          </a:solidFill>
          <a:ln w="12700">
            <a:solidFill>
              <a:srgbClr val="2B3E60"/>
            </a:solidFill>
            <a:prstDash val="solid"/>
          </a:ln>
        </p:spPr>
      </p:sp>
      <p:sp>
        <p:nvSpPr>
          <p:cNvPr id="19" name="Shape 14"/>
          <p:cNvSpPr/>
          <p:nvPr/>
        </p:nvSpPr>
        <p:spPr>
          <a:xfrm>
            <a:off x="1609344" y="2642616"/>
            <a:ext cx="493776" cy="493776"/>
          </a:xfrm>
          <a:prstGeom prst="ellipse">
            <a:avLst/>
          </a:prstGeom>
          <a:solidFill>
            <a:srgbClr val="10331F"/>
          </a:solidFill>
          <a:ln w="12700">
            <a:solidFill>
              <a:srgbClr val="2FD68C"/>
            </a:solidFill>
            <a:prstDash val="solid"/>
          </a:ln>
        </p:spPr>
      </p:sp>
      <p:pic>
        <p:nvPicPr>
          <p:cNvPr id="20" name="Image 3" descr="preencoded.png">    </p:cNvPr>
          <p:cNvPicPr>
            <a:picLocks noChangeAspect="1"/>
          </p:cNvPicPr>
          <p:nvPr/>
        </p:nvPicPr>
        <p:blipFill>
          <a:blip r:embed="rId4"/>
          <a:stretch>
            <a:fillRect/>
          </a:stretch>
        </p:blipFill>
        <p:spPr>
          <a:xfrm>
            <a:off x="1742664" y="2775936"/>
            <a:ext cx="227137" cy="227137"/>
          </a:xfrm>
          <a:prstGeom prst="rect">
            <a:avLst/>
          </a:prstGeom>
        </p:spPr>
      </p:pic>
      <p:sp>
        <p:nvSpPr>
          <p:cNvPr id="21" name="Text 15"/>
          <p:cNvSpPr/>
          <p:nvPr/>
        </p:nvSpPr>
        <p:spPr>
          <a:xfrm>
            <a:off x="694944" y="3218688"/>
            <a:ext cx="2313432" cy="457200"/>
          </a:xfrm>
          <a:prstGeom prst="rect">
            <a:avLst/>
          </a:prstGeom>
          <a:noFill/>
          <a:ln/>
        </p:spPr>
        <p:txBody>
          <a:bodyPr wrap="square" lIns="0" tIns="0" rIns="0" bIns="0" rtlCol="0" anchor="ctr"/>
          <a:lstStyle/>
          <a:p>
            <a:pPr algn="ctr" indent="0" marL="0">
              <a:lnSpc>
                <a:spcPct val="98000"/>
              </a:lnSpc>
              <a:buNone/>
            </a:pPr>
            <a:r>
              <a:rPr lang="en-US" sz="1250" dirty="0">
                <a:solidFill>
                  <a:srgbClr val="FFFFFF"/>
                </a:solidFill>
                <a:latin typeface="Calibri" pitchFamily="34" charset="0"/>
                <a:ea typeface="Calibri" pitchFamily="34" charset="-122"/>
                <a:cs typeface="Calibri" pitchFamily="34" charset="-120"/>
              </a:rPr>
              <a:t>Higher fuel consumption</a:t>
            </a:r>
            <a:endParaRPr lang="en-US" sz="1250" dirty="0"/>
          </a:p>
        </p:txBody>
      </p:sp>
      <p:sp>
        <p:nvSpPr>
          <p:cNvPr id="22" name="Shape 16"/>
          <p:cNvSpPr/>
          <p:nvPr/>
        </p:nvSpPr>
        <p:spPr>
          <a:xfrm>
            <a:off x="3383280" y="2432304"/>
            <a:ext cx="2606040" cy="1371600"/>
          </a:xfrm>
          <a:prstGeom prst="roundRect">
            <a:avLst>
              <a:gd name="adj" fmla="val 6667"/>
            </a:avLst>
          </a:prstGeom>
          <a:solidFill>
            <a:srgbClr val="1B2B49"/>
          </a:solidFill>
          <a:ln w="12700">
            <a:solidFill>
              <a:srgbClr val="2B3E60"/>
            </a:solidFill>
            <a:prstDash val="solid"/>
          </a:ln>
        </p:spPr>
      </p:sp>
      <p:sp>
        <p:nvSpPr>
          <p:cNvPr id="23" name="Shape 17"/>
          <p:cNvSpPr/>
          <p:nvPr/>
        </p:nvSpPr>
        <p:spPr>
          <a:xfrm>
            <a:off x="4443984" y="2642616"/>
            <a:ext cx="493776" cy="493776"/>
          </a:xfrm>
          <a:prstGeom prst="ellipse">
            <a:avLst/>
          </a:prstGeom>
          <a:solidFill>
            <a:srgbClr val="10331F"/>
          </a:solidFill>
          <a:ln w="12700">
            <a:solidFill>
              <a:srgbClr val="2FD68C"/>
            </a:solidFill>
            <a:prstDash val="solid"/>
          </a:ln>
        </p:spPr>
      </p:sp>
      <p:pic>
        <p:nvPicPr>
          <p:cNvPr id="24" name="Image 4" descr="preencoded.png">    </p:cNvPr>
          <p:cNvPicPr>
            <a:picLocks noChangeAspect="1"/>
          </p:cNvPicPr>
          <p:nvPr/>
        </p:nvPicPr>
        <p:blipFill>
          <a:blip r:embed="rId5"/>
          <a:stretch>
            <a:fillRect/>
          </a:stretch>
        </p:blipFill>
        <p:spPr>
          <a:xfrm>
            <a:off x="4577304" y="2775936"/>
            <a:ext cx="227137" cy="227137"/>
          </a:xfrm>
          <a:prstGeom prst="rect">
            <a:avLst/>
          </a:prstGeom>
        </p:spPr>
      </p:pic>
      <p:sp>
        <p:nvSpPr>
          <p:cNvPr id="25" name="Text 18"/>
          <p:cNvSpPr/>
          <p:nvPr/>
        </p:nvSpPr>
        <p:spPr>
          <a:xfrm>
            <a:off x="3529584" y="3218688"/>
            <a:ext cx="2313432" cy="457200"/>
          </a:xfrm>
          <a:prstGeom prst="rect">
            <a:avLst/>
          </a:prstGeom>
          <a:noFill/>
          <a:ln/>
        </p:spPr>
        <p:txBody>
          <a:bodyPr wrap="square" lIns="0" tIns="0" rIns="0" bIns="0" rtlCol="0" anchor="ctr"/>
          <a:lstStyle/>
          <a:p>
            <a:pPr algn="ctr" indent="0" marL="0">
              <a:lnSpc>
                <a:spcPct val="98000"/>
              </a:lnSpc>
              <a:buNone/>
            </a:pPr>
            <a:r>
              <a:rPr lang="en-US" sz="1250" dirty="0">
                <a:solidFill>
                  <a:srgbClr val="FFFFFF"/>
                </a:solidFill>
                <a:latin typeface="Calibri" pitchFamily="34" charset="0"/>
                <a:ea typeface="Calibri" pitchFamily="34" charset="-122"/>
                <a:cs typeface="Calibri" pitchFamily="34" charset="-120"/>
              </a:rPr>
              <a:t>Higher vehicular emissions</a:t>
            </a:r>
            <a:endParaRPr lang="en-US" sz="1250" dirty="0"/>
          </a:p>
        </p:txBody>
      </p:sp>
      <p:sp>
        <p:nvSpPr>
          <p:cNvPr id="26" name="Shape 19"/>
          <p:cNvSpPr/>
          <p:nvPr/>
        </p:nvSpPr>
        <p:spPr>
          <a:xfrm>
            <a:off x="6217920" y="2432304"/>
            <a:ext cx="2606040" cy="1371600"/>
          </a:xfrm>
          <a:prstGeom prst="roundRect">
            <a:avLst>
              <a:gd name="adj" fmla="val 6667"/>
            </a:avLst>
          </a:prstGeom>
          <a:solidFill>
            <a:srgbClr val="1B2B49"/>
          </a:solidFill>
          <a:ln w="12700">
            <a:solidFill>
              <a:srgbClr val="2B3E60"/>
            </a:solidFill>
            <a:prstDash val="solid"/>
          </a:ln>
        </p:spPr>
      </p:sp>
      <p:sp>
        <p:nvSpPr>
          <p:cNvPr id="27" name="Shape 20"/>
          <p:cNvSpPr/>
          <p:nvPr/>
        </p:nvSpPr>
        <p:spPr>
          <a:xfrm>
            <a:off x="7278624" y="2642616"/>
            <a:ext cx="493776" cy="493776"/>
          </a:xfrm>
          <a:prstGeom prst="ellipse">
            <a:avLst/>
          </a:prstGeom>
          <a:solidFill>
            <a:srgbClr val="10331F"/>
          </a:solidFill>
          <a:ln w="12700">
            <a:solidFill>
              <a:srgbClr val="2FD68C"/>
            </a:solidFill>
            <a:prstDash val="solid"/>
          </a:ln>
        </p:spPr>
      </p:sp>
      <p:pic>
        <p:nvPicPr>
          <p:cNvPr id="28" name="Image 5" descr="preencoded.png">    </p:cNvPr>
          <p:cNvPicPr>
            <a:picLocks noChangeAspect="1"/>
          </p:cNvPicPr>
          <p:nvPr/>
        </p:nvPicPr>
        <p:blipFill>
          <a:blip r:embed="rId6"/>
          <a:stretch>
            <a:fillRect/>
          </a:stretch>
        </p:blipFill>
        <p:spPr>
          <a:xfrm>
            <a:off x="7411944" y="2775936"/>
            <a:ext cx="227137" cy="227137"/>
          </a:xfrm>
          <a:prstGeom prst="rect">
            <a:avLst/>
          </a:prstGeom>
        </p:spPr>
      </p:pic>
      <p:sp>
        <p:nvSpPr>
          <p:cNvPr id="29" name="Text 21"/>
          <p:cNvSpPr/>
          <p:nvPr/>
        </p:nvSpPr>
        <p:spPr>
          <a:xfrm>
            <a:off x="6364224" y="3218688"/>
            <a:ext cx="2313432" cy="457200"/>
          </a:xfrm>
          <a:prstGeom prst="rect">
            <a:avLst/>
          </a:prstGeom>
          <a:noFill/>
          <a:ln/>
        </p:spPr>
        <p:txBody>
          <a:bodyPr wrap="square" lIns="0" tIns="0" rIns="0" bIns="0" rtlCol="0" anchor="ctr"/>
          <a:lstStyle/>
          <a:p>
            <a:pPr algn="ctr" indent="0" marL="0">
              <a:lnSpc>
                <a:spcPct val="98000"/>
              </a:lnSpc>
              <a:buNone/>
            </a:pPr>
            <a:r>
              <a:rPr lang="en-US" sz="1250" dirty="0">
                <a:solidFill>
                  <a:srgbClr val="FFFFFF"/>
                </a:solidFill>
                <a:latin typeface="Calibri" pitchFamily="34" charset="0"/>
                <a:ea typeface="Calibri" pitchFamily="34" charset="-122"/>
                <a:cs typeface="Calibri" pitchFamily="34" charset="-120"/>
              </a:rPr>
              <a:t>Longer waiting time</a:t>
            </a:r>
            <a:endParaRPr lang="en-US" sz="1250" dirty="0"/>
          </a:p>
        </p:txBody>
      </p:sp>
      <p:sp>
        <p:nvSpPr>
          <p:cNvPr id="30" name="Shape 22"/>
          <p:cNvSpPr/>
          <p:nvPr/>
        </p:nvSpPr>
        <p:spPr>
          <a:xfrm>
            <a:off x="9052560" y="2432304"/>
            <a:ext cx="2606040" cy="1371600"/>
          </a:xfrm>
          <a:prstGeom prst="roundRect">
            <a:avLst>
              <a:gd name="adj" fmla="val 6667"/>
            </a:avLst>
          </a:prstGeom>
          <a:solidFill>
            <a:srgbClr val="1B2B49"/>
          </a:solidFill>
          <a:ln w="12700">
            <a:solidFill>
              <a:srgbClr val="2B3E60"/>
            </a:solidFill>
            <a:prstDash val="solid"/>
          </a:ln>
        </p:spPr>
      </p:sp>
      <p:sp>
        <p:nvSpPr>
          <p:cNvPr id="31" name="Shape 23"/>
          <p:cNvSpPr/>
          <p:nvPr/>
        </p:nvSpPr>
        <p:spPr>
          <a:xfrm>
            <a:off x="10113264" y="2642616"/>
            <a:ext cx="493776" cy="493776"/>
          </a:xfrm>
          <a:prstGeom prst="ellipse">
            <a:avLst/>
          </a:prstGeom>
          <a:solidFill>
            <a:srgbClr val="10331F"/>
          </a:solidFill>
          <a:ln w="12700">
            <a:solidFill>
              <a:srgbClr val="2FD68C"/>
            </a:solidFill>
            <a:prstDash val="solid"/>
          </a:ln>
        </p:spPr>
      </p:sp>
      <p:pic>
        <p:nvPicPr>
          <p:cNvPr id="32" name="Image 6" descr="preencoded.png">    </p:cNvPr>
          <p:cNvPicPr>
            <a:picLocks noChangeAspect="1"/>
          </p:cNvPicPr>
          <p:nvPr/>
        </p:nvPicPr>
        <p:blipFill>
          <a:blip r:embed="rId7"/>
          <a:stretch>
            <a:fillRect/>
          </a:stretch>
        </p:blipFill>
        <p:spPr>
          <a:xfrm>
            <a:off x="10246584" y="2775936"/>
            <a:ext cx="227137" cy="227137"/>
          </a:xfrm>
          <a:prstGeom prst="rect">
            <a:avLst/>
          </a:prstGeom>
        </p:spPr>
      </p:pic>
      <p:sp>
        <p:nvSpPr>
          <p:cNvPr id="33" name="Text 24"/>
          <p:cNvSpPr/>
          <p:nvPr/>
        </p:nvSpPr>
        <p:spPr>
          <a:xfrm>
            <a:off x="9198864" y="3218688"/>
            <a:ext cx="2313432" cy="457200"/>
          </a:xfrm>
          <a:prstGeom prst="rect">
            <a:avLst/>
          </a:prstGeom>
          <a:noFill/>
          <a:ln/>
        </p:spPr>
        <p:txBody>
          <a:bodyPr wrap="square" lIns="0" tIns="0" rIns="0" bIns="0" rtlCol="0" anchor="ctr"/>
          <a:lstStyle/>
          <a:p>
            <a:pPr algn="ctr" indent="0" marL="0">
              <a:lnSpc>
                <a:spcPct val="98000"/>
              </a:lnSpc>
              <a:buNone/>
            </a:pPr>
            <a:r>
              <a:rPr lang="en-US" sz="1250" dirty="0">
                <a:solidFill>
                  <a:srgbClr val="FFFFFF"/>
                </a:solidFill>
                <a:latin typeface="Calibri" pitchFamily="34" charset="0"/>
                <a:ea typeface="Calibri" pitchFamily="34" charset="-122"/>
                <a:cs typeface="Calibri" pitchFamily="34" charset="-120"/>
              </a:rPr>
              <a:t>Inefficient traffic movement</a:t>
            </a:r>
            <a:endParaRPr lang="en-US" sz="1250" dirty="0"/>
          </a:p>
        </p:txBody>
      </p:sp>
      <p:sp>
        <p:nvSpPr>
          <p:cNvPr id="34" name="Text 25"/>
          <p:cNvSpPr/>
          <p:nvPr/>
        </p:nvSpPr>
        <p:spPr>
          <a:xfrm>
            <a:off x="548640" y="2212848"/>
            <a:ext cx="2743200" cy="182880"/>
          </a:xfrm>
          <a:prstGeom prst="rect">
            <a:avLst/>
          </a:prstGeom>
          <a:noFill/>
          <a:ln/>
        </p:spPr>
        <p:txBody>
          <a:bodyPr wrap="square" lIns="0" tIns="0" rIns="0" bIns="0" rtlCol="0" anchor="ctr"/>
          <a:lstStyle/>
          <a:p>
            <a:pPr indent="0" marL="0">
              <a:buNone/>
            </a:pPr>
            <a:r>
              <a:rPr lang="en-US" sz="900" b="1" spc="160" kern="0" dirty="0">
                <a:solidFill>
                  <a:srgbClr val="6E86A8"/>
                </a:solidFill>
                <a:latin typeface="Arial" pitchFamily="34" charset="0"/>
                <a:ea typeface="Arial" pitchFamily="34" charset="-122"/>
                <a:cs typeface="Arial" pitchFamily="34" charset="-120"/>
              </a:rPr>
              <a:t>CONSEQUENCE</a:t>
            </a:r>
            <a:endParaRPr lang="en-US" sz="900" dirty="0"/>
          </a:p>
        </p:txBody>
      </p:sp>
      <p:sp>
        <p:nvSpPr>
          <p:cNvPr id="35" name="Shape 26"/>
          <p:cNvSpPr/>
          <p:nvPr/>
        </p:nvSpPr>
        <p:spPr>
          <a:xfrm>
            <a:off x="548640" y="4041648"/>
            <a:ext cx="11091672" cy="1783080"/>
          </a:xfrm>
          <a:prstGeom prst="roundRect">
            <a:avLst>
              <a:gd name="adj" fmla="val 5128"/>
            </a:avLst>
          </a:prstGeom>
          <a:solidFill>
            <a:srgbClr val="10331F"/>
          </a:solidFill>
          <a:ln w="12700">
            <a:solidFill>
              <a:srgbClr val="2FD68C"/>
            </a:solidFill>
            <a:prstDash val="solid"/>
          </a:ln>
        </p:spPr>
      </p:sp>
      <p:sp>
        <p:nvSpPr>
          <p:cNvPr id="36" name="Shape 27"/>
          <p:cNvSpPr/>
          <p:nvPr/>
        </p:nvSpPr>
        <p:spPr>
          <a:xfrm>
            <a:off x="822960" y="4279392"/>
            <a:ext cx="493776" cy="493776"/>
          </a:xfrm>
          <a:prstGeom prst="ellipse">
            <a:avLst/>
          </a:prstGeom>
          <a:solidFill>
            <a:srgbClr val="0A1226"/>
          </a:solidFill>
          <a:ln w="12700">
            <a:solidFill>
              <a:srgbClr val="2FD68C"/>
            </a:solidFill>
            <a:prstDash val="solid"/>
          </a:ln>
        </p:spPr>
      </p:sp>
      <p:pic>
        <p:nvPicPr>
          <p:cNvPr id="37" name="Image 7" descr="preencoded.png">    </p:cNvPr>
          <p:cNvPicPr>
            <a:picLocks noChangeAspect="1"/>
          </p:cNvPicPr>
          <p:nvPr/>
        </p:nvPicPr>
        <p:blipFill>
          <a:blip r:embed="rId8"/>
          <a:stretch>
            <a:fillRect/>
          </a:stretch>
        </p:blipFill>
        <p:spPr>
          <a:xfrm>
            <a:off x="956280" y="4412712"/>
            <a:ext cx="227137" cy="227137"/>
          </a:xfrm>
          <a:prstGeom prst="rect">
            <a:avLst/>
          </a:prstGeom>
        </p:spPr>
      </p:pic>
      <p:sp>
        <p:nvSpPr>
          <p:cNvPr id="38" name="Text 28"/>
          <p:cNvSpPr/>
          <p:nvPr/>
        </p:nvSpPr>
        <p:spPr>
          <a:xfrm>
            <a:off x="1481328" y="4279392"/>
            <a:ext cx="9875520" cy="292608"/>
          </a:xfrm>
          <a:prstGeom prst="rect">
            <a:avLst/>
          </a:prstGeom>
          <a:noFill/>
          <a:ln/>
        </p:spPr>
        <p:txBody>
          <a:bodyPr wrap="square" lIns="0" tIns="0" rIns="0" bIns="0" rtlCol="0" anchor="ctr"/>
          <a:lstStyle/>
          <a:p>
            <a:pPr indent="0" marL="0">
              <a:buNone/>
            </a:pPr>
            <a:r>
              <a:rPr lang="en-US" sz="1500" b="1" dirty="0">
                <a:solidFill>
                  <a:srgbClr val="2FD68C"/>
                </a:solidFill>
                <a:latin typeface="Arial" pitchFamily="34" charset="0"/>
                <a:ea typeface="Arial" pitchFamily="34" charset="-122"/>
                <a:cs typeface="Arial" pitchFamily="34" charset="-120"/>
              </a:rPr>
              <a:t>How intelligent signal control changes this</a:t>
            </a:r>
            <a:endParaRPr lang="en-US" sz="1500" dirty="0"/>
          </a:p>
        </p:txBody>
      </p:sp>
      <p:sp>
        <p:nvSpPr>
          <p:cNvPr id="39" name="Text 29"/>
          <p:cNvSpPr/>
          <p:nvPr/>
        </p:nvSpPr>
        <p:spPr>
          <a:xfrm>
            <a:off x="1481328" y="4645152"/>
            <a:ext cx="9875520" cy="749808"/>
          </a:xfrm>
          <a:prstGeom prst="rect">
            <a:avLst/>
          </a:prstGeom>
          <a:noFill/>
          <a:ln/>
        </p:spPr>
        <p:txBody>
          <a:bodyPr wrap="square" lIns="0" tIns="0" rIns="0" bIns="0" rtlCol="0" anchor="t"/>
          <a:lstStyle/>
          <a:p>
            <a:pPr marL="342900" indent="-342900">
              <a:lnSpc>
                <a:spcPct val="1000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Fewer unnecessary stops — vehicles arriving on green do not decelerate to a halt</a:t>
            </a:r>
            <a:endParaRPr lang="en-US" sz="1250" dirty="0"/>
          </a:p>
          <a:p>
            <a:pPr marL="342900" indent="-342900">
              <a:lnSpc>
                <a:spcPct val="1000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Shorter idle periods — green time is released where vehicles are actually waiting</a:t>
            </a:r>
            <a:endParaRPr lang="en-US" sz="1250" dirty="0"/>
          </a:p>
          <a:p>
            <a:pPr marL="342900" indent="-342900">
              <a:lnSpc>
                <a:spcPct val="1000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Smoother progression — steadier average speed replaces repeated stop-start cycles</a:t>
            </a:r>
            <a:endParaRPr lang="en-US" sz="1250" dirty="0"/>
          </a:p>
        </p:txBody>
      </p:sp>
      <p:sp>
        <p:nvSpPr>
          <p:cNvPr id="40" name="Text 30"/>
          <p:cNvSpPr/>
          <p:nvPr/>
        </p:nvSpPr>
        <p:spPr>
          <a:xfrm>
            <a:off x="1481328" y="5431536"/>
            <a:ext cx="9875520" cy="292608"/>
          </a:xfrm>
          <a:prstGeom prst="rect">
            <a:avLst/>
          </a:prstGeom>
          <a:noFill/>
          <a:ln/>
        </p:spPr>
        <p:txBody>
          <a:bodyPr wrap="square" lIns="0" tIns="0" rIns="0" bIns="0" rtlCol="0" anchor="ctr"/>
          <a:lstStyle/>
          <a:p>
            <a:pPr indent="0" marL="0">
              <a:buNone/>
            </a:pPr>
            <a:r>
              <a:rPr lang="en-US" sz="1200" i="1" dirty="0">
                <a:solidFill>
                  <a:srgbClr val="2FD68C"/>
                </a:solidFill>
                <a:latin typeface="Calibri" pitchFamily="34" charset="0"/>
                <a:ea typeface="Calibri" pitchFamily="34" charset="-122"/>
                <a:cs typeface="Calibri" pitchFamily="34" charset="-120"/>
              </a:rPr>
              <a:t>→  lower estimated fuel consumption and lower estimated emissions</a:t>
            </a:r>
            <a:endParaRPr lang="en-US" sz="1200" dirty="0"/>
          </a:p>
        </p:txBody>
      </p:sp>
      <p:sp>
        <p:nvSpPr>
          <p:cNvPr id="42" name="Text 31"/>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Shaun Joseph Sabu</a:t>
            </a:r>
            <a:endParaRPr lang="en-US" sz="950" dirty="0"/>
          </a:p>
        </p:txBody>
      </p:sp>
      <p:sp>
        <p:nvSpPr>
          <p:cNvPr id="43" name="Text 32"/>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FD68C"/>
                </a:solidFill>
                <a:latin typeface="Calibri" pitchFamily="34" charset="0"/>
                <a:ea typeface="Calibri" pitchFamily="34" charset="-122"/>
                <a:cs typeface="Calibri" pitchFamily="34" charset="-120"/>
              </a:rPr>
              <a:t>10 / 22</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FD68C"/>
                </a:solidFill>
                <a:latin typeface="Arial" pitchFamily="34" charset="0"/>
                <a:ea typeface="Arial" pitchFamily="34" charset="-122"/>
                <a:cs typeface="Arial" pitchFamily="34" charset="-120"/>
              </a:rPr>
              <a:t>FUEL &amp; EMISSIONS  ·  RL FORMULATION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State, Action and Reward</a:t>
            </a:r>
            <a:endParaRPr lang="en-US" sz="2800" dirty="0"/>
          </a:p>
        </p:txBody>
      </p:sp>
      <p:sp>
        <p:nvSpPr>
          <p:cNvPr id="4" name="Shape 2"/>
          <p:cNvSpPr/>
          <p:nvPr/>
        </p:nvSpPr>
        <p:spPr>
          <a:xfrm>
            <a:off x="548640" y="1188720"/>
            <a:ext cx="3611880" cy="4160520"/>
          </a:xfrm>
          <a:prstGeom prst="roundRect">
            <a:avLst>
              <a:gd name="adj" fmla="val 2532"/>
            </a:avLst>
          </a:prstGeom>
          <a:solidFill>
            <a:srgbClr val="15223C"/>
          </a:solidFill>
          <a:ln w="12700">
            <a:solidFill>
              <a:srgbClr val="2B3E60"/>
            </a:solidFill>
            <a:prstDash val="solid"/>
          </a:ln>
        </p:spPr>
      </p:sp>
      <p:sp>
        <p:nvSpPr>
          <p:cNvPr id="5" name="Shape 3"/>
          <p:cNvSpPr/>
          <p:nvPr/>
        </p:nvSpPr>
        <p:spPr>
          <a:xfrm>
            <a:off x="786384" y="1426464"/>
            <a:ext cx="1051560" cy="274320"/>
          </a:xfrm>
          <a:prstGeom prst="roundRect">
            <a:avLst>
              <a:gd name="adj" fmla="val 20000"/>
            </a:avLst>
          </a:prstGeom>
          <a:solidFill>
            <a:srgbClr val="10331F"/>
          </a:solidFill>
          <a:ln w="12700">
            <a:solidFill>
              <a:srgbClr val="10331F"/>
            </a:solidFill>
            <a:prstDash val="solid"/>
          </a:ln>
        </p:spPr>
      </p:sp>
      <p:sp>
        <p:nvSpPr>
          <p:cNvPr id="6" name="Text 4"/>
          <p:cNvSpPr/>
          <p:nvPr/>
        </p:nvSpPr>
        <p:spPr>
          <a:xfrm>
            <a:off x="786384" y="1426464"/>
            <a:ext cx="1051560" cy="274320"/>
          </a:xfrm>
          <a:prstGeom prst="rect">
            <a:avLst/>
          </a:prstGeom>
          <a:noFill/>
          <a:ln/>
        </p:spPr>
        <p:txBody>
          <a:bodyPr wrap="square" lIns="0" tIns="0" rIns="0" bIns="0" rtlCol="0" anchor="ctr"/>
          <a:lstStyle/>
          <a:p>
            <a:pPr algn="ctr" indent="0" marL="0">
              <a:buNone/>
            </a:pPr>
            <a:r>
              <a:rPr lang="en-US" sz="950" b="1" spc="120" kern="0" dirty="0">
                <a:solidFill>
                  <a:srgbClr val="2FD68C"/>
                </a:solidFill>
                <a:latin typeface="Arial" pitchFamily="34" charset="0"/>
                <a:ea typeface="Arial" pitchFamily="34" charset="-122"/>
                <a:cs typeface="Arial" pitchFamily="34" charset="-120"/>
              </a:rPr>
              <a:t>STATE</a:t>
            </a:r>
            <a:endParaRPr lang="en-US" sz="950" dirty="0"/>
          </a:p>
        </p:txBody>
      </p:sp>
      <p:sp>
        <p:nvSpPr>
          <p:cNvPr id="7" name="Text 5"/>
          <p:cNvSpPr/>
          <p:nvPr/>
        </p:nvSpPr>
        <p:spPr>
          <a:xfrm>
            <a:off x="2002536" y="1426464"/>
            <a:ext cx="1920240" cy="274320"/>
          </a:xfrm>
          <a:prstGeom prst="rect">
            <a:avLst/>
          </a:prstGeom>
          <a:noFill/>
          <a:ln/>
        </p:spPr>
        <p:txBody>
          <a:bodyPr wrap="square" lIns="0" tIns="0" rIns="0" bIns="0" rtlCol="0" anchor="ctr"/>
          <a:lstStyle/>
          <a:p>
            <a:pPr indent="0" marL="0">
              <a:buNone/>
            </a:pPr>
            <a:r>
              <a:rPr lang="en-US" sz="1050" i="1" dirty="0">
                <a:solidFill>
                  <a:srgbClr val="6E86A8"/>
                </a:solidFill>
                <a:latin typeface="Calibri" pitchFamily="34" charset="0"/>
                <a:ea typeface="Calibri" pitchFamily="34" charset="-122"/>
                <a:cs typeface="Calibri" pitchFamily="34" charset="-120"/>
              </a:rPr>
              <a:t>what the agent sees</a:t>
            </a:r>
            <a:endParaRPr lang="en-US" sz="1050" dirty="0"/>
          </a:p>
        </p:txBody>
      </p:sp>
      <p:sp>
        <p:nvSpPr>
          <p:cNvPr id="8" name="Text 6"/>
          <p:cNvSpPr/>
          <p:nvPr/>
        </p:nvSpPr>
        <p:spPr>
          <a:xfrm>
            <a:off x="822960" y="1828800"/>
            <a:ext cx="3108960" cy="3310128"/>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Vehicle count</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Queue length</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Average waiting time</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Average speed</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Number of stops</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Current signal phase</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Estimated emission level</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Violation indicators</a:t>
            </a:r>
            <a:endParaRPr lang="en-US" sz="1250" dirty="0"/>
          </a:p>
        </p:txBody>
      </p:sp>
      <p:sp>
        <p:nvSpPr>
          <p:cNvPr id="9" name="Shape 7"/>
          <p:cNvSpPr/>
          <p:nvPr/>
        </p:nvSpPr>
        <p:spPr>
          <a:xfrm>
            <a:off x="4361688" y="1188720"/>
            <a:ext cx="3017520" cy="4160520"/>
          </a:xfrm>
          <a:prstGeom prst="roundRect">
            <a:avLst>
              <a:gd name="adj" fmla="val 3030"/>
            </a:avLst>
          </a:prstGeom>
          <a:solidFill>
            <a:srgbClr val="15223C"/>
          </a:solidFill>
          <a:ln w="12700">
            <a:solidFill>
              <a:srgbClr val="2B3E60"/>
            </a:solidFill>
            <a:prstDash val="solid"/>
          </a:ln>
        </p:spPr>
      </p:sp>
      <p:sp>
        <p:nvSpPr>
          <p:cNvPr id="10" name="Shape 8"/>
          <p:cNvSpPr/>
          <p:nvPr/>
        </p:nvSpPr>
        <p:spPr>
          <a:xfrm>
            <a:off x="4599432" y="1426464"/>
            <a:ext cx="1234440" cy="274320"/>
          </a:xfrm>
          <a:prstGeom prst="roundRect">
            <a:avLst>
              <a:gd name="adj" fmla="val 20000"/>
            </a:avLst>
          </a:prstGeom>
          <a:solidFill>
            <a:srgbClr val="10331F"/>
          </a:solidFill>
          <a:ln w="12700">
            <a:solidFill>
              <a:srgbClr val="10331F"/>
            </a:solidFill>
            <a:prstDash val="solid"/>
          </a:ln>
        </p:spPr>
      </p:sp>
      <p:sp>
        <p:nvSpPr>
          <p:cNvPr id="11" name="Text 9"/>
          <p:cNvSpPr/>
          <p:nvPr/>
        </p:nvSpPr>
        <p:spPr>
          <a:xfrm>
            <a:off x="4599432" y="1426464"/>
            <a:ext cx="1234440" cy="274320"/>
          </a:xfrm>
          <a:prstGeom prst="rect">
            <a:avLst/>
          </a:prstGeom>
          <a:noFill/>
          <a:ln/>
        </p:spPr>
        <p:txBody>
          <a:bodyPr wrap="square" lIns="0" tIns="0" rIns="0" bIns="0" rtlCol="0" anchor="ctr"/>
          <a:lstStyle/>
          <a:p>
            <a:pPr algn="ctr" indent="0" marL="0">
              <a:buNone/>
            </a:pPr>
            <a:r>
              <a:rPr lang="en-US" sz="950" b="1" spc="120" kern="0" dirty="0">
                <a:solidFill>
                  <a:srgbClr val="2FD68C"/>
                </a:solidFill>
                <a:latin typeface="Arial" pitchFamily="34" charset="0"/>
                <a:ea typeface="Arial" pitchFamily="34" charset="-122"/>
                <a:cs typeface="Arial" pitchFamily="34" charset="-120"/>
              </a:rPr>
              <a:t>ACTIONS</a:t>
            </a:r>
            <a:endParaRPr lang="en-US" sz="950" dirty="0"/>
          </a:p>
        </p:txBody>
      </p:sp>
      <p:sp>
        <p:nvSpPr>
          <p:cNvPr id="12" name="Text 10"/>
          <p:cNvSpPr/>
          <p:nvPr/>
        </p:nvSpPr>
        <p:spPr>
          <a:xfrm>
            <a:off x="5998464" y="1426464"/>
            <a:ext cx="1143000" cy="274320"/>
          </a:xfrm>
          <a:prstGeom prst="rect">
            <a:avLst/>
          </a:prstGeom>
          <a:noFill/>
          <a:ln/>
        </p:spPr>
        <p:txBody>
          <a:bodyPr wrap="square" lIns="0" tIns="0" rIns="0" bIns="0" rtlCol="0" anchor="ctr"/>
          <a:lstStyle/>
          <a:p>
            <a:pPr indent="0" marL="0">
              <a:buNone/>
            </a:pPr>
            <a:r>
              <a:rPr lang="en-US" sz="1050" i="1" dirty="0">
                <a:solidFill>
                  <a:srgbClr val="6E86A8"/>
                </a:solidFill>
                <a:latin typeface="Calibri" pitchFamily="34" charset="0"/>
                <a:ea typeface="Calibri" pitchFamily="34" charset="-122"/>
                <a:cs typeface="Calibri" pitchFamily="34" charset="-120"/>
              </a:rPr>
              <a:t>discrete</a:t>
            </a:r>
            <a:endParaRPr lang="en-US" sz="1050" dirty="0"/>
          </a:p>
        </p:txBody>
      </p:sp>
      <p:sp>
        <p:nvSpPr>
          <p:cNvPr id="13" name="Shape 11"/>
          <p:cNvSpPr/>
          <p:nvPr/>
        </p:nvSpPr>
        <p:spPr>
          <a:xfrm>
            <a:off x="4599432" y="1700784"/>
            <a:ext cx="2542032" cy="585216"/>
          </a:xfrm>
          <a:prstGeom prst="roundRect">
            <a:avLst>
              <a:gd name="adj" fmla="val 12500"/>
            </a:avLst>
          </a:prstGeom>
          <a:solidFill>
            <a:srgbClr val="1B2B49"/>
          </a:solidFill>
          <a:ln w="12700">
            <a:solidFill>
              <a:srgbClr val="2B3E60"/>
            </a:solidFill>
            <a:prstDash val="solid"/>
          </a:ln>
        </p:spPr>
      </p:sp>
      <p:sp>
        <p:nvSpPr>
          <p:cNvPr id="14" name="Text 12"/>
          <p:cNvSpPr/>
          <p:nvPr/>
        </p:nvSpPr>
        <p:spPr>
          <a:xfrm>
            <a:off x="4709160" y="1700784"/>
            <a:ext cx="274320" cy="585216"/>
          </a:xfrm>
          <a:prstGeom prst="rect">
            <a:avLst/>
          </a:prstGeom>
          <a:noFill/>
          <a:ln/>
        </p:spPr>
        <p:txBody>
          <a:bodyPr wrap="square" lIns="0" tIns="0" rIns="0" bIns="0" rtlCol="0" anchor="ctr"/>
          <a:lstStyle/>
          <a:p>
            <a:pPr indent="0" marL="0">
              <a:buNone/>
            </a:pPr>
            <a:r>
              <a:rPr lang="en-US" sz="1100" b="1" dirty="0">
                <a:solidFill>
                  <a:srgbClr val="2FD68C"/>
                </a:solidFill>
                <a:latin typeface="Courier New" pitchFamily="34" charset="0"/>
                <a:ea typeface="Courier New" pitchFamily="34" charset="-122"/>
                <a:cs typeface="Courier New" pitchFamily="34" charset="-120"/>
              </a:rPr>
              <a:t>1</a:t>
            </a:r>
            <a:endParaRPr lang="en-US" sz="1100" dirty="0"/>
          </a:p>
        </p:txBody>
      </p:sp>
      <p:sp>
        <p:nvSpPr>
          <p:cNvPr id="15" name="Text 13"/>
          <p:cNvSpPr/>
          <p:nvPr/>
        </p:nvSpPr>
        <p:spPr>
          <a:xfrm>
            <a:off x="5001768" y="1700784"/>
            <a:ext cx="2048256" cy="585216"/>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Keep green</a:t>
            </a:r>
            <a:endParaRPr lang="en-US" sz="1150" dirty="0"/>
          </a:p>
        </p:txBody>
      </p:sp>
      <p:sp>
        <p:nvSpPr>
          <p:cNvPr id="16" name="Shape 14"/>
          <p:cNvSpPr/>
          <p:nvPr/>
        </p:nvSpPr>
        <p:spPr>
          <a:xfrm>
            <a:off x="4599432" y="2414016"/>
            <a:ext cx="2542032" cy="585216"/>
          </a:xfrm>
          <a:prstGeom prst="roundRect">
            <a:avLst>
              <a:gd name="adj" fmla="val 12500"/>
            </a:avLst>
          </a:prstGeom>
          <a:solidFill>
            <a:srgbClr val="1B2B49"/>
          </a:solidFill>
          <a:ln w="12700">
            <a:solidFill>
              <a:srgbClr val="2B3E60"/>
            </a:solidFill>
            <a:prstDash val="solid"/>
          </a:ln>
        </p:spPr>
      </p:sp>
      <p:sp>
        <p:nvSpPr>
          <p:cNvPr id="17" name="Text 15"/>
          <p:cNvSpPr/>
          <p:nvPr/>
        </p:nvSpPr>
        <p:spPr>
          <a:xfrm>
            <a:off x="4709160" y="2414016"/>
            <a:ext cx="274320" cy="585216"/>
          </a:xfrm>
          <a:prstGeom prst="rect">
            <a:avLst/>
          </a:prstGeom>
          <a:noFill/>
          <a:ln/>
        </p:spPr>
        <p:txBody>
          <a:bodyPr wrap="square" lIns="0" tIns="0" rIns="0" bIns="0" rtlCol="0" anchor="ctr"/>
          <a:lstStyle/>
          <a:p>
            <a:pPr indent="0" marL="0">
              <a:buNone/>
            </a:pPr>
            <a:r>
              <a:rPr lang="en-US" sz="1100" b="1" dirty="0">
                <a:solidFill>
                  <a:srgbClr val="2FD68C"/>
                </a:solidFill>
                <a:latin typeface="Courier New" pitchFamily="34" charset="0"/>
                <a:ea typeface="Courier New" pitchFamily="34" charset="-122"/>
                <a:cs typeface="Courier New" pitchFamily="34" charset="-120"/>
              </a:rPr>
              <a:t>2</a:t>
            </a:r>
            <a:endParaRPr lang="en-US" sz="1100" dirty="0"/>
          </a:p>
        </p:txBody>
      </p:sp>
      <p:sp>
        <p:nvSpPr>
          <p:cNvPr id="18" name="Text 16"/>
          <p:cNvSpPr/>
          <p:nvPr/>
        </p:nvSpPr>
        <p:spPr>
          <a:xfrm>
            <a:off x="5001768" y="2414016"/>
            <a:ext cx="2048256" cy="585216"/>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Extend green</a:t>
            </a:r>
            <a:endParaRPr lang="en-US" sz="1150" dirty="0"/>
          </a:p>
        </p:txBody>
      </p:sp>
      <p:sp>
        <p:nvSpPr>
          <p:cNvPr id="19" name="Shape 17"/>
          <p:cNvSpPr/>
          <p:nvPr/>
        </p:nvSpPr>
        <p:spPr>
          <a:xfrm>
            <a:off x="4599432" y="3127248"/>
            <a:ext cx="2542032" cy="585216"/>
          </a:xfrm>
          <a:prstGeom prst="roundRect">
            <a:avLst>
              <a:gd name="adj" fmla="val 12500"/>
            </a:avLst>
          </a:prstGeom>
          <a:solidFill>
            <a:srgbClr val="1B2B49"/>
          </a:solidFill>
          <a:ln w="12700">
            <a:solidFill>
              <a:srgbClr val="2B3E60"/>
            </a:solidFill>
            <a:prstDash val="solid"/>
          </a:ln>
        </p:spPr>
      </p:sp>
      <p:sp>
        <p:nvSpPr>
          <p:cNvPr id="20" name="Text 18"/>
          <p:cNvSpPr/>
          <p:nvPr/>
        </p:nvSpPr>
        <p:spPr>
          <a:xfrm>
            <a:off x="4709160" y="3127248"/>
            <a:ext cx="274320" cy="585216"/>
          </a:xfrm>
          <a:prstGeom prst="rect">
            <a:avLst/>
          </a:prstGeom>
          <a:noFill/>
          <a:ln/>
        </p:spPr>
        <p:txBody>
          <a:bodyPr wrap="square" lIns="0" tIns="0" rIns="0" bIns="0" rtlCol="0" anchor="ctr"/>
          <a:lstStyle/>
          <a:p>
            <a:pPr indent="0" marL="0">
              <a:buNone/>
            </a:pPr>
            <a:r>
              <a:rPr lang="en-US" sz="1100" b="1" dirty="0">
                <a:solidFill>
                  <a:srgbClr val="2FD68C"/>
                </a:solidFill>
                <a:latin typeface="Courier New" pitchFamily="34" charset="0"/>
                <a:ea typeface="Courier New" pitchFamily="34" charset="-122"/>
                <a:cs typeface="Courier New" pitchFamily="34" charset="-120"/>
              </a:rPr>
              <a:t>3</a:t>
            </a:r>
            <a:endParaRPr lang="en-US" sz="1100" dirty="0"/>
          </a:p>
        </p:txBody>
      </p:sp>
      <p:sp>
        <p:nvSpPr>
          <p:cNvPr id="21" name="Text 19"/>
          <p:cNvSpPr/>
          <p:nvPr/>
        </p:nvSpPr>
        <p:spPr>
          <a:xfrm>
            <a:off x="5001768" y="3127248"/>
            <a:ext cx="2048256" cy="585216"/>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Switch phase</a:t>
            </a:r>
            <a:endParaRPr lang="en-US" sz="1150" dirty="0"/>
          </a:p>
        </p:txBody>
      </p:sp>
      <p:sp>
        <p:nvSpPr>
          <p:cNvPr id="22" name="Shape 20"/>
          <p:cNvSpPr/>
          <p:nvPr/>
        </p:nvSpPr>
        <p:spPr>
          <a:xfrm>
            <a:off x="4599432" y="3840480"/>
            <a:ext cx="2542032" cy="585216"/>
          </a:xfrm>
          <a:prstGeom prst="roundRect">
            <a:avLst>
              <a:gd name="adj" fmla="val 12500"/>
            </a:avLst>
          </a:prstGeom>
          <a:solidFill>
            <a:srgbClr val="1B2B49"/>
          </a:solidFill>
          <a:ln w="12700">
            <a:solidFill>
              <a:srgbClr val="2B3E60"/>
            </a:solidFill>
            <a:prstDash val="solid"/>
          </a:ln>
        </p:spPr>
      </p:sp>
      <p:sp>
        <p:nvSpPr>
          <p:cNvPr id="23" name="Text 21"/>
          <p:cNvSpPr/>
          <p:nvPr/>
        </p:nvSpPr>
        <p:spPr>
          <a:xfrm>
            <a:off x="4709160" y="3840480"/>
            <a:ext cx="274320" cy="585216"/>
          </a:xfrm>
          <a:prstGeom prst="rect">
            <a:avLst/>
          </a:prstGeom>
          <a:noFill/>
          <a:ln/>
        </p:spPr>
        <p:txBody>
          <a:bodyPr wrap="square" lIns="0" tIns="0" rIns="0" bIns="0" rtlCol="0" anchor="ctr"/>
          <a:lstStyle/>
          <a:p>
            <a:pPr indent="0" marL="0">
              <a:buNone/>
            </a:pPr>
            <a:r>
              <a:rPr lang="en-US" sz="1100" b="1" dirty="0">
                <a:solidFill>
                  <a:srgbClr val="2FD68C"/>
                </a:solidFill>
                <a:latin typeface="Courier New" pitchFamily="34" charset="0"/>
                <a:ea typeface="Courier New" pitchFamily="34" charset="-122"/>
                <a:cs typeface="Courier New" pitchFamily="34" charset="-120"/>
              </a:rPr>
              <a:t>4</a:t>
            </a:r>
            <a:endParaRPr lang="en-US" sz="1100" dirty="0"/>
          </a:p>
        </p:txBody>
      </p:sp>
      <p:sp>
        <p:nvSpPr>
          <p:cNvPr id="24" name="Text 22"/>
          <p:cNvSpPr/>
          <p:nvPr/>
        </p:nvSpPr>
        <p:spPr>
          <a:xfrm>
            <a:off x="5001768" y="3840480"/>
            <a:ext cx="2048256" cy="585216"/>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Reduce green</a:t>
            </a:r>
            <a:endParaRPr lang="en-US" sz="1150" dirty="0"/>
          </a:p>
        </p:txBody>
      </p:sp>
      <p:sp>
        <p:nvSpPr>
          <p:cNvPr id="25" name="Shape 23"/>
          <p:cNvSpPr/>
          <p:nvPr/>
        </p:nvSpPr>
        <p:spPr>
          <a:xfrm>
            <a:off x="4599432" y="4553712"/>
            <a:ext cx="2542032" cy="585216"/>
          </a:xfrm>
          <a:prstGeom prst="roundRect">
            <a:avLst>
              <a:gd name="adj" fmla="val 12500"/>
            </a:avLst>
          </a:prstGeom>
          <a:solidFill>
            <a:srgbClr val="1B2B49"/>
          </a:solidFill>
          <a:ln w="12700">
            <a:solidFill>
              <a:srgbClr val="2B3E60"/>
            </a:solidFill>
            <a:prstDash val="solid"/>
          </a:ln>
        </p:spPr>
      </p:sp>
      <p:sp>
        <p:nvSpPr>
          <p:cNvPr id="26" name="Text 24"/>
          <p:cNvSpPr/>
          <p:nvPr/>
        </p:nvSpPr>
        <p:spPr>
          <a:xfrm>
            <a:off x="4709160" y="4553712"/>
            <a:ext cx="274320" cy="585216"/>
          </a:xfrm>
          <a:prstGeom prst="rect">
            <a:avLst/>
          </a:prstGeom>
          <a:noFill/>
          <a:ln/>
        </p:spPr>
        <p:txBody>
          <a:bodyPr wrap="square" lIns="0" tIns="0" rIns="0" bIns="0" rtlCol="0" anchor="ctr"/>
          <a:lstStyle/>
          <a:p>
            <a:pPr indent="0" marL="0">
              <a:buNone/>
            </a:pPr>
            <a:r>
              <a:rPr lang="en-US" sz="1100" b="1" dirty="0">
                <a:solidFill>
                  <a:srgbClr val="2FD68C"/>
                </a:solidFill>
                <a:latin typeface="Courier New" pitchFamily="34" charset="0"/>
                <a:ea typeface="Courier New" pitchFamily="34" charset="-122"/>
                <a:cs typeface="Courier New" pitchFamily="34" charset="-120"/>
              </a:rPr>
              <a:t>5</a:t>
            </a:r>
            <a:endParaRPr lang="en-US" sz="1100" dirty="0"/>
          </a:p>
        </p:txBody>
      </p:sp>
      <p:sp>
        <p:nvSpPr>
          <p:cNvPr id="27" name="Text 25"/>
          <p:cNvSpPr/>
          <p:nvPr/>
        </p:nvSpPr>
        <p:spPr>
          <a:xfrm>
            <a:off x="5001768" y="4553712"/>
            <a:ext cx="2048256" cy="585216"/>
          </a:xfrm>
          <a:prstGeom prst="rect">
            <a:avLst/>
          </a:prstGeom>
          <a:noFill/>
          <a:ln/>
        </p:spPr>
        <p:txBody>
          <a:bodyPr wrap="square" lIns="0" tIns="0" rIns="0" bIns="0" rtlCol="0" anchor="ctr"/>
          <a:lstStyle/>
          <a:p>
            <a:pPr indent="0" marL="0">
              <a:lnSpc>
                <a:spcPct val="92000"/>
              </a:lnSpc>
              <a:buNone/>
            </a:pPr>
            <a:r>
              <a:rPr lang="en-US" sz="1150" dirty="0">
                <a:solidFill>
                  <a:srgbClr val="FFFFFF"/>
                </a:solidFill>
                <a:latin typeface="Calibri" pitchFamily="34" charset="0"/>
                <a:ea typeface="Calibri" pitchFamily="34" charset="-122"/>
                <a:cs typeface="Calibri" pitchFamily="34" charset="-120"/>
              </a:rPr>
              <a:t>Activate appropriate signal transition</a:t>
            </a:r>
            <a:endParaRPr lang="en-US" sz="1150" dirty="0"/>
          </a:p>
        </p:txBody>
      </p:sp>
      <p:sp>
        <p:nvSpPr>
          <p:cNvPr id="28" name="Shape 26"/>
          <p:cNvSpPr/>
          <p:nvPr/>
        </p:nvSpPr>
        <p:spPr>
          <a:xfrm>
            <a:off x="7580376" y="1188720"/>
            <a:ext cx="4059936" cy="4160520"/>
          </a:xfrm>
          <a:prstGeom prst="roundRect">
            <a:avLst>
              <a:gd name="adj" fmla="val 2252"/>
            </a:avLst>
          </a:prstGeom>
          <a:solidFill>
            <a:srgbClr val="15223C"/>
          </a:solidFill>
          <a:ln w="12700">
            <a:solidFill>
              <a:srgbClr val="2B3E60"/>
            </a:solidFill>
            <a:prstDash val="solid"/>
          </a:ln>
        </p:spPr>
      </p:sp>
      <p:sp>
        <p:nvSpPr>
          <p:cNvPr id="29" name="Shape 27"/>
          <p:cNvSpPr/>
          <p:nvPr/>
        </p:nvSpPr>
        <p:spPr>
          <a:xfrm>
            <a:off x="7818120" y="1426464"/>
            <a:ext cx="1188720" cy="274320"/>
          </a:xfrm>
          <a:prstGeom prst="roundRect">
            <a:avLst>
              <a:gd name="adj" fmla="val 20000"/>
            </a:avLst>
          </a:prstGeom>
          <a:solidFill>
            <a:srgbClr val="10331F"/>
          </a:solidFill>
          <a:ln w="12700">
            <a:solidFill>
              <a:srgbClr val="10331F"/>
            </a:solidFill>
            <a:prstDash val="solid"/>
          </a:ln>
        </p:spPr>
      </p:sp>
      <p:sp>
        <p:nvSpPr>
          <p:cNvPr id="30" name="Text 28"/>
          <p:cNvSpPr/>
          <p:nvPr/>
        </p:nvSpPr>
        <p:spPr>
          <a:xfrm>
            <a:off x="7818120" y="1426464"/>
            <a:ext cx="1188720" cy="274320"/>
          </a:xfrm>
          <a:prstGeom prst="rect">
            <a:avLst/>
          </a:prstGeom>
          <a:noFill/>
          <a:ln/>
        </p:spPr>
        <p:txBody>
          <a:bodyPr wrap="square" lIns="0" tIns="0" rIns="0" bIns="0" rtlCol="0" anchor="ctr"/>
          <a:lstStyle/>
          <a:p>
            <a:pPr algn="ctr" indent="0" marL="0">
              <a:buNone/>
            </a:pPr>
            <a:r>
              <a:rPr lang="en-US" sz="950" b="1" spc="120" kern="0" dirty="0">
                <a:solidFill>
                  <a:srgbClr val="2FD68C"/>
                </a:solidFill>
                <a:latin typeface="Arial" pitchFamily="34" charset="0"/>
                <a:ea typeface="Arial" pitchFamily="34" charset="-122"/>
                <a:cs typeface="Arial" pitchFamily="34" charset="-120"/>
              </a:rPr>
              <a:t>REWARD</a:t>
            </a:r>
            <a:endParaRPr lang="en-US" sz="950" dirty="0"/>
          </a:p>
        </p:txBody>
      </p:sp>
      <p:sp>
        <p:nvSpPr>
          <p:cNvPr id="31" name="Text 29"/>
          <p:cNvSpPr/>
          <p:nvPr/>
        </p:nvSpPr>
        <p:spPr>
          <a:xfrm>
            <a:off x="7836408" y="1773936"/>
            <a:ext cx="3566160" cy="256032"/>
          </a:xfrm>
          <a:prstGeom prst="rect">
            <a:avLst/>
          </a:prstGeom>
          <a:noFill/>
          <a:ln/>
        </p:spPr>
        <p:txBody>
          <a:bodyPr wrap="square" lIns="0" tIns="0" rIns="0" bIns="0" rtlCol="0" anchor="ctr"/>
          <a:lstStyle/>
          <a:p>
            <a:pPr indent="0" marL="0">
              <a:buNone/>
            </a:pPr>
            <a:r>
              <a:rPr lang="en-US" sz="1050" b="1" spc="120" kern="0" dirty="0">
                <a:solidFill>
                  <a:srgbClr val="2FD68C"/>
                </a:solidFill>
                <a:latin typeface="Arial" pitchFamily="34" charset="0"/>
                <a:ea typeface="Arial" pitchFamily="34" charset="-122"/>
                <a:cs typeface="Arial" pitchFamily="34" charset="-120"/>
              </a:rPr>
              <a:t>POSITIVE  +</a:t>
            </a:r>
            <a:endParaRPr lang="en-US" sz="1050" dirty="0"/>
          </a:p>
        </p:txBody>
      </p:sp>
      <p:sp>
        <p:nvSpPr>
          <p:cNvPr id="32" name="Text 30"/>
          <p:cNvSpPr/>
          <p:nvPr/>
        </p:nvSpPr>
        <p:spPr>
          <a:xfrm>
            <a:off x="7863840" y="2066544"/>
            <a:ext cx="3520440" cy="10972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Vehicles move smoothly</a:t>
            </a:r>
            <a:endParaRPr lang="en-US" sz="1150" dirty="0"/>
          </a:p>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Waiting time decreases</a:t>
            </a:r>
            <a:endParaRPr lang="en-US" sz="1150" dirty="0"/>
          </a:p>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Unnecessary stops decrease</a:t>
            </a:r>
            <a:endParaRPr lang="en-US" sz="1150" dirty="0"/>
          </a:p>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Estimated emissions decrease</a:t>
            </a:r>
            <a:endParaRPr lang="en-US" sz="1150" dirty="0"/>
          </a:p>
        </p:txBody>
      </p:sp>
      <p:sp>
        <p:nvSpPr>
          <p:cNvPr id="33" name="Text 31"/>
          <p:cNvSpPr/>
          <p:nvPr/>
        </p:nvSpPr>
        <p:spPr>
          <a:xfrm>
            <a:off x="7836408" y="3255264"/>
            <a:ext cx="3566160" cy="256032"/>
          </a:xfrm>
          <a:prstGeom prst="rect">
            <a:avLst/>
          </a:prstGeom>
          <a:noFill/>
          <a:ln/>
        </p:spPr>
        <p:txBody>
          <a:bodyPr wrap="square" lIns="0" tIns="0" rIns="0" bIns="0" rtlCol="0" anchor="ctr"/>
          <a:lstStyle/>
          <a:p>
            <a:pPr indent="0" marL="0">
              <a:buNone/>
            </a:pPr>
            <a:r>
              <a:rPr lang="en-US" sz="1050" b="1" spc="120" kern="0" dirty="0">
                <a:solidFill>
                  <a:srgbClr val="E74C3C"/>
                </a:solidFill>
                <a:latin typeface="Arial" pitchFamily="34" charset="0"/>
                <a:ea typeface="Arial" pitchFamily="34" charset="-122"/>
                <a:cs typeface="Arial" pitchFamily="34" charset="-120"/>
              </a:rPr>
              <a:t>NEGATIVE  −</a:t>
            </a:r>
            <a:endParaRPr lang="en-US" sz="1050" dirty="0"/>
          </a:p>
        </p:txBody>
      </p:sp>
      <p:sp>
        <p:nvSpPr>
          <p:cNvPr id="34" name="Text 32"/>
          <p:cNvSpPr/>
          <p:nvPr/>
        </p:nvSpPr>
        <p:spPr>
          <a:xfrm>
            <a:off x="7863840" y="3547872"/>
            <a:ext cx="3520440" cy="164592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Vehicles stationary for long periods</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Queue length increases</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Unnecessary stops increase</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Emission levels increase</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Unsafe / violation-related events occur</a:t>
            </a:r>
            <a:endParaRPr lang="en-US" sz="1150" dirty="0"/>
          </a:p>
        </p:txBody>
      </p:sp>
      <p:sp>
        <p:nvSpPr>
          <p:cNvPr id="35" name="Shape 33"/>
          <p:cNvSpPr/>
          <p:nvPr/>
        </p:nvSpPr>
        <p:spPr>
          <a:xfrm>
            <a:off x="548640" y="5532120"/>
            <a:ext cx="11091672" cy="658368"/>
          </a:xfrm>
          <a:prstGeom prst="roundRect">
            <a:avLst>
              <a:gd name="adj" fmla="val 13889"/>
            </a:avLst>
          </a:prstGeom>
          <a:solidFill>
            <a:srgbClr val="0D1730"/>
          </a:solidFill>
          <a:ln w="12700">
            <a:solidFill>
              <a:srgbClr val="2B3E60"/>
            </a:solidFill>
            <a:prstDash val="solid"/>
          </a:ln>
        </p:spPr>
      </p:sp>
      <p:sp>
        <p:nvSpPr>
          <p:cNvPr id="36" name="Text 34"/>
          <p:cNvSpPr/>
          <p:nvPr/>
        </p:nvSpPr>
        <p:spPr>
          <a:xfrm>
            <a:off x="822960" y="5532120"/>
            <a:ext cx="10515600" cy="658368"/>
          </a:xfrm>
          <a:prstGeom prst="rect">
            <a:avLst/>
          </a:prstGeom>
          <a:noFill/>
          <a:ln/>
        </p:spPr>
        <p:txBody>
          <a:bodyPr wrap="square" lIns="0" tIns="0" rIns="0" bIns="0" rtlCol="0" anchor="ctr"/>
          <a:lstStyle/>
          <a:p>
            <a:pPr indent="0" marL="0">
              <a:buNone/>
            </a:pPr>
            <a:r>
              <a:rPr lang="en-US" sz="1200" i="1" dirty="0">
                <a:solidFill>
                  <a:srgbClr val="9DB2CE"/>
                </a:solidFill>
                <a:latin typeface="Calibri" pitchFamily="34" charset="0"/>
                <a:ea typeface="Calibri" pitchFamily="34" charset="-122"/>
                <a:cs typeface="Calibri" pitchFamily="34" charset="-120"/>
              </a:rPr>
              <a:t>Violation indicators enter the state, and violation events enter the reward as a penalty — safety is optimised alongside efficiency, not bolted on afterwards.</a:t>
            </a:r>
            <a:endParaRPr lang="en-US" sz="1200" dirty="0"/>
          </a:p>
        </p:txBody>
      </p:sp>
      <p:sp>
        <p:nvSpPr>
          <p:cNvPr id="38" name="Text 35"/>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Shaun Joseph Sabu</a:t>
            </a:r>
            <a:endParaRPr lang="en-US" sz="950" dirty="0"/>
          </a:p>
        </p:txBody>
      </p:sp>
      <p:sp>
        <p:nvSpPr>
          <p:cNvPr id="39" name="Text 36"/>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FD68C"/>
                </a:solidFill>
                <a:latin typeface="Calibri" pitchFamily="34" charset="0"/>
                <a:ea typeface="Calibri" pitchFamily="34" charset="-122"/>
                <a:cs typeface="Calibri" pitchFamily="34" charset="-120"/>
              </a:rPr>
              <a:t>11 / 22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FD68C"/>
                </a:solidFill>
                <a:latin typeface="Arial" pitchFamily="34" charset="0"/>
                <a:ea typeface="Arial" pitchFamily="34" charset="-122"/>
                <a:cs typeface="Arial" pitchFamily="34" charset="-120"/>
              </a:rPr>
              <a:t>TRAFFIC VIOLATION DETECTION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Monitoring Behaviour at the Intersection</a:t>
            </a:r>
            <a:endParaRPr lang="en-US" sz="2800" dirty="0"/>
          </a:p>
        </p:txBody>
      </p:sp>
      <p:sp>
        <p:nvSpPr>
          <p:cNvPr id="4" name="Text 2"/>
          <p:cNvSpPr/>
          <p:nvPr/>
        </p:nvSpPr>
        <p:spPr>
          <a:xfrm>
            <a:off x="548640" y="1188720"/>
            <a:ext cx="3657600" cy="219456"/>
          </a:xfrm>
          <a:prstGeom prst="rect">
            <a:avLst/>
          </a:prstGeom>
          <a:noFill/>
          <a:ln/>
        </p:spPr>
        <p:txBody>
          <a:bodyPr wrap="square" lIns="0" tIns="0" rIns="0" bIns="0" rtlCol="0" anchor="ctr"/>
          <a:lstStyle/>
          <a:p>
            <a:pPr indent="0" marL="0">
              <a:buNone/>
            </a:pPr>
            <a:r>
              <a:rPr lang="en-US" sz="950" b="1" spc="160" kern="0" dirty="0">
                <a:solidFill>
                  <a:srgbClr val="6E86A8"/>
                </a:solidFill>
                <a:latin typeface="Arial" pitchFamily="34" charset="0"/>
                <a:ea typeface="Arial" pitchFamily="34" charset="-122"/>
                <a:cs typeface="Arial" pitchFamily="34" charset="-120"/>
              </a:rPr>
              <a:t>VIOLATIONS MONITORED</a:t>
            </a:r>
            <a:endParaRPr lang="en-US" sz="950" dirty="0"/>
          </a:p>
        </p:txBody>
      </p:sp>
      <p:sp>
        <p:nvSpPr>
          <p:cNvPr id="5" name="Shape 3"/>
          <p:cNvSpPr/>
          <p:nvPr/>
        </p:nvSpPr>
        <p:spPr>
          <a:xfrm>
            <a:off x="548640" y="1481328"/>
            <a:ext cx="5532120" cy="822960"/>
          </a:xfrm>
          <a:prstGeom prst="roundRect">
            <a:avLst>
              <a:gd name="adj" fmla="val 11111"/>
            </a:avLst>
          </a:prstGeom>
          <a:solidFill>
            <a:srgbClr val="15223C"/>
          </a:solidFill>
          <a:ln w="12700">
            <a:solidFill>
              <a:srgbClr val="2B3E60"/>
            </a:solidFill>
            <a:prstDash val="solid"/>
          </a:ln>
        </p:spPr>
      </p:sp>
      <p:sp>
        <p:nvSpPr>
          <p:cNvPr id="6" name="Shape 4"/>
          <p:cNvSpPr/>
          <p:nvPr/>
        </p:nvSpPr>
        <p:spPr>
          <a:xfrm>
            <a:off x="786384" y="1636776"/>
            <a:ext cx="512064" cy="512064"/>
          </a:xfrm>
          <a:prstGeom prst="ellipse">
            <a:avLst/>
          </a:prstGeom>
          <a:solidFill>
            <a:srgbClr val="10331F"/>
          </a:solidFill>
          <a:ln w="12700">
            <a:solidFill>
              <a:srgbClr val="2FD68C"/>
            </a:solidFill>
            <a:prstDash val="solid"/>
          </a:ln>
        </p:spPr>
      </p:sp>
      <p:pic>
        <p:nvPicPr>
          <p:cNvPr id="7" name="Image 0" descr="preencoded.png">    </p:cNvPr>
          <p:cNvPicPr>
            <a:picLocks noChangeAspect="1"/>
          </p:cNvPicPr>
          <p:nvPr/>
        </p:nvPicPr>
        <p:blipFill>
          <a:blip r:embed="rId1"/>
          <a:stretch>
            <a:fillRect/>
          </a:stretch>
        </p:blipFill>
        <p:spPr>
          <a:xfrm>
            <a:off x="924641" y="1775033"/>
            <a:ext cx="235549" cy="235549"/>
          </a:xfrm>
          <a:prstGeom prst="rect">
            <a:avLst/>
          </a:prstGeom>
        </p:spPr>
      </p:pic>
      <p:sp>
        <p:nvSpPr>
          <p:cNvPr id="8" name="Text 5"/>
          <p:cNvSpPr/>
          <p:nvPr/>
        </p:nvSpPr>
        <p:spPr>
          <a:xfrm>
            <a:off x="1481328" y="1481328"/>
            <a:ext cx="4389120" cy="8229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Red-light violations</a:t>
            </a:r>
            <a:endParaRPr lang="en-US" sz="1350" dirty="0"/>
          </a:p>
        </p:txBody>
      </p:sp>
      <p:sp>
        <p:nvSpPr>
          <p:cNvPr id="9" name="Shape 6"/>
          <p:cNvSpPr/>
          <p:nvPr/>
        </p:nvSpPr>
        <p:spPr>
          <a:xfrm>
            <a:off x="548640" y="2450592"/>
            <a:ext cx="5532120" cy="822960"/>
          </a:xfrm>
          <a:prstGeom prst="roundRect">
            <a:avLst>
              <a:gd name="adj" fmla="val 11111"/>
            </a:avLst>
          </a:prstGeom>
          <a:solidFill>
            <a:srgbClr val="15223C"/>
          </a:solidFill>
          <a:ln w="12700">
            <a:solidFill>
              <a:srgbClr val="2B3E60"/>
            </a:solidFill>
            <a:prstDash val="solid"/>
          </a:ln>
        </p:spPr>
      </p:sp>
      <p:sp>
        <p:nvSpPr>
          <p:cNvPr id="10" name="Shape 7"/>
          <p:cNvSpPr/>
          <p:nvPr/>
        </p:nvSpPr>
        <p:spPr>
          <a:xfrm>
            <a:off x="786384" y="2606040"/>
            <a:ext cx="512064" cy="512064"/>
          </a:xfrm>
          <a:prstGeom prst="ellipse">
            <a:avLst/>
          </a:prstGeom>
          <a:solidFill>
            <a:srgbClr val="10331F"/>
          </a:solidFill>
          <a:ln w="12700">
            <a:solidFill>
              <a:srgbClr val="2FD68C"/>
            </a:solidFill>
            <a:prstDash val="solid"/>
          </a:ln>
        </p:spPr>
      </p:sp>
      <p:pic>
        <p:nvPicPr>
          <p:cNvPr id="11" name="Image 1" descr="preencoded.png">    </p:cNvPr>
          <p:cNvPicPr>
            <a:picLocks noChangeAspect="1"/>
          </p:cNvPicPr>
          <p:nvPr/>
        </p:nvPicPr>
        <p:blipFill>
          <a:blip r:embed="rId2"/>
          <a:stretch>
            <a:fillRect/>
          </a:stretch>
        </p:blipFill>
        <p:spPr>
          <a:xfrm>
            <a:off x="924641" y="2744297"/>
            <a:ext cx="235549" cy="235549"/>
          </a:xfrm>
          <a:prstGeom prst="rect">
            <a:avLst/>
          </a:prstGeom>
        </p:spPr>
      </p:pic>
      <p:sp>
        <p:nvSpPr>
          <p:cNvPr id="12" name="Text 8"/>
          <p:cNvSpPr/>
          <p:nvPr/>
        </p:nvSpPr>
        <p:spPr>
          <a:xfrm>
            <a:off x="1481328" y="2450592"/>
            <a:ext cx="4389120" cy="8229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Illegal crossing during red</a:t>
            </a:r>
            <a:endParaRPr lang="en-US" sz="1350" dirty="0"/>
          </a:p>
        </p:txBody>
      </p:sp>
      <p:sp>
        <p:nvSpPr>
          <p:cNvPr id="13" name="Shape 9"/>
          <p:cNvSpPr/>
          <p:nvPr/>
        </p:nvSpPr>
        <p:spPr>
          <a:xfrm>
            <a:off x="548640" y="3419856"/>
            <a:ext cx="5532120" cy="822960"/>
          </a:xfrm>
          <a:prstGeom prst="roundRect">
            <a:avLst>
              <a:gd name="adj" fmla="val 11111"/>
            </a:avLst>
          </a:prstGeom>
          <a:solidFill>
            <a:srgbClr val="15223C"/>
          </a:solidFill>
          <a:ln w="12700">
            <a:solidFill>
              <a:srgbClr val="2B3E60"/>
            </a:solidFill>
            <a:prstDash val="solid"/>
          </a:ln>
        </p:spPr>
      </p:sp>
      <p:sp>
        <p:nvSpPr>
          <p:cNvPr id="14" name="Shape 10"/>
          <p:cNvSpPr/>
          <p:nvPr/>
        </p:nvSpPr>
        <p:spPr>
          <a:xfrm>
            <a:off x="786384" y="3575304"/>
            <a:ext cx="512064" cy="512064"/>
          </a:xfrm>
          <a:prstGeom prst="ellipse">
            <a:avLst/>
          </a:prstGeom>
          <a:solidFill>
            <a:srgbClr val="10331F"/>
          </a:solidFill>
          <a:ln w="12700">
            <a:solidFill>
              <a:srgbClr val="2FD68C"/>
            </a:solidFill>
            <a:prstDash val="solid"/>
          </a:ln>
        </p:spPr>
      </p:sp>
      <p:pic>
        <p:nvPicPr>
          <p:cNvPr id="15" name="Image 2" descr="preencoded.png">    </p:cNvPr>
          <p:cNvPicPr>
            <a:picLocks noChangeAspect="1"/>
          </p:cNvPicPr>
          <p:nvPr/>
        </p:nvPicPr>
        <p:blipFill>
          <a:blip r:embed="rId3"/>
          <a:stretch>
            <a:fillRect/>
          </a:stretch>
        </p:blipFill>
        <p:spPr>
          <a:xfrm>
            <a:off x="924641" y="3713561"/>
            <a:ext cx="235549" cy="235549"/>
          </a:xfrm>
          <a:prstGeom prst="rect">
            <a:avLst/>
          </a:prstGeom>
        </p:spPr>
      </p:pic>
      <p:sp>
        <p:nvSpPr>
          <p:cNvPr id="16" name="Text 11"/>
          <p:cNvSpPr/>
          <p:nvPr/>
        </p:nvSpPr>
        <p:spPr>
          <a:xfrm>
            <a:off x="1481328" y="3419856"/>
            <a:ext cx="4389120" cy="8229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Lane violations</a:t>
            </a:r>
            <a:endParaRPr lang="en-US" sz="1350" dirty="0"/>
          </a:p>
        </p:txBody>
      </p:sp>
      <p:sp>
        <p:nvSpPr>
          <p:cNvPr id="17" name="Shape 12"/>
          <p:cNvSpPr/>
          <p:nvPr/>
        </p:nvSpPr>
        <p:spPr>
          <a:xfrm>
            <a:off x="548640" y="4389120"/>
            <a:ext cx="5532120" cy="822960"/>
          </a:xfrm>
          <a:prstGeom prst="roundRect">
            <a:avLst>
              <a:gd name="adj" fmla="val 11111"/>
            </a:avLst>
          </a:prstGeom>
          <a:solidFill>
            <a:srgbClr val="15223C"/>
          </a:solidFill>
          <a:ln w="12700">
            <a:solidFill>
              <a:srgbClr val="2B3E60"/>
            </a:solidFill>
            <a:prstDash val="solid"/>
          </a:ln>
        </p:spPr>
      </p:sp>
      <p:sp>
        <p:nvSpPr>
          <p:cNvPr id="18" name="Shape 13"/>
          <p:cNvSpPr/>
          <p:nvPr/>
        </p:nvSpPr>
        <p:spPr>
          <a:xfrm>
            <a:off x="786384" y="4544568"/>
            <a:ext cx="512064" cy="512064"/>
          </a:xfrm>
          <a:prstGeom prst="ellipse">
            <a:avLst/>
          </a:prstGeom>
          <a:solidFill>
            <a:srgbClr val="10331F"/>
          </a:solidFill>
          <a:ln w="12700">
            <a:solidFill>
              <a:srgbClr val="2FD68C"/>
            </a:solidFill>
            <a:prstDash val="solid"/>
          </a:ln>
        </p:spPr>
      </p:sp>
      <p:pic>
        <p:nvPicPr>
          <p:cNvPr id="19" name="Image 3" descr="preencoded.png">    </p:cNvPr>
          <p:cNvPicPr>
            <a:picLocks noChangeAspect="1"/>
          </p:cNvPicPr>
          <p:nvPr/>
        </p:nvPicPr>
        <p:blipFill>
          <a:blip r:embed="rId4"/>
          <a:stretch>
            <a:fillRect/>
          </a:stretch>
        </p:blipFill>
        <p:spPr>
          <a:xfrm>
            <a:off x="924641" y="4682825"/>
            <a:ext cx="235549" cy="235549"/>
          </a:xfrm>
          <a:prstGeom prst="rect">
            <a:avLst/>
          </a:prstGeom>
        </p:spPr>
      </p:pic>
      <p:sp>
        <p:nvSpPr>
          <p:cNvPr id="20" name="Text 14"/>
          <p:cNvSpPr/>
          <p:nvPr/>
        </p:nvSpPr>
        <p:spPr>
          <a:xfrm>
            <a:off x="1481328" y="4389120"/>
            <a:ext cx="4389120" cy="8229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Unsafe signal-related behaviour</a:t>
            </a:r>
            <a:endParaRPr lang="en-US" sz="1350" dirty="0"/>
          </a:p>
        </p:txBody>
      </p:sp>
      <p:sp>
        <p:nvSpPr>
          <p:cNvPr id="21" name="Text 15"/>
          <p:cNvSpPr/>
          <p:nvPr/>
        </p:nvSpPr>
        <p:spPr>
          <a:xfrm>
            <a:off x="6446520" y="1188720"/>
            <a:ext cx="3657600" cy="219456"/>
          </a:xfrm>
          <a:prstGeom prst="rect">
            <a:avLst/>
          </a:prstGeom>
          <a:noFill/>
          <a:ln/>
        </p:spPr>
        <p:txBody>
          <a:bodyPr wrap="square" lIns="0" tIns="0" rIns="0" bIns="0" rtlCol="0" anchor="ctr"/>
          <a:lstStyle/>
          <a:p>
            <a:pPr indent="0" marL="0">
              <a:buNone/>
            </a:pPr>
            <a:r>
              <a:rPr lang="en-US" sz="950" b="1" spc="160" kern="0" dirty="0">
                <a:solidFill>
                  <a:srgbClr val="6E86A8"/>
                </a:solidFill>
                <a:latin typeface="Arial" pitchFamily="34" charset="0"/>
                <a:ea typeface="Arial" pitchFamily="34" charset="-122"/>
                <a:cs typeface="Arial" pitchFamily="34" charset="-120"/>
              </a:rPr>
              <a:t>MONITORING PIPELINE</a:t>
            </a:r>
            <a:endParaRPr lang="en-US" sz="950" dirty="0"/>
          </a:p>
        </p:txBody>
      </p:sp>
      <p:sp>
        <p:nvSpPr>
          <p:cNvPr id="22" name="Shape 16"/>
          <p:cNvSpPr/>
          <p:nvPr/>
        </p:nvSpPr>
        <p:spPr>
          <a:xfrm>
            <a:off x="6446520" y="1481328"/>
            <a:ext cx="5193792" cy="822960"/>
          </a:xfrm>
          <a:prstGeom prst="roundRect">
            <a:avLst>
              <a:gd name="adj" fmla="val 11111"/>
            </a:avLst>
          </a:prstGeom>
          <a:solidFill>
            <a:srgbClr val="1B2B49"/>
          </a:solidFill>
          <a:ln w="12700">
            <a:solidFill>
              <a:srgbClr val="2B3E60"/>
            </a:solidFill>
            <a:prstDash val="solid"/>
          </a:ln>
        </p:spPr>
      </p:sp>
      <p:sp>
        <p:nvSpPr>
          <p:cNvPr id="23" name="Text 17"/>
          <p:cNvSpPr/>
          <p:nvPr/>
        </p:nvSpPr>
        <p:spPr>
          <a:xfrm>
            <a:off x="6537960" y="1536192"/>
            <a:ext cx="5010912" cy="713232"/>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Traffic Environment</a:t>
            </a:r>
            <a:endParaRPr lang="en-US" sz="1300" dirty="0"/>
          </a:p>
        </p:txBody>
      </p:sp>
      <p:sp>
        <p:nvSpPr>
          <p:cNvPr id="24" name="Shape 18"/>
          <p:cNvSpPr/>
          <p:nvPr/>
        </p:nvSpPr>
        <p:spPr>
          <a:xfrm rot="10800000">
            <a:off x="8933688" y="2350008"/>
            <a:ext cx="219456" cy="182880"/>
          </a:xfrm>
          <a:prstGeom prst="triangle">
            <a:avLst/>
          </a:prstGeom>
          <a:solidFill>
            <a:srgbClr val="2FD68C"/>
          </a:solidFill>
          <a:ln w="12700">
            <a:solidFill>
              <a:srgbClr val="2FD68C"/>
            </a:solidFill>
            <a:prstDash val="solid"/>
          </a:ln>
        </p:spPr>
      </p:sp>
      <p:sp>
        <p:nvSpPr>
          <p:cNvPr id="25" name="Shape 19"/>
          <p:cNvSpPr/>
          <p:nvPr/>
        </p:nvSpPr>
        <p:spPr>
          <a:xfrm>
            <a:off x="6446520" y="2450592"/>
            <a:ext cx="5193792" cy="822960"/>
          </a:xfrm>
          <a:prstGeom prst="roundRect">
            <a:avLst>
              <a:gd name="adj" fmla="val 11111"/>
            </a:avLst>
          </a:prstGeom>
          <a:solidFill>
            <a:srgbClr val="1B2B49"/>
          </a:solidFill>
          <a:ln w="12700">
            <a:solidFill>
              <a:srgbClr val="2B3E60"/>
            </a:solidFill>
            <a:prstDash val="solid"/>
          </a:ln>
        </p:spPr>
      </p:sp>
      <p:sp>
        <p:nvSpPr>
          <p:cNvPr id="26" name="Text 20"/>
          <p:cNvSpPr/>
          <p:nvPr/>
        </p:nvSpPr>
        <p:spPr>
          <a:xfrm>
            <a:off x="6537960" y="2505456"/>
            <a:ext cx="5010912" cy="713232"/>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Behaviour Monitoring</a:t>
            </a:r>
            <a:endParaRPr lang="en-US" sz="1300" dirty="0"/>
          </a:p>
        </p:txBody>
      </p:sp>
      <p:sp>
        <p:nvSpPr>
          <p:cNvPr id="27" name="Shape 21"/>
          <p:cNvSpPr/>
          <p:nvPr/>
        </p:nvSpPr>
        <p:spPr>
          <a:xfrm rot="10800000">
            <a:off x="8933688" y="3319272"/>
            <a:ext cx="219456" cy="182880"/>
          </a:xfrm>
          <a:prstGeom prst="triangle">
            <a:avLst/>
          </a:prstGeom>
          <a:solidFill>
            <a:srgbClr val="2FD68C"/>
          </a:solidFill>
          <a:ln w="12700">
            <a:solidFill>
              <a:srgbClr val="2FD68C"/>
            </a:solidFill>
            <a:prstDash val="solid"/>
          </a:ln>
        </p:spPr>
      </p:sp>
      <p:sp>
        <p:nvSpPr>
          <p:cNvPr id="28" name="Shape 22"/>
          <p:cNvSpPr/>
          <p:nvPr/>
        </p:nvSpPr>
        <p:spPr>
          <a:xfrm>
            <a:off x="6446520" y="3419856"/>
            <a:ext cx="5193792" cy="822960"/>
          </a:xfrm>
          <a:prstGeom prst="roundRect">
            <a:avLst>
              <a:gd name="adj" fmla="val 11111"/>
            </a:avLst>
          </a:prstGeom>
          <a:solidFill>
            <a:srgbClr val="1B2B49"/>
          </a:solidFill>
          <a:ln w="12700">
            <a:solidFill>
              <a:srgbClr val="2B3E60"/>
            </a:solidFill>
            <a:prstDash val="solid"/>
          </a:ln>
        </p:spPr>
      </p:sp>
      <p:sp>
        <p:nvSpPr>
          <p:cNvPr id="29" name="Text 23"/>
          <p:cNvSpPr/>
          <p:nvPr/>
        </p:nvSpPr>
        <p:spPr>
          <a:xfrm>
            <a:off x="6537960" y="3474720"/>
            <a:ext cx="5010912" cy="713232"/>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Violation Indicator</a:t>
            </a:r>
            <a:endParaRPr lang="en-US" sz="1300" dirty="0"/>
          </a:p>
        </p:txBody>
      </p:sp>
      <p:sp>
        <p:nvSpPr>
          <p:cNvPr id="30" name="Shape 24"/>
          <p:cNvSpPr/>
          <p:nvPr/>
        </p:nvSpPr>
        <p:spPr>
          <a:xfrm rot="10800000">
            <a:off x="8933688" y="4288536"/>
            <a:ext cx="219456" cy="182880"/>
          </a:xfrm>
          <a:prstGeom prst="triangle">
            <a:avLst/>
          </a:prstGeom>
          <a:solidFill>
            <a:srgbClr val="2FD68C"/>
          </a:solidFill>
          <a:ln w="12700">
            <a:solidFill>
              <a:srgbClr val="2FD68C"/>
            </a:solidFill>
            <a:prstDash val="solid"/>
          </a:ln>
        </p:spPr>
      </p:sp>
      <p:sp>
        <p:nvSpPr>
          <p:cNvPr id="31" name="Shape 25"/>
          <p:cNvSpPr/>
          <p:nvPr/>
        </p:nvSpPr>
        <p:spPr>
          <a:xfrm>
            <a:off x="6446520" y="4389120"/>
            <a:ext cx="5193792" cy="822960"/>
          </a:xfrm>
          <a:prstGeom prst="roundRect">
            <a:avLst>
              <a:gd name="adj" fmla="val 11111"/>
            </a:avLst>
          </a:prstGeom>
          <a:solidFill>
            <a:srgbClr val="10331F"/>
          </a:solidFill>
          <a:ln w="12700">
            <a:solidFill>
              <a:srgbClr val="2FD68C"/>
            </a:solidFill>
            <a:prstDash val="solid"/>
          </a:ln>
        </p:spPr>
      </p:sp>
      <p:sp>
        <p:nvSpPr>
          <p:cNvPr id="32" name="Text 26"/>
          <p:cNvSpPr/>
          <p:nvPr/>
        </p:nvSpPr>
        <p:spPr>
          <a:xfrm>
            <a:off x="6537960" y="4443984"/>
            <a:ext cx="5010912" cy="713232"/>
          </a:xfrm>
          <a:prstGeom prst="rect">
            <a:avLst/>
          </a:prstGeom>
          <a:noFill/>
          <a:ln/>
        </p:spPr>
        <p:txBody>
          <a:bodyPr wrap="square" lIns="0" tIns="0" rIns="0" bIns="0" rtlCol="0" anchor="ctr"/>
          <a:lstStyle/>
          <a:p>
            <a:pPr algn="ctr" indent="0" marL="0">
              <a:lnSpc>
                <a:spcPct val="95000"/>
              </a:lnSpc>
              <a:buNone/>
            </a:pPr>
            <a:r>
              <a:rPr lang="en-US" sz="1300" b="1" dirty="0">
                <a:solidFill>
                  <a:srgbClr val="2FD68C"/>
                </a:solidFill>
                <a:latin typeface="Calibri" pitchFamily="34" charset="0"/>
                <a:ea typeface="Calibri" pitchFamily="34" charset="-122"/>
                <a:cs typeface="Calibri" pitchFamily="34" charset="-120"/>
              </a:rPr>
              <a:t>Reward Penalty  ·  Safety Metric</a:t>
            </a:r>
            <a:endParaRPr lang="en-US" sz="1300" dirty="0"/>
          </a:p>
        </p:txBody>
      </p:sp>
      <p:sp>
        <p:nvSpPr>
          <p:cNvPr id="33" name="Shape 27"/>
          <p:cNvSpPr/>
          <p:nvPr/>
        </p:nvSpPr>
        <p:spPr>
          <a:xfrm>
            <a:off x="548640" y="5394960"/>
            <a:ext cx="11091672" cy="676656"/>
          </a:xfrm>
          <a:prstGeom prst="roundRect">
            <a:avLst>
              <a:gd name="adj" fmla="val 13514"/>
            </a:avLst>
          </a:prstGeom>
          <a:solidFill>
            <a:srgbClr val="0D1730"/>
          </a:solidFill>
          <a:ln w="12700">
            <a:solidFill>
              <a:srgbClr val="F5B041"/>
            </a:solidFill>
            <a:prstDash val="solid"/>
          </a:ln>
        </p:spPr>
      </p:sp>
      <p:sp>
        <p:nvSpPr>
          <p:cNvPr id="34" name="Shape 28"/>
          <p:cNvSpPr/>
          <p:nvPr/>
        </p:nvSpPr>
        <p:spPr>
          <a:xfrm>
            <a:off x="786384" y="5504688"/>
            <a:ext cx="457200" cy="457200"/>
          </a:xfrm>
          <a:prstGeom prst="ellipse">
            <a:avLst/>
          </a:prstGeom>
          <a:solidFill>
            <a:srgbClr val="2A2013"/>
          </a:solidFill>
          <a:ln w="12700">
            <a:solidFill>
              <a:srgbClr val="F5B041"/>
            </a:solidFill>
            <a:prstDash val="solid"/>
          </a:ln>
        </p:spPr>
      </p:sp>
      <p:pic>
        <p:nvPicPr>
          <p:cNvPr id="35" name="Image 4" descr="preencoded.png">    </p:cNvPr>
          <p:cNvPicPr>
            <a:picLocks noChangeAspect="1"/>
          </p:cNvPicPr>
          <p:nvPr/>
        </p:nvPicPr>
        <p:blipFill>
          <a:blip r:embed="rId5"/>
          <a:stretch>
            <a:fillRect/>
          </a:stretch>
        </p:blipFill>
        <p:spPr>
          <a:xfrm>
            <a:off x="909828" y="5628132"/>
            <a:ext cx="210312" cy="210312"/>
          </a:xfrm>
          <a:prstGeom prst="rect">
            <a:avLst/>
          </a:prstGeom>
        </p:spPr>
      </p:pic>
      <p:sp>
        <p:nvSpPr>
          <p:cNvPr id="36" name="Text 29"/>
          <p:cNvSpPr/>
          <p:nvPr/>
        </p:nvSpPr>
        <p:spPr>
          <a:xfrm>
            <a:off x="1408176" y="5394960"/>
            <a:ext cx="10012680" cy="676656"/>
          </a:xfrm>
          <a:prstGeom prst="rect">
            <a:avLst/>
          </a:prstGeom>
          <a:noFill/>
          <a:ln/>
        </p:spPr>
        <p:txBody>
          <a:bodyPr wrap="square" lIns="0" tIns="0" rIns="0" bIns="0" rtlCol="0" anchor="ctr"/>
          <a:lstStyle/>
          <a:p>
            <a:pPr indent="0" marL="0">
              <a:lnSpc>
                <a:spcPct val="102000"/>
              </a:lnSpc>
              <a:buNone/>
            </a:pPr>
            <a:r>
              <a:rPr lang="en-US" sz="1150" dirty="0">
                <a:solidFill>
                  <a:srgbClr val="9DB2CE"/>
                </a:solidFill>
                <a:latin typeface="Calibri" pitchFamily="34" charset="0"/>
                <a:ea typeface="Calibri" pitchFamily="34" charset="-122"/>
                <a:cs typeface="Calibri" pitchFamily="34" charset="-120"/>
              </a:rPr>
              <a:t>Scope note:  violation monitoring operates as an additional component connected to the traffic environment. The case study does not specify a particular computer-vision detection model — the indicator is consumed by the state and the reward.</a:t>
            </a:r>
            <a:endParaRPr lang="en-US" sz="1150" dirty="0"/>
          </a:p>
        </p:txBody>
      </p:sp>
      <p:sp>
        <p:nvSpPr>
          <p:cNvPr id="38" name="Text 30"/>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Shaun Joseph Sabu</a:t>
            </a:r>
            <a:endParaRPr lang="en-US" sz="950" dirty="0"/>
          </a:p>
        </p:txBody>
      </p:sp>
      <p:sp>
        <p:nvSpPr>
          <p:cNvPr id="39" name="Text 31"/>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FD68C"/>
                </a:solidFill>
                <a:latin typeface="Calibri" pitchFamily="34" charset="0"/>
                <a:ea typeface="Calibri" pitchFamily="34" charset="-122"/>
                <a:cs typeface="Calibri" pitchFamily="34" charset="-120"/>
              </a:rPr>
              <a:t>12 / 22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FD68C"/>
                </a:solidFill>
                <a:latin typeface="Arial" pitchFamily="34" charset="0"/>
                <a:ea typeface="Arial" pitchFamily="34" charset="-122"/>
                <a:cs typeface="Arial" pitchFamily="34" charset="-120"/>
              </a:rPr>
              <a:t>FUEL &amp; EMISSIONS  ·  WORKING &amp; EXPECTED OUTCOME</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From Stop-and-Go to Smooth Flow</a:t>
            </a:r>
            <a:endParaRPr lang="en-US" sz="2800" dirty="0"/>
          </a:p>
        </p:txBody>
      </p:sp>
      <p:sp>
        <p:nvSpPr>
          <p:cNvPr id="4" name="Shape 2"/>
          <p:cNvSpPr/>
          <p:nvPr/>
        </p:nvSpPr>
        <p:spPr>
          <a:xfrm>
            <a:off x="548640" y="1188720"/>
            <a:ext cx="1664208" cy="914400"/>
          </a:xfrm>
          <a:prstGeom prst="roundRect">
            <a:avLst>
              <a:gd name="adj" fmla="val 10000"/>
            </a:avLst>
          </a:prstGeom>
          <a:solidFill>
            <a:srgbClr val="1B2B49"/>
          </a:solidFill>
          <a:ln w="12700">
            <a:solidFill>
              <a:srgbClr val="2B3E60"/>
            </a:solidFill>
            <a:prstDash val="solid"/>
          </a:ln>
        </p:spPr>
      </p:sp>
      <p:sp>
        <p:nvSpPr>
          <p:cNvPr id="5" name="Text 3"/>
          <p:cNvSpPr/>
          <p:nvPr/>
        </p:nvSpPr>
        <p:spPr>
          <a:xfrm>
            <a:off x="640080" y="1243584"/>
            <a:ext cx="1481328" cy="80467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Repeated</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stops</a:t>
            </a:r>
            <a:endParaRPr lang="en-US" sz="1050" dirty="0"/>
          </a:p>
        </p:txBody>
      </p:sp>
      <p:sp>
        <p:nvSpPr>
          <p:cNvPr id="6" name="Shape 4"/>
          <p:cNvSpPr/>
          <p:nvPr/>
        </p:nvSpPr>
        <p:spPr>
          <a:xfrm rot="5400000">
            <a:off x="2249424" y="1536192"/>
            <a:ext cx="182880" cy="219456"/>
          </a:xfrm>
          <a:prstGeom prst="triangle">
            <a:avLst/>
          </a:prstGeom>
          <a:solidFill>
            <a:srgbClr val="2FD68C"/>
          </a:solidFill>
          <a:ln w="12700">
            <a:solidFill>
              <a:srgbClr val="2FD68C"/>
            </a:solidFill>
            <a:prstDash val="solid"/>
          </a:ln>
        </p:spPr>
      </p:sp>
      <p:sp>
        <p:nvSpPr>
          <p:cNvPr id="7" name="Shape 5"/>
          <p:cNvSpPr/>
          <p:nvPr/>
        </p:nvSpPr>
        <p:spPr>
          <a:xfrm>
            <a:off x="2468880" y="1188720"/>
            <a:ext cx="1664208" cy="914400"/>
          </a:xfrm>
          <a:prstGeom prst="roundRect">
            <a:avLst>
              <a:gd name="adj" fmla="val 10000"/>
            </a:avLst>
          </a:prstGeom>
          <a:solidFill>
            <a:srgbClr val="1B2B49"/>
          </a:solidFill>
          <a:ln w="12700">
            <a:solidFill>
              <a:srgbClr val="2B3E60"/>
            </a:solidFill>
            <a:prstDash val="solid"/>
          </a:ln>
        </p:spPr>
      </p:sp>
      <p:sp>
        <p:nvSpPr>
          <p:cNvPr id="8" name="Text 6"/>
          <p:cNvSpPr/>
          <p:nvPr/>
        </p:nvSpPr>
        <p:spPr>
          <a:xfrm>
            <a:off x="2560320" y="1243584"/>
            <a:ext cx="1481328" cy="80467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High waiting</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low speed</a:t>
            </a:r>
            <a:endParaRPr lang="en-US" sz="1050" dirty="0"/>
          </a:p>
        </p:txBody>
      </p:sp>
      <p:sp>
        <p:nvSpPr>
          <p:cNvPr id="9" name="Shape 7"/>
          <p:cNvSpPr/>
          <p:nvPr/>
        </p:nvSpPr>
        <p:spPr>
          <a:xfrm rot="5400000">
            <a:off x="4169664" y="1536192"/>
            <a:ext cx="182880" cy="219456"/>
          </a:xfrm>
          <a:prstGeom prst="triangle">
            <a:avLst/>
          </a:prstGeom>
          <a:solidFill>
            <a:srgbClr val="2FD68C"/>
          </a:solidFill>
          <a:ln w="12700">
            <a:solidFill>
              <a:srgbClr val="2FD68C"/>
            </a:solidFill>
            <a:prstDash val="solid"/>
          </a:ln>
        </p:spPr>
      </p:sp>
      <p:sp>
        <p:nvSpPr>
          <p:cNvPr id="10" name="Shape 8"/>
          <p:cNvSpPr/>
          <p:nvPr/>
        </p:nvSpPr>
        <p:spPr>
          <a:xfrm>
            <a:off x="4389120" y="1188720"/>
            <a:ext cx="1664208" cy="914400"/>
          </a:xfrm>
          <a:prstGeom prst="roundRect">
            <a:avLst>
              <a:gd name="adj" fmla="val 10000"/>
            </a:avLst>
          </a:prstGeom>
          <a:solidFill>
            <a:srgbClr val="0C3A4A"/>
          </a:solidFill>
          <a:ln w="12700">
            <a:solidFill>
              <a:srgbClr val="22D3EE"/>
            </a:solidFill>
            <a:prstDash val="solid"/>
          </a:ln>
        </p:spPr>
      </p:sp>
      <p:sp>
        <p:nvSpPr>
          <p:cNvPr id="11" name="Text 9"/>
          <p:cNvSpPr/>
          <p:nvPr/>
        </p:nvSpPr>
        <p:spPr>
          <a:xfrm>
            <a:off x="4480560" y="1243584"/>
            <a:ext cx="1481328" cy="804672"/>
          </a:xfrm>
          <a:prstGeom prst="rect">
            <a:avLst/>
          </a:prstGeom>
          <a:noFill/>
          <a:ln/>
        </p:spPr>
        <p:txBody>
          <a:bodyPr wrap="square" lIns="0" tIns="0" rIns="0" bIns="0" rtlCol="0" anchor="ctr"/>
          <a:lstStyle/>
          <a:p>
            <a:pPr algn="ctr" indent="0" marL="0">
              <a:lnSpc>
                <a:spcPct val="95000"/>
              </a:lnSpc>
              <a:buNone/>
            </a:pPr>
            <a:r>
              <a:rPr lang="en-US" sz="1050" b="1" dirty="0">
                <a:solidFill>
                  <a:srgbClr val="22D3EE"/>
                </a:solidFill>
                <a:latin typeface="Calibri" pitchFamily="34" charset="0"/>
                <a:ea typeface="Calibri" pitchFamily="34" charset="-122"/>
                <a:cs typeface="Calibri" pitchFamily="34" charset="-120"/>
              </a:rPr>
              <a:t>DQN observes</a:t>
            </a:r>
            <a:endParaRPr lang="en-US" sz="1050" dirty="0"/>
          </a:p>
          <a:p>
            <a:pPr algn="ctr" indent="0" marL="0">
              <a:lnSpc>
                <a:spcPct val="95000"/>
              </a:lnSpc>
              <a:buNone/>
            </a:pPr>
            <a:r>
              <a:rPr lang="en-US" sz="1050" b="1" dirty="0">
                <a:solidFill>
                  <a:srgbClr val="22D3EE"/>
                </a:solidFill>
                <a:latin typeface="Calibri" pitchFamily="34" charset="0"/>
                <a:ea typeface="Calibri" pitchFamily="34" charset="-122"/>
                <a:cs typeface="Calibri" pitchFamily="34" charset="-120"/>
              </a:rPr>
              <a:t>state</a:t>
            </a:r>
            <a:endParaRPr lang="en-US" sz="1050" dirty="0"/>
          </a:p>
        </p:txBody>
      </p:sp>
      <p:sp>
        <p:nvSpPr>
          <p:cNvPr id="12" name="Shape 10"/>
          <p:cNvSpPr/>
          <p:nvPr/>
        </p:nvSpPr>
        <p:spPr>
          <a:xfrm rot="5400000">
            <a:off x="6089904" y="1536192"/>
            <a:ext cx="182880" cy="219456"/>
          </a:xfrm>
          <a:prstGeom prst="triangle">
            <a:avLst/>
          </a:prstGeom>
          <a:solidFill>
            <a:srgbClr val="2FD68C"/>
          </a:solidFill>
          <a:ln w="12700">
            <a:solidFill>
              <a:srgbClr val="2FD68C"/>
            </a:solidFill>
            <a:prstDash val="solid"/>
          </a:ln>
        </p:spPr>
      </p:sp>
      <p:sp>
        <p:nvSpPr>
          <p:cNvPr id="13" name="Shape 11"/>
          <p:cNvSpPr/>
          <p:nvPr/>
        </p:nvSpPr>
        <p:spPr>
          <a:xfrm>
            <a:off x="6309360" y="1188720"/>
            <a:ext cx="1664208" cy="914400"/>
          </a:xfrm>
          <a:prstGeom prst="roundRect">
            <a:avLst>
              <a:gd name="adj" fmla="val 10000"/>
            </a:avLst>
          </a:prstGeom>
          <a:solidFill>
            <a:srgbClr val="1B2B49"/>
          </a:solidFill>
          <a:ln w="12700">
            <a:solidFill>
              <a:srgbClr val="2B3E60"/>
            </a:solidFill>
            <a:prstDash val="solid"/>
          </a:ln>
        </p:spPr>
      </p:sp>
      <p:sp>
        <p:nvSpPr>
          <p:cNvPr id="14" name="Text 12"/>
          <p:cNvSpPr/>
          <p:nvPr/>
        </p:nvSpPr>
        <p:spPr>
          <a:xfrm>
            <a:off x="6400800" y="1243584"/>
            <a:ext cx="1481328" cy="80467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Adaptive signal</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decision</a:t>
            </a:r>
            <a:endParaRPr lang="en-US" sz="1050" dirty="0"/>
          </a:p>
        </p:txBody>
      </p:sp>
      <p:sp>
        <p:nvSpPr>
          <p:cNvPr id="15" name="Shape 13"/>
          <p:cNvSpPr/>
          <p:nvPr/>
        </p:nvSpPr>
        <p:spPr>
          <a:xfrm rot="5400000">
            <a:off x="8010144" y="1536192"/>
            <a:ext cx="182880" cy="219456"/>
          </a:xfrm>
          <a:prstGeom prst="triangle">
            <a:avLst/>
          </a:prstGeom>
          <a:solidFill>
            <a:srgbClr val="2FD68C"/>
          </a:solidFill>
          <a:ln w="12700">
            <a:solidFill>
              <a:srgbClr val="2FD68C"/>
            </a:solidFill>
            <a:prstDash val="solid"/>
          </a:ln>
        </p:spPr>
      </p:sp>
      <p:sp>
        <p:nvSpPr>
          <p:cNvPr id="16" name="Shape 14"/>
          <p:cNvSpPr/>
          <p:nvPr/>
        </p:nvSpPr>
        <p:spPr>
          <a:xfrm>
            <a:off x="8229600" y="1188720"/>
            <a:ext cx="1664208" cy="914400"/>
          </a:xfrm>
          <a:prstGeom prst="roundRect">
            <a:avLst>
              <a:gd name="adj" fmla="val 10000"/>
            </a:avLst>
          </a:prstGeom>
          <a:solidFill>
            <a:srgbClr val="1B2B49"/>
          </a:solidFill>
          <a:ln w="12700">
            <a:solidFill>
              <a:srgbClr val="2B3E60"/>
            </a:solidFill>
            <a:prstDash val="solid"/>
          </a:ln>
        </p:spPr>
      </p:sp>
      <p:sp>
        <p:nvSpPr>
          <p:cNvPr id="17" name="Text 15"/>
          <p:cNvSpPr/>
          <p:nvPr/>
        </p:nvSpPr>
        <p:spPr>
          <a:xfrm>
            <a:off x="8321040" y="1243584"/>
            <a:ext cx="1481328" cy="80467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Smoother flow</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fewer stops</a:t>
            </a:r>
            <a:endParaRPr lang="en-US" sz="1050" dirty="0"/>
          </a:p>
        </p:txBody>
      </p:sp>
      <p:sp>
        <p:nvSpPr>
          <p:cNvPr id="18" name="Shape 16"/>
          <p:cNvSpPr/>
          <p:nvPr/>
        </p:nvSpPr>
        <p:spPr>
          <a:xfrm rot="5400000">
            <a:off x="9930384" y="1536192"/>
            <a:ext cx="182880" cy="219456"/>
          </a:xfrm>
          <a:prstGeom prst="triangle">
            <a:avLst/>
          </a:prstGeom>
          <a:solidFill>
            <a:srgbClr val="2FD68C"/>
          </a:solidFill>
          <a:ln w="12700">
            <a:solidFill>
              <a:srgbClr val="2FD68C"/>
            </a:solidFill>
            <a:prstDash val="solid"/>
          </a:ln>
        </p:spPr>
      </p:sp>
      <p:sp>
        <p:nvSpPr>
          <p:cNvPr id="19" name="Shape 17"/>
          <p:cNvSpPr/>
          <p:nvPr/>
        </p:nvSpPr>
        <p:spPr>
          <a:xfrm>
            <a:off x="10149840" y="1188720"/>
            <a:ext cx="1664208" cy="914400"/>
          </a:xfrm>
          <a:prstGeom prst="roundRect">
            <a:avLst>
              <a:gd name="adj" fmla="val 10000"/>
            </a:avLst>
          </a:prstGeom>
          <a:solidFill>
            <a:srgbClr val="10331F"/>
          </a:solidFill>
          <a:ln w="12700">
            <a:solidFill>
              <a:srgbClr val="2FD68C"/>
            </a:solidFill>
            <a:prstDash val="solid"/>
          </a:ln>
        </p:spPr>
      </p:sp>
      <p:sp>
        <p:nvSpPr>
          <p:cNvPr id="20" name="Text 18"/>
          <p:cNvSpPr/>
          <p:nvPr/>
        </p:nvSpPr>
        <p:spPr>
          <a:xfrm>
            <a:off x="10241280" y="1243584"/>
            <a:ext cx="1481328" cy="804672"/>
          </a:xfrm>
          <a:prstGeom prst="rect">
            <a:avLst/>
          </a:prstGeom>
          <a:noFill/>
          <a:ln/>
        </p:spPr>
        <p:txBody>
          <a:bodyPr wrap="square" lIns="0" tIns="0" rIns="0" bIns="0" rtlCol="0" anchor="ctr"/>
          <a:lstStyle/>
          <a:p>
            <a:pPr algn="ctr" indent="0" marL="0">
              <a:lnSpc>
                <a:spcPct val="95000"/>
              </a:lnSpc>
              <a:buNone/>
            </a:pPr>
            <a:r>
              <a:rPr lang="en-US" sz="1050" b="1" dirty="0">
                <a:solidFill>
                  <a:srgbClr val="2FD68C"/>
                </a:solidFill>
                <a:latin typeface="Calibri" pitchFamily="34" charset="0"/>
                <a:ea typeface="Calibri" pitchFamily="34" charset="-122"/>
                <a:cs typeface="Calibri" pitchFamily="34" charset="-120"/>
              </a:rPr>
              <a:t>Lower estimated</a:t>
            </a:r>
            <a:endParaRPr lang="en-US" sz="1050" dirty="0"/>
          </a:p>
          <a:p>
            <a:pPr algn="ctr" indent="0" marL="0">
              <a:lnSpc>
                <a:spcPct val="95000"/>
              </a:lnSpc>
              <a:buNone/>
            </a:pPr>
            <a:r>
              <a:rPr lang="en-US" sz="1050" b="1" dirty="0">
                <a:solidFill>
                  <a:srgbClr val="2FD68C"/>
                </a:solidFill>
                <a:latin typeface="Calibri" pitchFamily="34" charset="0"/>
                <a:ea typeface="Calibri" pitchFamily="34" charset="-122"/>
                <a:cs typeface="Calibri" pitchFamily="34" charset="-120"/>
              </a:rPr>
              <a:t>fuel &amp; emissions</a:t>
            </a:r>
            <a:endParaRPr lang="en-US" sz="1050" dirty="0"/>
          </a:p>
        </p:txBody>
      </p:sp>
      <p:sp>
        <p:nvSpPr>
          <p:cNvPr id="21" name="Text 19"/>
          <p:cNvSpPr/>
          <p:nvPr/>
        </p:nvSpPr>
        <p:spPr>
          <a:xfrm>
            <a:off x="548640" y="2249424"/>
            <a:ext cx="1828800" cy="219456"/>
          </a:xfrm>
          <a:prstGeom prst="rect">
            <a:avLst/>
          </a:prstGeom>
          <a:noFill/>
          <a:ln/>
        </p:spPr>
        <p:txBody>
          <a:bodyPr wrap="square" lIns="0" tIns="0" rIns="0" bIns="0" rtlCol="0" anchor="ctr"/>
          <a:lstStyle/>
          <a:p>
            <a:pPr indent="0" marL="0">
              <a:buNone/>
            </a:pPr>
            <a:r>
              <a:rPr lang="en-US" sz="900" b="1" spc="160" kern="0" dirty="0">
                <a:solidFill>
                  <a:srgbClr val="6E86A8"/>
                </a:solidFill>
                <a:latin typeface="Arial" pitchFamily="34" charset="0"/>
                <a:ea typeface="Arial" pitchFamily="34" charset="-122"/>
                <a:cs typeface="Arial" pitchFamily="34" charset="-120"/>
              </a:rPr>
              <a:t>IN PARALLEL</a:t>
            </a:r>
            <a:endParaRPr lang="en-US" sz="900" dirty="0"/>
          </a:p>
        </p:txBody>
      </p:sp>
      <p:sp>
        <p:nvSpPr>
          <p:cNvPr id="22" name="Shape 20"/>
          <p:cNvSpPr/>
          <p:nvPr/>
        </p:nvSpPr>
        <p:spPr>
          <a:xfrm>
            <a:off x="548640" y="2487168"/>
            <a:ext cx="3017520" cy="621792"/>
          </a:xfrm>
          <a:prstGeom prst="roundRect">
            <a:avLst>
              <a:gd name="adj" fmla="val 14706"/>
            </a:avLst>
          </a:prstGeom>
          <a:solidFill>
            <a:srgbClr val="15223C"/>
          </a:solidFill>
          <a:ln w="12700">
            <a:solidFill>
              <a:srgbClr val="2B3E60"/>
            </a:solidFill>
            <a:prstDash val="solid"/>
          </a:ln>
        </p:spPr>
      </p:sp>
      <p:sp>
        <p:nvSpPr>
          <p:cNvPr id="23" name="Text 21"/>
          <p:cNvSpPr/>
          <p:nvPr/>
        </p:nvSpPr>
        <p:spPr>
          <a:xfrm>
            <a:off x="640080" y="2542032"/>
            <a:ext cx="2834640" cy="512064"/>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Violation occurs</a:t>
            </a:r>
            <a:endParaRPr lang="en-US" sz="1200" dirty="0"/>
          </a:p>
        </p:txBody>
      </p:sp>
      <p:sp>
        <p:nvSpPr>
          <p:cNvPr id="24" name="Shape 22"/>
          <p:cNvSpPr/>
          <p:nvPr/>
        </p:nvSpPr>
        <p:spPr>
          <a:xfrm rot="5400000">
            <a:off x="3630168" y="2688336"/>
            <a:ext cx="182880" cy="219456"/>
          </a:xfrm>
          <a:prstGeom prst="triangle">
            <a:avLst/>
          </a:prstGeom>
          <a:solidFill>
            <a:srgbClr val="2FD68C"/>
          </a:solidFill>
          <a:ln w="12700">
            <a:solidFill>
              <a:srgbClr val="2FD68C"/>
            </a:solidFill>
            <a:prstDash val="solid"/>
          </a:ln>
        </p:spPr>
      </p:sp>
      <p:sp>
        <p:nvSpPr>
          <p:cNvPr id="25" name="Shape 23"/>
          <p:cNvSpPr/>
          <p:nvPr/>
        </p:nvSpPr>
        <p:spPr>
          <a:xfrm>
            <a:off x="3858768" y="2487168"/>
            <a:ext cx="3017520" cy="621792"/>
          </a:xfrm>
          <a:prstGeom prst="roundRect">
            <a:avLst>
              <a:gd name="adj" fmla="val 14706"/>
            </a:avLst>
          </a:prstGeom>
          <a:solidFill>
            <a:srgbClr val="15223C"/>
          </a:solidFill>
          <a:ln w="12700">
            <a:solidFill>
              <a:srgbClr val="2B3E60"/>
            </a:solidFill>
            <a:prstDash val="solid"/>
          </a:ln>
        </p:spPr>
      </p:sp>
      <p:sp>
        <p:nvSpPr>
          <p:cNvPr id="26" name="Text 24"/>
          <p:cNvSpPr/>
          <p:nvPr/>
        </p:nvSpPr>
        <p:spPr>
          <a:xfrm>
            <a:off x="3950208" y="2542032"/>
            <a:ext cx="2834640" cy="512064"/>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Detected / flagged</a:t>
            </a:r>
            <a:endParaRPr lang="en-US" sz="1200" dirty="0"/>
          </a:p>
        </p:txBody>
      </p:sp>
      <p:sp>
        <p:nvSpPr>
          <p:cNvPr id="27" name="Shape 25"/>
          <p:cNvSpPr/>
          <p:nvPr/>
        </p:nvSpPr>
        <p:spPr>
          <a:xfrm rot="5400000">
            <a:off x="6940296" y="2688336"/>
            <a:ext cx="182880" cy="219456"/>
          </a:xfrm>
          <a:prstGeom prst="triangle">
            <a:avLst/>
          </a:prstGeom>
          <a:solidFill>
            <a:srgbClr val="2FD68C"/>
          </a:solidFill>
          <a:ln w="12700">
            <a:solidFill>
              <a:srgbClr val="2FD68C"/>
            </a:solidFill>
            <a:prstDash val="solid"/>
          </a:ln>
        </p:spPr>
      </p:sp>
      <p:sp>
        <p:nvSpPr>
          <p:cNvPr id="28" name="Shape 26"/>
          <p:cNvSpPr/>
          <p:nvPr/>
        </p:nvSpPr>
        <p:spPr>
          <a:xfrm>
            <a:off x="7168896" y="2487168"/>
            <a:ext cx="4434840" cy="621792"/>
          </a:xfrm>
          <a:prstGeom prst="roundRect">
            <a:avLst>
              <a:gd name="adj" fmla="val 14706"/>
            </a:avLst>
          </a:prstGeom>
          <a:solidFill>
            <a:srgbClr val="15223C"/>
          </a:solidFill>
          <a:ln w="12700">
            <a:solidFill>
              <a:srgbClr val="2FD68C"/>
            </a:solidFill>
            <a:prstDash val="solid"/>
          </a:ln>
        </p:spPr>
      </p:sp>
      <p:sp>
        <p:nvSpPr>
          <p:cNvPr id="29" name="Text 27"/>
          <p:cNvSpPr/>
          <p:nvPr/>
        </p:nvSpPr>
        <p:spPr>
          <a:xfrm>
            <a:off x="7260336" y="2542032"/>
            <a:ext cx="4251960" cy="512064"/>
          </a:xfrm>
          <a:prstGeom prst="rect">
            <a:avLst/>
          </a:prstGeom>
          <a:noFill/>
          <a:ln/>
        </p:spPr>
        <p:txBody>
          <a:bodyPr wrap="square" lIns="0" tIns="0" rIns="0" bIns="0" rtlCol="0" anchor="ctr"/>
          <a:lstStyle/>
          <a:p>
            <a:pPr algn="ctr" indent="0" marL="0">
              <a:lnSpc>
                <a:spcPct val="95000"/>
              </a:lnSpc>
              <a:buNone/>
            </a:pPr>
            <a:r>
              <a:rPr lang="en-US" sz="1200" b="1" dirty="0">
                <a:solidFill>
                  <a:srgbClr val="2FD68C"/>
                </a:solidFill>
                <a:latin typeface="Calibri" pitchFamily="34" charset="0"/>
                <a:ea typeface="Calibri" pitchFamily="34" charset="-122"/>
                <a:cs typeface="Calibri" pitchFamily="34" charset="-120"/>
              </a:rPr>
              <a:t>Penalty in reward  +  monitoring record</a:t>
            </a:r>
            <a:endParaRPr lang="en-US" sz="1200" dirty="0"/>
          </a:p>
        </p:txBody>
      </p:sp>
      <p:sp>
        <p:nvSpPr>
          <p:cNvPr id="30" name="Text 28"/>
          <p:cNvSpPr/>
          <p:nvPr/>
        </p:nvSpPr>
        <p:spPr>
          <a:xfrm>
            <a:off x="548640" y="3310128"/>
            <a:ext cx="3657600" cy="219456"/>
          </a:xfrm>
          <a:prstGeom prst="rect">
            <a:avLst/>
          </a:prstGeom>
          <a:noFill/>
          <a:ln/>
        </p:spPr>
        <p:txBody>
          <a:bodyPr wrap="square" lIns="0" tIns="0" rIns="0" bIns="0" rtlCol="0" anchor="ctr"/>
          <a:lstStyle/>
          <a:p>
            <a:pPr indent="0" marL="0">
              <a:buNone/>
            </a:pPr>
            <a:r>
              <a:rPr lang="en-US" sz="950" b="1" spc="160" kern="0" dirty="0">
                <a:solidFill>
                  <a:srgbClr val="6E86A8"/>
                </a:solidFill>
                <a:latin typeface="Arial" pitchFamily="34" charset="0"/>
                <a:ea typeface="Arial" pitchFamily="34" charset="-122"/>
                <a:cs typeface="Arial" pitchFamily="34" charset="-120"/>
              </a:rPr>
              <a:t>EXPECTED OUTCOMES</a:t>
            </a:r>
            <a:endParaRPr lang="en-US" sz="950" dirty="0"/>
          </a:p>
        </p:txBody>
      </p:sp>
      <p:sp>
        <p:nvSpPr>
          <p:cNvPr id="31" name="Shape 29"/>
          <p:cNvSpPr/>
          <p:nvPr/>
        </p:nvSpPr>
        <p:spPr>
          <a:xfrm>
            <a:off x="548640" y="3584448"/>
            <a:ext cx="3557016" cy="822960"/>
          </a:xfrm>
          <a:prstGeom prst="roundRect">
            <a:avLst>
              <a:gd name="adj" fmla="val 11111"/>
            </a:avLst>
          </a:prstGeom>
          <a:solidFill>
            <a:srgbClr val="15223C"/>
          </a:solidFill>
          <a:ln w="12700">
            <a:solidFill>
              <a:srgbClr val="2B3E60"/>
            </a:solidFill>
            <a:prstDash val="solid"/>
          </a:ln>
        </p:spPr>
      </p:sp>
      <p:sp>
        <p:nvSpPr>
          <p:cNvPr id="32" name="Shape 30"/>
          <p:cNvSpPr/>
          <p:nvPr/>
        </p:nvSpPr>
        <p:spPr>
          <a:xfrm>
            <a:off x="768096" y="3758184"/>
            <a:ext cx="475488" cy="475488"/>
          </a:xfrm>
          <a:prstGeom prst="ellipse">
            <a:avLst/>
          </a:prstGeom>
          <a:solidFill>
            <a:srgbClr val="10331F"/>
          </a:solidFill>
          <a:ln w="12700">
            <a:solidFill>
              <a:srgbClr val="2FD68C"/>
            </a:solidFill>
            <a:prstDash val="solid"/>
          </a:ln>
        </p:spPr>
      </p:sp>
      <p:pic>
        <p:nvPicPr>
          <p:cNvPr id="33" name="Image 0" descr="preencoded.png">    </p:cNvPr>
          <p:cNvPicPr>
            <a:picLocks noChangeAspect="1"/>
          </p:cNvPicPr>
          <p:nvPr/>
        </p:nvPicPr>
        <p:blipFill>
          <a:blip r:embed="rId1"/>
          <a:stretch>
            <a:fillRect/>
          </a:stretch>
        </p:blipFill>
        <p:spPr>
          <a:xfrm>
            <a:off x="896478" y="3886566"/>
            <a:ext cx="218724" cy="218724"/>
          </a:xfrm>
          <a:prstGeom prst="rect">
            <a:avLst/>
          </a:prstGeom>
        </p:spPr>
      </p:pic>
      <p:sp>
        <p:nvSpPr>
          <p:cNvPr id="34" name="Text 31"/>
          <p:cNvSpPr/>
          <p:nvPr/>
        </p:nvSpPr>
        <p:spPr>
          <a:xfrm>
            <a:off x="1389888" y="3584448"/>
            <a:ext cx="2606040" cy="822960"/>
          </a:xfrm>
          <a:prstGeom prst="rect">
            <a:avLst/>
          </a:prstGeom>
          <a:noFill/>
          <a:ln/>
        </p:spPr>
        <p:txBody>
          <a:bodyPr wrap="square" lIns="0" tIns="0" rIns="0" bIns="0" rtlCol="0" anchor="ctr"/>
          <a:lstStyle/>
          <a:p>
            <a:pPr indent="0" marL="0">
              <a:lnSpc>
                <a:spcPct val="95000"/>
              </a:lnSpc>
              <a:buNone/>
            </a:pPr>
            <a:r>
              <a:rPr lang="en-US" sz="1200" dirty="0">
                <a:solidFill>
                  <a:srgbClr val="FFFFFF"/>
                </a:solidFill>
                <a:latin typeface="Calibri" pitchFamily="34" charset="0"/>
                <a:ea typeface="Calibri" pitchFamily="34" charset="-122"/>
                <a:cs typeface="Calibri" pitchFamily="34" charset="-120"/>
              </a:rPr>
              <a:t>Reduced unnecessary stops</a:t>
            </a:r>
            <a:endParaRPr lang="en-US" sz="1200" dirty="0"/>
          </a:p>
        </p:txBody>
      </p:sp>
      <p:sp>
        <p:nvSpPr>
          <p:cNvPr id="35" name="Shape 32"/>
          <p:cNvSpPr/>
          <p:nvPr/>
        </p:nvSpPr>
        <p:spPr>
          <a:xfrm>
            <a:off x="4315968" y="3584448"/>
            <a:ext cx="3557016" cy="822960"/>
          </a:xfrm>
          <a:prstGeom prst="roundRect">
            <a:avLst>
              <a:gd name="adj" fmla="val 11111"/>
            </a:avLst>
          </a:prstGeom>
          <a:solidFill>
            <a:srgbClr val="15223C"/>
          </a:solidFill>
          <a:ln w="12700">
            <a:solidFill>
              <a:srgbClr val="2B3E60"/>
            </a:solidFill>
            <a:prstDash val="solid"/>
          </a:ln>
        </p:spPr>
      </p:sp>
      <p:sp>
        <p:nvSpPr>
          <p:cNvPr id="36" name="Shape 33"/>
          <p:cNvSpPr/>
          <p:nvPr/>
        </p:nvSpPr>
        <p:spPr>
          <a:xfrm>
            <a:off x="4535424" y="3758184"/>
            <a:ext cx="475488" cy="475488"/>
          </a:xfrm>
          <a:prstGeom prst="ellipse">
            <a:avLst/>
          </a:prstGeom>
          <a:solidFill>
            <a:srgbClr val="10331F"/>
          </a:solidFill>
          <a:ln w="12700">
            <a:solidFill>
              <a:srgbClr val="2FD68C"/>
            </a:solidFill>
            <a:prstDash val="solid"/>
          </a:ln>
        </p:spPr>
      </p:sp>
      <p:pic>
        <p:nvPicPr>
          <p:cNvPr id="37" name="Image 1" descr="preencoded.png">    </p:cNvPr>
          <p:cNvPicPr>
            <a:picLocks noChangeAspect="1"/>
          </p:cNvPicPr>
          <p:nvPr/>
        </p:nvPicPr>
        <p:blipFill>
          <a:blip r:embed="rId2"/>
          <a:stretch>
            <a:fillRect/>
          </a:stretch>
        </p:blipFill>
        <p:spPr>
          <a:xfrm>
            <a:off x="4663806" y="3886566"/>
            <a:ext cx="218724" cy="218724"/>
          </a:xfrm>
          <a:prstGeom prst="rect">
            <a:avLst/>
          </a:prstGeom>
        </p:spPr>
      </p:pic>
      <p:sp>
        <p:nvSpPr>
          <p:cNvPr id="38" name="Text 34"/>
          <p:cNvSpPr/>
          <p:nvPr/>
        </p:nvSpPr>
        <p:spPr>
          <a:xfrm>
            <a:off x="5157216" y="3584448"/>
            <a:ext cx="2606040" cy="822960"/>
          </a:xfrm>
          <a:prstGeom prst="rect">
            <a:avLst/>
          </a:prstGeom>
          <a:noFill/>
          <a:ln/>
        </p:spPr>
        <p:txBody>
          <a:bodyPr wrap="square" lIns="0" tIns="0" rIns="0" bIns="0" rtlCol="0" anchor="ctr"/>
          <a:lstStyle/>
          <a:p>
            <a:pPr indent="0" marL="0">
              <a:lnSpc>
                <a:spcPct val="95000"/>
              </a:lnSpc>
              <a:buNone/>
            </a:pPr>
            <a:r>
              <a:rPr lang="en-US" sz="1200" dirty="0">
                <a:solidFill>
                  <a:srgbClr val="FFFFFF"/>
                </a:solidFill>
                <a:latin typeface="Calibri" pitchFamily="34" charset="0"/>
                <a:ea typeface="Calibri" pitchFamily="34" charset="-122"/>
                <a:cs typeface="Calibri" pitchFamily="34" charset="-120"/>
              </a:rPr>
              <a:t>Reduced idle time</a:t>
            </a:r>
            <a:endParaRPr lang="en-US" sz="1200" dirty="0"/>
          </a:p>
        </p:txBody>
      </p:sp>
      <p:sp>
        <p:nvSpPr>
          <p:cNvPr id="39" name="Shape 35"/>
          <p:cNvSpPr/>
          <p:nvPr/>
        </p:nvSpPr>
        <p:spPr>
          <a:xfrm>
            <a:off x="8083296" y="3584448"/>
            <a:ext cx="3557016" cy="822960"/>
          </a:xfrm>
          <a:prstGeom prst="roundRect">
            <a:avLst>
              <a:gd name="adj" fmla="val 11111"/>
            </a:avLst>
          </a:prstGeom>
          <a:solidFill>
            <a:srgbClr val="15223C"/>
          </a:solidFill>
          <a:ln w="12700">
            <a:solidFill>
              <a:srgbClr val="2B3E60"/>
            </a:solidFill>
            <a:prstDash val="solid"/>
          </a:ln>
        </p:spPr>
      </p:sp>
      <p:sp>
        <p:nvSpPr>
          <p:cNvPr id="40" name="Shape 36"/>
          <p:cNvSpPr/>
          <p:nvPr/>
        </p:nvSpPr>
        <p:spPr>
          <a:xfrm>
            <a:off x="8302752" y="3758184"/>
            <a:ext cx="475488" cy="475488"/>
          </a:xfrm>
          <a:prstGeom prst="ellipse">
            <a:avLst/>
          </a:prstGeom>
          <a:solidFill>
            <a:srgbClr val="10331F"/>
          </a:solidFill>
          <a:ln w="12700">
            <a:solidFill>
              <a:srgbClr val="2FD68C"/>
            </a:solidFill>
            <a:prstDash val="solid"/>
          </a:ln>
        </p:spPr>
      </p:sp>
      <p:pic>
        <p:nvPicPr>
          <p:cNvPr id="41" name="Image 2" descr="preencoded.png">    </p:cNvPr>
          <p:cNvPicPr>
            <a:picLocks noChangeAspect="1"/>
          </p:cNvPicPr>
          <p:nvPr/>
        </p:nvPicPr>
        <p:blipFill>
          <a:blip r:embed="rId3"/>
          <a:stretch>
            <a:fillRect/>
          </a:stretch>
        </p:blipFill>
        <p:spPr>
          <a:xfrm>
            <a:off x="8431134" y="3886566"/>
            <a:ext cx="218724" cy="218724"/>
          </a:xfrm>
          <a:prstGeom prst="rect">
            <a:avLst/>
          </a:prstGeom>
        </p:spPr>
      </p:pic>
      <p:sp>
        <p:nvSpPr>
          <p:cNvPr id="42" name="Text 37"/>
          <p:cNvSpPr/>
          <p:nvPr/>
        </p:nvSpPr>
        <p:spPr>
          <a:xfrm>
            <a:off x="8924544" y="3584448"/>
            <a:ext cx="2606040" cy="822960"/>
          </a:xfrm>
          <a:prstGeom prst="rect">
            <a:avLst/>
          </a:prstGeom>
          <a:noFill/>
          <a:ln/>
        </p:spPr>
        <p:txBody>
          <a:bodyPr wrap="square" lIns="0" tIns="0" rIns="0" bIns="0" rtlCol="0" anchor="ctr"/>
          <a:lstStyle/>
          <a:p>
            <a:pPr indent="0" marL="0">
              <a:lnSpc>
                <a:spcPct val="95000"/>
              </a:lnSpc>
              <a:buNone/>
            </a:pPr>
            <a:r>
              <a:rPr lang="en-US" sz="1200" dirty="0">
                <a:solidFill>
                  <a:srgbClr val="FFFFFF"/>
                </a:solidFill>
                <a:latin typeface="Calibri" pitchFamily="34" charset="0"/>
                <a:ea typeface="Calibri" pitchFamily="34" charset="-122"/>
                <a:cs typeface="Calibri" pitchFamily="34" charset="-120"/>
              </a:rPr>
              <a:t>Lower estimated fuel consumption</a:t>
            </a:r>
            <a:endParaRPr lang="en-US" sz="1200" dirty="0"/>
          </a:p>
        </p:txBody>
      </p:sp>
      <p:sp>
        <p:nvSpPr>
          <p:cNvPr id="43" name="Shape 38"/>
          <p:cNvSpPr/>
          <p:nvPr/>
        </p:nvSpPr>
        <p:spPr>
          <a:xfrm>
            <a:off x="548640" y="4572000"/>
            <a:ext cx="3557016" cy="822960"/>
          </a:xfrm>
          <a:prstGeom prst="roundRect">
            <a:avLst>
              <a:gd name="adj" fmla="val 11111"/>
            </a:avLst>
          </a:prstGeom>
          <a:solidFill>
            <a:srgbClr val="15223C"/>
          </a:solidFill>
          <a:ln w="12700">
            <a:solidFill>
              <a:srgbClr val="2B3E60"/>
            </a:solidFill>
            <a:prstDash val="solid"/>
          </a:ln>
        </p:spPr>
      </p:sp>
      <p:sp>
        <p:nvSpPr>
          <p:cNvPr id="44" name="Shape 39"/>
          <p:cNvSpPr/>
          <p:nvPr/>
        </p:nvSpPr>
        <p:spPr>
          <a:xfrm>
            <a:off x="768096" y="4745736"/>
            <a:ext cx="475488" cy="475488"/>
          </a:xfrm>
          <a:prstGeom prst="ellipse">
            <a:avLst/>
          </a:prstGeom>
          <a:solidFill>
            <a:srgbClr val="10331F"/>
          </a:solidFill>
          <a:ln w="12700">
            <a:solidFill>
              <a:srgbClr val="2FD68C"/>
            </a:solidFill>
            <a:prstDash val="solid"/>
          </a:ln>
        </p:spPr>
      </p:sp>
      <p:pic>
        <p:nvPicPr>
          <p:cNvPr id="45" name="Image 3" descr="preencoded.png">    </p:cNvPr>
          <p:cNvPicPr>
            <a:picLocks noChangeAspect="1"/>
          </p:cNvPicPr>
          <p:nvPr/>
        </p:nvPicPr>
        <p:blipFill>
          <a:blip r:embed="rId4"/>
          <a:stretch>
            <a:fillRect/>
          </a:stretch>
        </p:blipFill>
        <p:spPr>
          <a:xfrm>
            <a:off x="896478" y="4874118"/>
            <a:ext cx="218724" cy="218724"/>
          </a:xfrm>
          <a:prstGeom prst="rect">
            <a:avLst/>
          </a:prstGeom>
        </p:spPr>
      </p:pic>
      <p:sp>
        <p:nvSpPr>
          <p:cNvPr id="46" name="Text 40"/>
          <p:cNvSpPr/>
          <p:nvPr/>
        </p:nvSpPr>
        <p:spPr>
          <a:xfrm>
            <a:off x="1389888" y="4572000"/>
            <a:ext cx="2606040" cy="822960"/>
          </a:xfrm>
          <a:prstGeom prst="rect">
            <a:avLst/>
          </a:prstGeom>
          <a:noFill/>
          <a:ln/>
        </p:spPr>
        <p:txBody>
          <a:bodyPr wrap="square" lIns="0" tIns="0" rIns="0" bIns="0" rtlCol="0" anchor="ctr"/>
          <a:lstStyle/>
          <a:p>
            <a:pPr indent="0" marL="0">
              <a:lnSpc>
                <a:spcPct val="95000"/>
              </a:lnSpc>
              <a:buNone/>
            </a:pPr>
            <a:r>
              <a:rPr lang="en-US" sz="1200" dirty="0">
                <a:solidFill>
                  <a:srgbClr val="FFFFFF"/>
                </a:solidFill>
                <a:latin typeface="Calibri" pitchFamily="34" charset="0"/>
                <a:ea typeface="Calibri" pitchFamily="34" charset="-122"/>
                <a:cs typeface="Calibri" pitchFamily="34" charset="-120"/>
              </a:rPr>
              <a:t>Lower estimated emissions</a:t>
            </a:r>
            <a:endParaRPr lang="en-US" sz="1200" dirty="0"/>
          </a:p>
        </p:txBody>
      </p:sp>
      <p:sp>
        <p:nvSpPr>
          <p:cNvPr id="47" name="Shape 41"/>
          <p:cNvSpPr/>
          <p:nvPr/>
        </p:nvSpPr>
        <p:spPr>
          <a:xfrm>
            <a:off x="4315968" y="4572000"/>
            <a:ext cx="3557016" cy="822960"/>
          </a:xfrm>
          <a:prstGeom prst="roundRect">
            <a:avLst>
              <a:gd name="adj" fmla="val 11111"/>
            </a:avLst>
          </a:prstGeom>
          <a:solidFill>
            <a:srgbClr val="15223C"/>
          </a:solidFill>
          <a:ln w="12700">
            <a:solidFill>
              <a:srgbClr val="2B3E60"/>
            </a:solidFill>
            <a:prstDash val="solid"/>
          </a:ln>
        </p:spPr>
      </p:sp>
      <p:sp>
        <p:nvSpPr>
          <p:cNvPr id="48" name="Shape 42"/>
          <p:cNvSpPr/>
          <p:nvPr/>
        </p:nvSpPr>
        <p:spPr>
          <a:xfrm>
            <a:off x="4535424" y="4745736"/>
            <a:ext cx="475488" cy="475488"/>
          </a:xfrm>
          <a:prstGeom prst="ellipse">
            <a:avLst/>
          </a:prstGeom>
          <a:solidFill>
            <a:srgbClr val="10331F"/>
          </a:solidFill>
          <a:ln w="12700">
            <a:solidFill>
              <a:srgbClr val="2FD68C"/>
            </a:solidFill>
            <a:prstDash val="solid"/>
          </a:ln>
        </p:spPr>
      </p:sp>
      <p:pic>
        <p:nvPicPr>
          <p:cNvPr id="49" name="Image 4" descr="preencoded.png">    </p:cNvPr>
          <p:cNvPicPr>
            <a:picLocks noChangeAspect="1"/>
          </p:cNvPicPr>
          <p:nvPr/>
        </p:nvPicPr>
        <p:blipFill>
          <a:blip r:embed="rId5"/>
          <a:stretch>
            <a:fillRect/>
          </a:stretch>
        </p:blipFill>
        <p:spPr>
          <a:xfrm>
            <a:off x="4663806" y="4874118"/>
            <a:ext cx="218724" cy="218724"/>
          </a:xfrm>
          <a:prstGeom prst="rect">
            <a:avLst/>
          </a:prstGeom>
        </p:spPr>
      </p:pic>
      <p:sp>
        <p:nvSpPr>
          <p:cNvPr id="50" name="Text 43"/>
          <p:cNvSpPr/>
          <p:nvPr/>
        </p:nvSpPr>
        <p:spPr>
          <a:xfrm>
            <a:off x="5157216" y="4572000"/>
            <a:ext cx="2606040" cy="822960"/>
          </a:xfrm>
          <a:prstGeom prst="rect">
            <a:avLst/>
          </a:prstGeom>
          <a:noFill/>
          <a:ln/>
        </p:spPr>
        <p:txBody>
          <a:bodyPr wrap="square" lIns="0" tIns="0" rIns="0" bIns="0" rtlCol="0" anchor="ctr"/>
          <a:lstStyle/>
          <a:p>
            <a:pPr indent="0" marL="0">
              <a:lnSpc>
                <a:spcPct val="95000"/>
              </a:lnSpc>
              <a:buNone/>
            </a:pPr>
            <a:r>
              <a:rPr lang="en-US" sz="1200" dirty="0">
                <a:solidFill>
                  <a:srgbClr val="FFFFFF"/>
                </a:solidFill>
                <a:latin typeface="Calibri" pitchFamily="34" charset="0"/>
                <a:ea typeface="Calibri" pitchFamily="34" charset="-122"/>
                <a:cs typeface="Calibri" pitchFamily="34" charset="-120"/>
              </a:rPr>
              <a:t>Violations detected and flagged</a:t>
            </a:r>
            <a:endParaRPr lang="en-US" sz="1200" dirty="0"/>
          </a:p>
        </p:txBody>
      </p:sp>
      <p:sp>
        <p:nvSpPr>
          <p:cNvPr id="51" name="Shape 44"/>
          <p:cNvSpPr/>
          <p:nvPr/>
        </p:nvSpPr>
        <p:spPr>
          <a:xfrm>
            <a:off x="8083296" y="4572000"/>
            <a:ext cx="3557016" cy="822960"/>
          </a:xfrm>
          <a:prstGeom prst="roundRect">
            <a:avLst>
              <a:gd name="adj" fmla="val 11111"/>
            </a:avLst>
          </a:prstGeom>
          <a:solidFill>
            <a:srgbClr val="15223C"/>
          </a:solidFill>
          <a:ln w="12700">
            <a:solidFill>
              <a:srgbClr val="2B3E60"/>
            </a:solidFill>
            <a:prstDash val="solid"/>
          </a:ln>
        </p:spPr>
      </p:sp>
      <p:sp>
        <p:nvSpPr>
          <p:cNvPr id="52" name="Shape 45"/>
          <p:cNvSpPr/>
          <p:nvPr/>
        </p:nvSpPr>
        <p:spPr>
          <a:xfrm>
            <a:off x="8302752" y="4745736"/>
            <a:ext cx="475488" cy="475488"/>
          </a:xfrm>
          <a:prstGeom prst="ellipse">
            <a:avLst/>
          </a:prstGeom>
          <a:solidFill>
            <a:srgbClr val="10331F"/>
          </a:solidFill>
          <a:ln w="12700">
            <a:solidFill>
              <a:srgbClr val="2FD68C"/>
            </a:solidFill>
            <a:prstDash val="solid"/>
          </a:ln>
        </p:spPr>
      </p:sp>
      <p:pic>
        <p:nvPicPr>
          <p:cNvPr id="53" name="Image 5" descr="preencoded.png">    </p:cNvPr>
          <p:cNvPicPr>
            <a:picLocks noChangeAspect="1"/>
          </p:cNvPicPr>
          <p:nvPr/>
        </p:nvPicPr>
        <p:blipFill>
          <a:blip r:embed="rId6"/>
          <a:stretch>
            <a:fillRect/>
          </a:stretch>
        </p:blipFill>
        <p:spPr>
          <a:xfrm>
            <a:off x="8431134" y="4874118"/>
            <a:ext cx="218724" cy="218724"/>
          </a:xfrm>
          <a:prstGeom prst="rect">
            <a:avLst/>
          </a:prstGeom>
        </p:spPr>
      </p:pic>
      <p:sp>
        <p:nvSpPr>
          <p:cNvPr id="54" name="Text 46"/>
          <p:cNvSpPr/>
          <p:nvPr/>
        </p:nvSpPr>
        <p:spPr>
          <a:xfrm>
            <a:off x="8924544" y="4572000"/>
            <a:ext cx="2606040" cy="822960"/>
          </a:xfrm>
          <a:prstGeom prst="rect">
            <a:avLst/>
          </a:prstGeom>
          <a:noFill/>
          <a:ln/>
        </p:spPr>
        <p:txBody>
          <a:bodyPr wrap="square" lIns="0" tIns="0" rIns="0" bIns="0" rtlCol="0" anchor="ctr"/>
          <a:lstStyle/>
          <a:p>
            <a:pPr indent="0" marL="0">
              <a:lnSpc>
                <a:spcPct val="95000"/>
              </a:lnSpc>
              <a:buNone/>
            </a:pPr>
            <a:r>
              <a:rPr lang="en-US" sz="1200" dirty="0">
                <a:solidFill>
                  <a:srgbClr val="FFFFFF"/>
                </a:solidFill>
                <a:latin typeface="Calibri" pitchFamily="34" charset="0"/>
                <a:ea typeface="Calibri" pitchFamily="34" charset="-122"/>
                <a:cs typeface="Calibri" pitchFamily="34" charset="-120"/>
              </a:rPr>
              <a:t>Smoother overall traffic flow</a:t>
            </a:r>
            <a:endParaRPr lang="en-US" sz="1200" dirty="0"/>
          </a:p>
        </p:txBody>
      </p:sp>
      <p:sp>
        <p:nvSpPr>
          <p:cNvPr id="55" name="Text 47"/>
          <p:cNvSpPr/>
          <p:nvPr/>
        </p:nvSpPr>
        <p:spPr>
          <a:xfrm>
            <a:off x="548640" y="5532120"/>
            <a:ext cx="7863840" cy="274320"/>
          </a:xfrm>
          <a:prstGeom prst="rect">
            <a:avLst/>
          </a:prstGeom>
          <a:noFill/>
          <a:ln/>
        </p:spPr>
        <p:txBody>
          <a:bodyPr wrap="square" lIns="0" tIns="0" rIns="0" bIns="0" rtlCol="0" anchor="ctr"/>
          <a:lstStyle/>
          <a:p>
            <a:pPr indent="0" marL="0">
              <a:buNone/>
            </a:pPr>
            <a:r>
              <a:rPr lang="en-US" sz="1100" i="1" dirty="0">
                <a:solidFill>
                  <a:srgbClr val="F5B041"/>
                </a:solidFill>
                <a:latin typeface="Calibri" pitchFamily="34" charset="0"/>
                <a:ea typeface="Calibri" pitchFamily="34" charset="-122"/>
                <a:cs typeface="Calibri" pitchFamily="34" charset="-120"/>
              </a:rPr>
              <a:t>All outcomes are expected results — actual values to be evaluated experimentally in simulation.</a:t>
            </a:r>
            <a:endParaRPr lang="en-US" sz="1100" dirty="0"/>
          </a:p>
        </p:txBody>
      </p:sp>
      <p:sp>
        <p:nvSpPr>
          <p:cNvPr id="56" name="Text 48"/>
          <p:cNvSpPr/>
          <p:nvPr/>
        </p:nvSpPr>
        <p:spPr>
          <a:xfrm>
            <a:off x="548640" y="5943600"/>
            <a:ext cx="7772400" cy="274320"/>
          </a:xfrm>
          <a:prstGeom prst="rect">
            <a:avLst/>
          </a:prstGeom>
          <a:noFill/>
          <a:ln/>
        </p:spPr>
        <p:txBody>
          <a:bodyPr wrap="square" lIns="0" tIns="0" rIns="0" bIns="0" rtlCol="0" anchor="ctr"/>
          <a:lstStyle/>
          <a:p>
            <a:pPr indent="0" marL="0">
              <a:buNone/>
            </a:pPr>
            <a:r>
              <a:rPr lang="en-US" sz="1100" i="1" dirty="0">
                <a:solidFill>
                  <a:srgbClr val="6E86A8"/>
                </a:solidFill>
                <a:latin typeface="Calibri" pitchFamily="34" charset="0"/>
                <a:ea typeface="Calibri" pitchFamily="34" charset="-122"/>
                <a:cs typeface="Calibri" pitchFamily="34" charset="-120"/>
              </a:rPr>
              <a:t>Handing over to Delna, who covers adaptive traffic congestion reduction.</a:t>
            </a:r>
            <a:endParaRPr lang="en-US" sz="1100" dirty="0"/>
          </a:p>
        </p:txBody>
      </p:sp>
      <p:sp>
        <p:nvSpPr>
          <p:cNvPr id="58" name="Text 49"/>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Shaun Joseph Sabu</a:t>
            </a:r>
            <a:endParaRPr lang="en-US" sz="950" dirty="0"/>
          </a:p>
        </p:txBody>
      </p:sp>
      <p:sp>
        <p:nvSpPr>
          <p:cNvPr id="59" name="Text 50"/>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FD68C"/>
                </a:solidFill>
                <a:latin typeface="Calibri" pitchFamily="34" charset="0"/>
                <a:ea typeface="Calibri" pitchFamily="34" charset="-122"/>
                <a:cs typeface="Calibri" pitchFamily="34" charset="-120"/>
              </a:rPr>
              <a:t>13 / 22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6"/>
        </a:solidFill>
      </p:bgPr>
    </p:bg>
    <p:spTree>
      <p:nvGrpSpPr>
        <p:cNvPr id="1" name=""/>
        <p:cNvGrpSpPr/>
        <p:nvPr/>
      </p:nvGrpSpPr>
      <p:grpSpPr>
        <a:xfrm>
          <a:off x="0" y="0"/>
          <a:ext cx="0" cy="0"/>
          <a:chOff x="0" y="0"/>
          <a:chExt cx="0" cy="0"/>
        </a:xfrm>
      </p:grpSpPr>
      <p:sp>
        <p:nvSpPr>
          <p:cNvPr id="2" name="Shape 0"/>
          <p:cNvSpPr/>
          <p:nvPr/>
        </p:nvSpPr>
        <p:spPr>
          <a:xfrm>
            <a:off x="7818120" y="0"/>
            <a:ext cx="4370832" cy="6858000"/>
          </a:xfrm>
          <a:prstGeom prst="rect">
            <a:avLst/>
          </a:prstGeom>
          <a:solidFill>
            <a:srgbClr val="0D1730"/>
          </a:solidFill>
          <a:ln w="12700">
            <a:solidFill>
              <a:srgbClr val="333333"/>
            </a:solidFill>
            <a:prstDash val="solid"/>
          </a:ln>
        </p:spPr>
      </p:sp>
      <p:sp>
        <p:nvSpPr>
          <p:cNvPr id="3" name="Text 1"/>
          <p:cNvSpPr/>
          <p:nvPr/>
        </p:nvSpPr>
        <p:spPr>
          <a:xfrm>
            <a:off x="411480" y="749808"/>
            <a:ext cx="2926080" cy="1737360"/>
          </a:xfrm>
          <a:prstGeom prst="rect">
            <a:avLst/>
          </a:prstGeom>
          <a:noFill/>
          <a:ln/>
        </p:spPr>
        <p:txBody>
          <a:bodyPr wrap="square" lIns="0" tIns="0" rIns="0" bIns="0" rtlCol="0" anchor="ctr"/>
          <a:lstStyle/>
          <a:p>
            <a:pPr indent="0" marL="0">
              <a:buNone/>
            </a:pPr>
            <a:r>
              <a:rPr lang="en-US" sz="12200" b="1" dirty="0">
                <a:solidFill>
                  <a:srgbClr val="15294A"/>
                </a:solidFill>
                <a:latin typeface="Arial" pitchFamily="34" charset="0"/>
                <a:ea typeface="Arial" pitchFamily="34" charset="-122"/>
                <a:cs typeface="Arial" pitchFamily="34" charset="-120"/>
              </a:rPr>
              <a:t>03</a:t>
            </a:r>
            <a:endParaRPr lang="en-US" sz="12200" dirty="0"/>
          </a:p>
        </p:txBody>
      </p:sp>
      <p:sp>
        <p:nvSpPr>
          <p:cNvPr id="4" name="Text 2"/>
          <p:cNvSpPr/>
          <p:nvPr/>
        </p:nvSpPr>
        <p:spPr>
          <a:xfrm>
            <a:off x="566928" y="475488"/>
            <a:ext cx="5486400" cy="274320"/>
          </a:xfrm>
          <a:prstGeom prst="rect">
            <a:avLst/>
          </a:prstGeom>
          <a:noFill/>
          <a:ln/>
        </p:spPr>
        <p:txBody>
          <a:bodyPr wrap="square" lIns="0" tIns="0" rIns="0" bIns="0" rtlCol="0" anchor="ctr"/>
          <a:lstStyle/>
          <a:p>
            <a:pPr indent="0" marL="0">
              <a:buNone/>
            </a:pPr>
            <a:r>
              <a:rPr lang="en-US" sz="1050" b="1" spc="200" kern="0" dirty="0">
                <a:solidFill>
                  <a:srgbClr val="4D9BFF"/>
                </a:solidFill>
                <a:latin typeface="Arial" pitchFamily="34" charset="0"/>
                <a:ea typeface="Arial" pitchFamily="34" charset="-122"/>
                <a:cs typeface="Arial" pitchFamily="34" charset="-120"/>
              </a:rPr>
              <a:t>SECTION 03  ·  SLIDES 14–18</a:t>
            </a:r>
            <a:endParaRPr lang="en-US" sz="1050" dirty="0"/>
          </a:p>
        </p:txBody>
      </p:sp>
      <p:sp>
        <p:nvSpPr>
          <p:cNvPr id="5" name="Text 3"/>
          <p:cNvSpPr/>
          <p:nvPr/>
        </p:nvSpPr>
        <p:spPr>
          <a:xfrm>
            <a:off x="548640" y="2697480"/>
            <a:ext cx="6858000" cy="640080"/>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DELNA LIZ DENNY</a:t>
            </a:r>
            <a:endParaRPr lang="en-US" sz="3300" dirty="0"/>
          </a:p>
        </p:txBody>
      </p:sp>
      <p:sp>
        <p:nvSpPr>
          <p:cNvPr id="6" name="Text 4"/>
          <p:cNvSpPr/>
          <p:nvPr/>
        </p:nvSpPr>
        <p:spPr>
          <a:xfrm>
            <a:off x="548640" y="3383280"/>
            <a:ext cx="6949440" cy="822960"/>
          </a:xfrm>
          <a:prstGeom prst="rect">
            <a:avLst/>
          </a:prstGeom>
          <a:noFill/>
          <a:ln/>
        </p:spPr>
        <p:txBody>
          <a:bodyPr wrap="square" lIns="0" tIns="0" rIns="0" bIns="0" rtlCol="0" anchor="ctr"/>
          <a:lstStyle/>
          <a:p>
            <a:pPr indent="0" marL="0">
              <a:lnSpc>
                <a:spcPct val="100000"/>
              </a:lnSpc>
              <a:buNone/>
            </a:pPr>
            <a:r>
              <a:rPr lang="en-US" sz="1800" b="1" dirty="0">
                <a:solidFill>
                  <a:srgbClr val="4D9BFF"/>
                </a:solidFill>
                <a:latin typeface="Arial" pitchFamily="34" charset="0"/>
                <a:ea typeface="Arial" pitchFamily="34" charset="-122"/>
                <a:cs typeface="Arial" pitchFamily="34" charset="-120"/>
              </a:rPr>
              <a:t>Adaptive Traffic</a:t>
            </a:r>
            <a:endParaRPr lang="en-US" sz="1800" dirty="0"/>
          </a:p>
          <a:p>
            <a:pPr indent="0" marL="0">
              <a:lnSpc>
                <a:spcPct val="100000"/>
              </a:lnSpc>
              <a:buNone/>
            </a:pPr>
            <a:r>
              <a:rPr lang="en-US" sz="1800" b="1" dirty="0">
                <a:solidFill>
                  <a:srgbClr val="4D9BFF"/>
                </a:solidFill>
                <a:latin typeface="Arial" pitchFamily="34" charset="0"/>
                <a:ea typeface="Arial" pitchFamily="34" charset="-122"/>
                <a:cs typeface="Arial" pitchFamily="34" charset="-120"/>
              </a:rPr>
              <a:t>Congestion Reduction Agent</a:t>
            </a:r>
            <a:endParaRPr lang="en-US" sz="1800" dirty="0"/>
          </a:p>
        </p:txBody>
      </p:sp>
      <p:sp>
        <p:nvSpPr>
          <p:cNvPr id="7" name="Shape 5"/>
          <p:cNvSpPr/>
          <p:nvPr/>
        </p:nvSpPr>
        <p:spPr>
          <a:xfrm>
            <a:off x="548640" y="4462272"/>
            <a:ext cx="6949440" cy="1463040"/>
          </a:xfrm>
          <a:prstGeom prst="roundRect">
            <a:avLst>
              <a:gd name="adj" fmla="val 6250"/>
            </a:avLst>
          </a:prstGeom>
          <a:solidFill>
            <a:srgbClr val="15223C"/>
          </a:solidFill>
          <a:ln w="12700">
            <a:solidFill>
              <a:srgbClr val="2B3E60"/>
            </a:solidFill>
            <a:prstDash val="solid"/>
          </a:ln>
        </p:spPr>
      </p:sp>
      <p:sp>
        <p:nvSpPr>
          <p:cNvPr id="8" name="Text 6"/>
          <p:cNvSpPr/>
          <p:nvPr/>
        </p:nvSpPr>
        <p:spPr>
          <a:xfrm>
            <a:off x="804672" y="4645152"/>
            <a:ext cx="3657600" cy="237744"/>
          </a:xfrm>
          <a:prstGeom prst="rect">
            <a:avLst/>
          </a:prstGeom>
          <a:noFill/>
          <a:ln/>
        </p:spPr>
        <p:txBody>
          <a:bodyPr wrap="square" lIns="0" tIns="0" rIns="0" bIns="0" rtlCol="0" anchor="ctr"/>
          <a:lstStyle/>
          <a:p>
            <a:pPr indent="0" marL="0">
              <a:buNone/>
            </a:pPr>
            <a:r>
              <a:rPr lang="en-US" sz="950" b="1" spc="160" kern="0" dirty="0">
                <a:solidFill>
                  <a:srgbClr val="4D9BFF"/>
                </a:solidFill>
                <a:latin typeface="Arial" pitchFamily="34" charset="0"/>
                <a:ea typeface="Arial" pitchFamily="34" charset="-122"/>
                <a:cs typeface="Arial" pitchFamily="34" charset="-120"/>
              </a:rPr>
              <a:t>OBJECTIVE</a:t>
            </a:r>
            <a:endParaRPr lang="en-US" sz="950" dirty="0"/>
          </a:p>
        </p:txBody>
      </p:sp>
      <p:sp>
        <p:nvSpPr>
          <p:cNvPr id="9" name="Text 7"/>
          <p:cNvSpPr/>
          <p:nvPr/>
        </p:nvSpPr>
        <p:spPr>
          <a:xfrm>
            <a:off x="804672" y="4937760"/>
            <a:ext cx="6437376" cy="868680"/>
          </a:xfrm>
          <a:prstGeom prst="rect">
            <a:avLst/>
          </a:prstGeom>
          <a:noFill/>
          <a:ln/>
        </p:spPr>
        <p:txBody>
          <a:bodyPr wrap="square" lIns="0" tIns="0" rIns="0" bIns="0" rtlCol="0" anchor="t"/>
          <a:lstStyle/>
          <a:p>
            <a:pPr indent="0" marL="0">
              <a:lnSpc>
                <a:spcPct val="105000"/>
              </a:lnSpc>
              <a:buNone/>
            </a:pPr>
            <a:r>
              <a:rPr lang="en-US" sz="1350" dirty="0">
                <a:solidFill>
                  <a:srgbClr val="9DB2CE"/>
                </a:solidFill>
                <a:latin typeface="Calibri" pitchFamily="34" charset="0"/>
                <a:ea typeface="Calibri" pitchFamily="34" charset="-122"/>
                <a:cs typeface="Calibri" pitchFamily="34" charset="-120"/>
              </a:rPr>
              <a:t>Develop an objective-focused agent that reduces traffic congestion by minimizing vehicle queue lengths and waiting times through adaptive traffic signal control.</a:t>
            </a:r>
            <a:endParaRPr lang="en-US" sz="1350" dirty="0"/>
          </a:p>
        </p:txBody>
      </p:sp>
      <p:sp>
        <p:nvSpPr>
          <p:cNvPr id="10" name="Shape 8"/>
          <p:cNvSpPr/>
          <p:nvPr/>
        </p:nvSpPr>
        <p:spPr>
          <a:xfrm>
            <a:off x="8887968" y="2331720"/>
            <a:ext cx="2240280" cy="2240280"/>
          </a:xfrm>
          <a:prstGeom prst="ellipse">
            <a:avLst/>
          </a:prstGeom>
          <a:solidFill>
            <a:srgbClr val="132B4D"/>
          </a:solidFill>
          <a:ln w="15875">
            <a:solidFill>
              <a:srgbClr val="4D9BFF"/>
            </a:solidFill>
            <a:prstDash val="solid"/>
          </a:ln>
        </p:spPr>
      </p:sp>
      <p:pic>
        <p:nvPicPr>
          <p:cNvPr id="11" name="Image 0" descr="preencoded.png">    </p:cNvPr>
          <p:cNvPicPr>
            <a:picLocks noChangeAspect="1"/>
          </p:cNvPicPr>
          <p:nvPr/>
        </p:nvPicPr>
        <p:blipFill>
          <a:blip r:embed="rId1"/>
          <a:stretch>
            <a:fillRect/>
          </a:stretch>
        </p:blipFill>
        <p:spPr>
          <a:xfrm>
            <a:off x="9436608" y="2880360"/>
            <a:ext cx="1143000" cy="1143000"/>
          </a:xfrm>
          <a:prstGeom prst="rect">
            <a:avLst/>
          </a:prstGeom>
        </p:spPr>
      </p:pic>
      <p:sp>
        <p:nvSpPr>
          <p:cNvPr id="12" name="Text 9"/>
          <p:cNvSpPr/>
          <p:nvPr/>
        </p:nvSpPr>
        <p:spPr>
          <a:xfrm>
            <a:off x="8183880" y="4892040"/>
            <a:ext cx="3657600" cy="365760"/>
          </a:xfrm>
          <a:prstGeom prst="rect">
            <a:avLst/>
          </a:prstGeom>
          <a:noFill/>
          <a:ln/>
        </p:spPr>
        <p:txBody>
          <a:bodyPr wrap="square" lIns="0" tIns="0" rIns="0" bIns="0" rtlCol="0" anchor="ctr"/>
          <a:lstStyle/>
          <a:p>
            <a:pPr algn="ctr" indent="0" marL="0">
              <a:buNone/>
            </a:pPr>
            <a:r>
              <a:rPr lang="en-US" sz="1200" b="1" spc="100" kern="0" dirty="0">
                <a:solidFill>
                  <a:srgbClr val="4D9BFF"/>
                </a:solidFill>
                <a:latin typeface="Arial" pitchFamily="34" charset="0"/>
                <a:ea typeface="Arial" pitchFamily="34" charset="-122"/>
                <a:cs typeface="Arial" pitchFamily="34" charset="-120"/>
              </a:rPr>
              <a:t>CONGESTION REDUCTION</a:t>
            </a:r>
            <a:endParaRPr lang="en-US" sz="1200" dirty="0"/>
          </a:p>
        </p:txBody>
      </p:sp>
      <p:sp>
        <p:nvSpPr>
          <p:cNvPr id="14" name="Text 10"/>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Delna Liz Denny</a:t>
            </a:r>
            <a:endParaRPr lang="en-US" sz="950" dirty="0"/>
          </a:p>
        </p:txBody>
      </p:sp>
      <p:sp>
        <p:nvSpPr>
          <p:cNvPr id="15" name="Text 11"/>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4D9BFF"/>
                </a:solidFill>
                <a:latin typeface="Calibri" pitchFamily="34" charset="0"/>
                <a:ea typeface="Calibri" pitchFamily="34" charset="-122"/>
                <a:cs typeface="Calibri" pitchFamily="34" charset="-120"/>
              </a:rPr>
              <a:t>14 / 22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4D9BFF"/>
                </a:solidFill>
                <a:latin typeface="Arial" pitchFamily="34" charset="0"/>
                <a:ea typeface="Arial" pitchFamily="34" charset="-122"/>
                <a:cs typeface="Arial" pitchFamily="34" charset="-120"/>
              </a:rPr>
              <a:t>CONGESTION REDUCTION  ·  THE PROBLEM</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Equal Green Time for Unequal Demand</a:t>
            </a:r>
            <a:endParaRPr lang="en-US" sz="2800" dirty="0"/>
          </a:p>
        </p:txBody>
      </p:sp>
      <p:sp>
        <p:nvSpPr>
          <p:cNvPr id="4" name="Shape 2"/>
          <p:cNvSpPr/>
          <p:nvPr/>
        </p:nvSpPr>
        <p:spPr>
          <a:xfrm>
            <a:off x="548640" y="1207008"/>
            <a:ext cx="5532120" cy="3291840"/>
          </a:xfrm>
          <a:prstGeom prst="roundRect">
            <a:avLst>
              <a:gd name="adj" fmla="val 2778"/>
            </a:avLst>
          </a:prstGeom>
          <a:solidFill>
            <a:srgbClr val="15223C"/>
          </a:solidFill>
          <a:ln w="12700">
            <a:solidFill>
              <a:srgbClr val="2B3E60"/>
            </a:solidFill>
            <a:prstDash val="solid"/>
          </a:ln>
        </p:spPr>
      </p:sp>
      <p:sp>
        <p:nvSpPr>
          <p:cNvPr id="5" name="Text 3"/>
          <p:cNvSpPr/>
          <p:nvPr/>
        </p:nvSpPr>
        <p:spPr>
          <a:xfrm>
            <a:off x="804672" y="1389888"/>
            <a:ext cx="3657600" cy="219456"/>
          </a:xfrm>
          <a:prstGeom prst="rect">
            <a:avLst/>
          </a:prstGeom>
          <a:noFill/>
          <a:ln/>
        </p:spPr>
        <p:txBody>
          <a:bodyPr wrap="square" lIns="0" tIns="0" rIns="0" bIns="0" rtlCol="0" anchor="ctr"/>
          <a:lstStyle/>
          <a:p>
            <a:pPr indent="0" marL="0">
              <a:buNone/>
            </a:pPr>
            <a:r>
              <a:rPr lang="en-US" sz="950" b="1" spc="160" kern="0" dirty="0">
                <a:solidFill>
                  <a:srgbClr val="6E86A8"/>
                </a:solidFill>
                <a:latin typeface="Arial" pitchFamily="34" charset="0"/>
                <a:ea typeface="Arial" pitchFamily="34" charset="-122"/>
                <a:cs typeface="Arial" pitchFamily="34" charset="-120"/>
              </a:rPr>
              <a:t>FIXED-TIME ALLOCATION</a:t>
            </a:r>
            <a:endParaRPr lang="en-US" sz="950" dirty="0"/>
          </a:p>
        </p:txBody>
      </p:sp>
      <p:sp>
        <p:nvSpPr>
          <p:cNvPr id="6" name="Text 4"/>
          <p:cNvSpPr/>
          <p:nvPr/>
        </p:nvSpPr>
        <p:spPr>
          <a:xfrm>
            <a:off x="804672" y="1700784"/>
            <a:ext cx="109728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ROAD A</a:t>
            </a:r>
            <a:endParaRPr lang="en-US" sz="1150" dirty="0"/>
          </a:p>
        </p:txBody>
      </p:sp>
      <p:sp>
        <p:nvSpPr>
          <p:cNvPr id="7" name="Text 5"/>
          <p:cNvSpPr/>
          <p:nvPr/>
        </p:nvSpPr>
        <p:spPr>
          <a:xfrm>
            <a:off x="1874520" y="1700784"/>
            <a:ext cx="2194560" cy="237744"/>
          </a:xfrm>
          <a:prstGeom prst="rect">
            <a:avLst/>
          </a:prstGeom>
          <a:noFill/>
          <a:ln/>
        </p:spPr>
        <p:txBody>
          <a:bodyPr wrap="square" lIns="0" tIns="0" rIns="0" bIns="0" rtlCol="0" anchor="ctr"/>
          <a:lstStyle/>
          <a:p>
            <a:pPr indent="0" marL="0">
              <a:buNone/>
            </a:pPr>
            <a:r>
              <a:rPr lang="en-US" sz="1100" dirty="0">
                <a:solidFill>
                  <a:srgbClr val="E74C3C"/>
                </a:solidFill>
                <a:latin typeface="Calibri" pitchFamily="34" charset="0"/>
                <a:ea typeface="Calibri" pitchFamily="34" charset="-122"/>
                <a:cs typeface="Calibri" pitchFamily="34" charset="-120"/>
              </a:rPr>
              <a:t>30 vehicles waiting</a:t>
            </a:r>
            <a:endParaRPr lang="en-US" sz="1100" dirty="0"/>
          </a:p>
        </p:txBody>
      </p:sp>
      <p:sp>
        <p:nvSpPr>
          <p:cNvPr id="8" name="Shape 6"/>
          <p:cNvSpPr/>
          <p:nvPr/>
        </p:nvSpPr>
        <p:spPr>
          <a:xfrm>
            <a:off x="804672" y="1975104"/>
            <a:ext cx="5029200" cy="420624"/>
          </a:xfrm>
          <a:prstGeom prst="rect">
            <a:avLst/>
          </a:prstGeom>
          <a:solidFill>
            <a:srgbClr val="0D1730"/>
          </a:solidFill>
          <a:ln w="12700">
            <a:solidFill>
              <a:srgbClr val="333333"/>
            </a:solidFill>
            <a:prstDash val="solid"/>
          </a:ln>
        </p:spPr>
      </p:sp>
      <p:sp>
        <p:nvSpPr>
          <p:cNvPr id="9" name="Shape 7"/>
          <p:cNvSpPr/>
          <p:nvPr/>
        </p:nvSpPr>
        <p:spPr>
          <a:xfrm>
            <a:off x="877824" y="2048256"/>
            <a:ext cx="256032" cy="274320"/>
          </a:xfrm>
          <a:prstGeom prst="roundRect">
            <a:avLst>
              <a:gd name="adj" fmla="val 14286"/>
            </a:avLst>
          </a:prstGeom>
          <a:solidFill>
            <a:srgbClr val="4D9BFF"/>
          </a:solidFill>
          <a:ln w="12700">
            <a:solidFill>
              <a:srgbClr val="333333"/>
            </a:solidFill>
            <a:prstDash val="solid"/>
          </a:ln>
        </p:spPr>
      </p:sp>
      <p:sp>
        <p:nvSpPr>
          <p:cNvPr id="10" name="Shape 8"/>
          <p:cNvSpPr/>
          <p:nvPr/>
        </p:nvSpPr>
        <p:spPr>
          <a:xfrm>
            <a:off x="1207008" y="2048256"/>
            <a:ext cx="256032" cy="274320"/>
          </a:xfrm>
          <a:prstGeom prst="roundRect">
            <a:avLst>
              <a:gd name="adj" fmla="val 14286"/>
            </a:avLst>
          </a:prstGeom>
          <a:solidFill>
            <a:srgbClr val="4D9BFF"/>
          </a:solidFill>
          <a:ln w="12700">
            <a:solidFill>
              <a:srgbClr val="333333"/>
            </a:solidFill>
            <a:prstDash val="solid"/>
          </a:ln>
        </p:spPr>
      </p:sp>
      <p:sp>
        <p:nvSpPr>
          <p:cNvPr id="11" name="Shape 9"/>
          <p:cNvSpPr/>
          <p:nvPr/>
        </p:nvSpPr>
        <p:spPr>
          <a:xfrm>
            <a:off x="1536192" y="2048256"/>
            <a:ext cx="256032" cy="274320"/>
          </a:xfrm>
          <a:prstGeom prst="roundRect">
            <a:avLst>
              <a:gd name="adj" fmla="val 14286"/>
            </a:avLst>
          </a:prstGeom>
          <a:solidFill>
            <a:srgbClr val="4D9BFF"/>
          </a:solidFill>
          <a:ln w="12700">
            <a:solidFill>
              <a:srgbClr val="333333"/>
            </a:solidFill>
            <a:prstDash val="solid"/>
          </a:ln>
        </p:spPr>
      </p:sp>
      <p:sp>
        <p:nvSpPr>
          <p:cNvPr id="12" name="Shape 10"/>
          <p:cNvSpPr/>
          <p:nvPr/>
        </p:nvSpPr>
        <p:spPr>
          <a:xfrm>
            <a:off x="1865376" y="2048256"/>
            <a:ext cx="256032" cy="274320"/>
          </a:xfrm>
          <a:prstGeom prst="roundRect">
            <a:avLst>
              <a:gd name="adj" fmla="val 14286"/>
            </a:avLst>
          </a:prstGeom>
          <a:solidFill>
            <a:srgbClr val="4D9BFF"/>
          </a:solidFill>
          <a:ln w="12700">
            <a:solidFill>
              <a:srgbClr val="333333"/>
            </a:solidFill>
            <a:prstDash val="solid"/>
          </a:ln>
        </p:spPr>
      </p:sp>
      <p:sp>
        <p:nvSpPr>
          <p:cNvPr id="13" name="Shape 11"/>
          <p:cNvSpPr/>
          <p:nvPr/>
        </p:nvSpPr>
        <p:spPr>
          <a:xfrm>
            <a:off x="2194560" y="2048256"/>
            <a:ext cx="256032" cy="274320"/>
          </a:xfrm>
          <a:prstGeom prst="roundRect">
            <a:avLst>
              <a:gd name="adj" fmla="val 14286"/>
            </a:avLst>
          </a:prstGeom>
          <a:solidFill>
            <a:srgbClr val="4D9BFF"/>
          </a:solidFill>
          <a:ln w="12700">
            <a:solidFill>
              <a:srgbClr val="333333"/>
            </a:solidFill>
            <a:prstDash val="solid"/>
          </a:ln>
        </p:spPr>
      </p:sp>
      <p:sp>
        <p:nvSpPr>
          <p:cNvPr id="14" name="Shape 12"/>
          <p:cNvSpPr/>
          <p:nvPr/>
        </p:nvSpPr>
        <p:spPr>
          <a:xfrm>
            <a:off x="2523744" y="2048256"/>
            <a:ext cx="256032" cy="274320"/>
          </a:xfrm>
          <a:prstGeom prst="roundRect">
            <a:avLst>
              <a:gd name="adj" fmla="val 14286"/>
            </a:avLst>
          </a:prstGeom>
          <a:solidFill>
            <a:srgbClr val="4D9BFF"/>
          </a:solidFill>
          <a:ln w="12700">
            <a:solidFill>
              <a:srgbClr val="333333"/>
            </a:solidFill>
            <a:prstDash val="solid"/>
          </a:ln>
        </p:spPr>
      </p:sp>
      <p:sp>
        <p:nvSpPr>
          <p:cNvPr id="15" name="Shape 13"/>
          <p:cNvSpPr/>
          <p:nvPr/>
        </p:nvSpPr>
        <p:spPr>
          <a:xfrm>
            <a:off x="2852928" y="2048256"/>
            <a:ext cx="256032" cy="274320"/>
          </a:xfrm>
          <a:prstGeom prst="roundRect">
            <a:avLst>
              <a:gd name="adj" fmla="val 14286"/>
            </a:avLst>
          </a:prstGeom>
          <a:solidFill>
            <a:srgbClr val="4D9BFF"/>
          </a:solidFill>
          <a:ln w="12700">
            <a:solidFill>
              <a:srgbClr val="333333"/>
            </a:solidFill>
            <a:prstDash val="solid"/>
          </a:ln>
        </p:spPr>
      </p:sp>
      <p:sp>
        <p:nvSpPr>
          <p:cNvPr id="16" name="Shape 14"/>
          <p:cNvSpPr/>
          <p:nvPr/>
        </p:nvSpPr>
        <p:spPr>
          <a:xfrm>
            <a:off x="3182112" y="2048256"/>
            <a:ext cx="256032" cy="274320"/>
          </a:xfrm>
          <a:prstGeom prst="roundRect">
            <a:avLst>
              <a:gd name="adj" fmla="val 14286"/>
            </a:avLst>
          </a:prstGeom>
          <a:solidFill>
            <a:srgbClr val="4D9BFF"/>
          </a:solidFill>
          <a:ln w="12700">
            <a:solidFill>
              <a:srgbClr val="333333"/>
            </a:solidFill>
            <a:prstDash val="solid"/>
          </a:ln>
        </p:spPr>
      </p:sp>
      <p:sp>
        <p:nvSpPr>
          <p:cNvPr id="17" name="Shape 15"/>
          <p:cNvSpPr/>
          <p:nvPr/>
        </p:nvSpPr>
        <p:spPr>
          <a:xfrm>
            <a:off x="3511296" y="2048256"/>
            <a:ext cx="256032" cy="274320"/>
          </a:xfrm>
          <a:prstGeom prst="roundRect">
            <a:avLst>
              <a:gd name="adj" fmla="val 14286"/>
            </a:avLst>
          </a:prstGeom>
          <a:solidFill>
            <a:srgbClr val="4D9BFF"/>
          </a:solidFill>
          <a:ln w="12700">
            <a:solidFill>
              <a:srgbClr val="333333"/>
            </a:solidFill>
            <a:prstDash val="solid"/>
          </a:ln>
        </p:spPr>
      </p:sp>
      <p:sp>
        <p:nvSpPr>
          <p:cNvPr id="18" name="Shape 16"/>
          <p:cNvSpPr/>
          <p:nvPr/>
        </p:nvSpPr>
        <p:spPr>
          <a:xfrm>
            <a:off x="3840480" y="2048256"/>
            <a:ext cx="256032" cy="274320"/>
          </a:xfrm>
          <a:prstGeom prst="roundRect">
            <a:avLst>
              <a:gd name="adj" fmla="val 14286"/>
            </a:avLst>
          </a:prstGeom>
          <a:solidFill>
            <a:srgbClr val="4D9BFF"/>
          </a:solidFill>
          <a:ln w="12700">
            <a:solidFill>
              <a:srgbClr val="333333"/>
            </a:solidFill>
            <a:prstDash val="solid"/>
          </a:ln>
        </p:spPr>
      </p:sp>
      <p:sp>
        <p:nvSpPr>
          <p:cNvPr id="19" name="Shape 17"/>
          <p:cNvSpPr/>
          <p:nvPr/>
        </p:nvSpPr>
        <p:spPr>
          <a:xfrm>
            <a:off x="4169664" y="2048256"/>
            <a:ext cx="256032" cy="274320"/>
          </a:xfrm>
          <a:prstGeom prst="roundRect">
            <a:avLst>
              <a:gd name="adj" fmla="val 14286"/>
            </a:avLst>
          </a:prstGeom>
          <a:solidFill>
            <a:srgbClr val="4D9BFF"/>
          </a:solidFill>
          <a:ln w="12700">
            <a:solidFill>
              <a:srgbClr val="333333"/>
            </a:solidFill>
            <a:prstDash val="solid"/>
          </a:ln>
        </p:spPr>
      </p:sp>
      <p:sp>
        <p:nvSpPr>
          <p:cNvPr id="20" name="Shape 18"/>
          <p:cNvSpPr/>
          <p:nvPr/>
        </p:nvSpPr>
        <p:spPr>
          <a:xfrm>
            <a:off x="4498848" y="2048256"/>
            <a:ext cx="256032" cy="274320"/>
          </a:xfrm>
          <a:prstGeom prst="roundRect">
            <a:avLst>
              <a:gd name="adj" fmla="val 14286"/>
            </a:avLst>
          </a:prstGeom>
          <a:solidFill>
            <a:srgbClr val="4D9BFF"/>
          </a:solidFill>
          <a:ln w="12700">
            <a:solidFill>
              <a:srgbClr val="333333"/>
            </a:solidFill>
            <a:prstDash val="solid"/>
          </a:ln>
        </p:spPr>
      </p:sp>
      <p:sp>
        <p:nvSpPr>
          <p:cNvPr id="21" name="Shape 19"/>
          <p:cNvSpPr/>
          <p:nvPr/>
        </p:nvSpPr>
        <p:spPr>
          <a:xfrm>
            <a:off x="4828032" y="2048256"/>
            <a:ext cx="256032" cy="274320"/>
          </a:xfrm>
          <a:prstGeom prst="roundRect">
            <a:avLst>
              <a:gd name="adj" fmla="val 14286"/>
            </a:avLst>
          </a:prstGeom>
          <a:solidFill>
            <a:srgbClr val="4D9BFF"/>
          </a:solidFill>
          <a:ln w="12700">
            <a:solidFill>
              <a:srgbClr val="333333"/>
            </a:solidFill>
            <a:prstDash val="solid"/>
          </a:ln>
        </p:spPr>
      </p:sp>
      <p:sp>
        <p:nvSpPr>
          <p:cNvPr id="22" name="Shape 20"/>
          <p:cNvSpPr/>
          <p:nvPr/>
        </p:nvSpPr>
        <p:spPr>
          <a:xfrm>
            <a:off x="5157216" y="2048256"/>
            <a:ext cx="256032" cy="274320"/>
          </a:xfrm>
          <a:prstGeom prst="roundRect">
            <a:avLst>
              <a:gd name="adj" fmla="val 14286"/>
            </a:avLst>
          </a:prstGeom>
          <a:solidFill>
            <a:srgbClr val="4D9BFF"/>
          </a:solidFill>
          <a:ln w="12700">
            <a:solidFill>
              <a:srgbClr val="333333"/>
            </a:solidFill>
            <a:prstDash val="solid"/>
          </a:ln>
        </p:spPr>
      </p:sp>
      <p:sp>
        <p:nvSpPr>
          <p:cNvPr id="23" name="Shape 21"/>
          <p:cNvSpPr/>
          <p:nvPr/>
        </p:nvSpPr>
        <p:spPr>
          <a:xfrm>
            <a:off x="5486400" y="2048256"/>
            <a:ext cx="256032" cy="274320"/>
          </a:xfrm>
          <a:prstGeom prst="roundRect">
            <a:avLst>
              <a:gd name="adj" fmla="val 14286"/>
            </a:avLst>
          </a:prstGeom>
          <a:solidFill>
            <a:srgbClr val="4D9BFF"/>
          </a:solidFill>
          <a:ln w="12700">
            <a:solidFill>
              <a:srgbClr val="333333"/>
            </a:solidFill>
            <a:prstDash val="solid"/>
          </a:ln>
        </p:spPr>
      </p:sp>
      <p:sp>
        <p:nvSpPr>
          <p:cNvPr id="24" name="Shape 22"/>
          <p:cNvSpPr/>
          <p:nvPr/>
        </p:nvSpPr>
        <p:spPr>
          <a:xfrm>
            <a:off x="804672" y="2505456"/>
            <a:ext cx="1920240" cy="164592"/>
          </a:xfrm>
          <a:prstGeom prst="rect">
            <a:avLst/>
          </a:prstGeom>
          <a:solidFill>
            <a:srgbClr val="2FD68C"/>
          </a:solidFill>
          <a:ln w="12700">
            <a:solidFill>
              <a:srgbClr val="333333"/>
            </a:solidFill>
            <a:prstDash val="solid"/>
          </a:ln>
        </p:spPr>
      </p:sp>
      <p:sp>
        <p:nvSpPr>
          <p:cNvPr id="25" name="Text 23"/>
          <p:cNvSpPr/>
          <p:nvPr/>
        </p:nvSpPr>
        <p:spPr>
          <a:xfrm>
            <a:off x="2834640" y="2450592"/>
            <a:ext cx="2194560" cy="237744"/>
          </a:xfrm>
          <a:prstGeom prst="rect">
            <a:avLst/>
          </a:prstGeom>
          <a:noFill/>
          <a:ln/>
        </p:spPr>
        <p:txBody>
          <a:bodyPr wrap="square" lIns="0" tIns="0" rIns="0" bIns="0" rtlCol="0" anchor="ctr"/>
          <a:lstStyle/>
          <a:p>
            <a:pPr indent="0" marL="0">
              <a:buNone/>
            </a:pPr>
            <a:r>
              <a:rPr lang="en-US" sz="1050" dirty="0">
                <a:solidFill>
                  <a:srgbClr val="6E86A8"/>
                </a:solidFill>
                <a:latin typeface="Calibri" pitchFamily="34" charset="0"/>
                <a:ea typeface="Calibri" pitchFamily="34" charset="-122"/>
                <a:cs typeface="Calibri" pitchFamily="34" charset="-120"/>
              </a:rPr>
              <a:t>equal green time</a:t>
            </a:r>
            <a:endParaRPr lang="en-US" sz="1050" dirty="0"/>
          </a:p>
        </p:txBody>
      </p:sp>
      <p:sp>
        <p:nvSpPr>
          <p:cNvPr id="26" name="Text 24"/>
          <p:cNvSpPr/>
          <p:nvPr/>
        </p:nvSpPr>
        <p:spPr>
          <a:xfrm>
            <a:off x="804672" y="2944368"/>
            <a:ext cx="109728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ROAD B</a:t>
            </a:r>
            <a:endParaRPr lang="en-US" sz="1150" dirty="0"/>
          </a:p>
        </p:txBody>
      </p:sp>
      <p:sp>
        <p:nvSpPr>
          <p:cNvPr id="27" name="Text 25"/>
          <p:cNvSpPr/>
          <p:nvPr/>
        </p:nvSpPr>
        <p:spPr>
          <a:xfrm>
            <a:off x="1874520" y="2944368"/>
            <a:ext cx="2194560" cy="237744"/>
          </a:xfrm>
          <a:prstGeom prst="rect">
            <a:avLst/>
          </a:prstGeom>
          <a:noFill/>
          <a:ln/>
        </p:spPr>
        <p:txBody>
          <a:bodyPr wrap="square" lIns="0" tIns="0" rIns="0" bIns="0" rtlCol="0" anchor="ctr"/>
          <a:lstStyle/>
          <a:p>
            <a:pPr indent="0" marL="0">
              <a:buNone/>
            </a:pPr>
            <a:r>
              <a:rPr lang="en-US" sz="1100" dirty="0">
                <a:solidFill>
                  <a:srgbClr val="2FD68C"/>
                </a:solidFill>
                <a:latin typeface="Calibri" pitchFamily="34" charset="0"/>
                <a:ea typeface="Calibri" pitchFamily="34" charset="-122"/>
                <a:cs typeface="Calibri" pitchFamily="34" charset="-120"/>
              </a:rPr>
              <a:t>5 vehicles waiting</a:t>
            </a:r>
            <a:endParaRPr lang="en-US" sz="1100" dirty="0"/>
          </a:p>
        </p:txBody>
      </p:sp>
      <p:sp>
        <p:nvSpPr>
          <p:cNvPr id="28" name="Shape 26"/>
          <p:cNvSpPr/>
          <p:nvPr/>
        </p:nvSpPr>
        <p:spPr>
          <a:xfrm>
            <a:off x="804672" y="3218688"/>
            <a:ext cx="5029200" cy="420624"/>
          </a:xfrm>
          <a:prstGeom prst="rect">
            <a:avLst/>
          </a:prstGeom>
          <a:solidFill>
            <a:srgbClr val="0D1730"/>
          </a:solidFill>
          <a:ln w="12700">
            <a:solidFill>
              <a:srgbClr val="333333"/>
            </a:solidFill>
            <a:prstDash val="solid"/>
          </a:ln>
        </p:spPr>
      </p:sp>
      <p:sp>
        <p:nvSpPr>
          <p:cNvPr id="29" name="Shape 27"/>
          <p:cNvSpPr/>
          <p:nvPr/>
        </p:nvSpPr>
        <p:spPr>
          <a:xfrm>
            <a:off x="877824" y="3291840"/>
            <a:ext cx="256032" cy="274320"/>
          </a:xfrm>
          <a:prstGeom prst="roundRect">
            <a:avLst>
              <a:gd name="adj" fmla="val 14286"/>
            </a:avLst>
          </a:prstGeom>
          <a:solidFill>
            <a:srgbClr val="4D9BFF"/>
          </a:solidFill>
          <a:ln w="12700">
            <a:solidFill>
              <a:srgbClr val="333333"/>
            </a:solidFill>
            <a:prstDash val="solid"/>
          </a:ln>
        </p:spPr>
      </p:sp>
      <p:sp>
        <p:nvSpPr>
          <p:cNvPr id="30" name="Shape 28"/>
          <p:cNvSpPr/>
          <p:nvPr/>
        </p:nvSpPr>
        <p:spPr>
          <a:xfrm>
            <a:off x="1207008" y="3291840"/>
            <a:ext cx="256032" cy="274320"/>
          </a:xfrm>
          <a:prstGeom prst="roundRect">
            <a:avLst>
              <a:gd name="adj" fmla="val 14286"/>
            </a:avLst>
          </a:prstGeom>
          <a:solidFill>
            <a:srgbClr val="4D9BFF"/>
          </a:solidFill>
          <a:ln w="12700">
            <a:solidFill>
              <a:srgbClr val="333333"/>
            </a:solidFill>
            <a:prstDash val="solid"/>
          </a:ln>
        </p:spPr>
      </p:sp>
      <p:sp>
        <p:nvSpPr>
          <p:cNvPr id="31" name="Shape 29"/>
          <p:cNvSpPr/>
          <p:nvPr/>
        </p:nvSpPr>
        <p:spPr>
          <a:xfrm>
            <a:off x="1536192" y="3291840"/>
            <a:ext cx="256032" cy="274320"/>
          </a:xfrm>
          <a:prstGeom prst="roundRect">
            <a:avLst>
              <a:gd name="adj" fmla="val 14286"/>
            </a:avLst>
          </a:prstGeom>
          <a:solidFill>
            <a:srgbClr val="4D9BFF"/>
          </a:solidFill>
          <a:ln w="12700">
            <a:solidFill>
              <a:srgbClr val="333333"/>
            </a:solidFill>
            <a:prstDash val="solid"/>
          </a:ln>
        </p:spPr>
      </p:sp>
      <p:sp>
        <p:nvSpPr>
          <p:cNvPr id="32" name="Shape 30"/>
          <p:cNvSpPr/>
          <p:nvPr/>
        </p:nvSpPr>
        <p:spPr>
          <a:xfrm>
            <a:off x="804672" y="3749040"/>
            <a:ext cx="1920240" cy="164592"/>
          </a:xfrm>
          <a:prstGeom prst="rect">
            <a:avLst/>
          </a:prstGeom>
          <a:solidFill>
            <a:srgbClr val="2FD68C"/>
          </a:solidFill>
          <a:ln w="12700">
            <a:solidFill>
              <a:srgbClr val="333333"/>
            </a:solidFill>
            <a:prstDash val="solid"/>
          </a:ln>
        </p:spPr>
      </p:sp>
      <p:sp>
        <p:nvSpPr>
          <p:cNvPr id="33" name="Text 31"/>
          <p:cNvSpPr/>
          <p:nvPr/>
        </p:nvSpPr>
        <p:spPr>
          <a:xfrm>
            <a:off x="2834640" y="3694176"/>
            <a:ext cx="2194560" cy="237744"/>
          </a:xfrm>
          <a:prstGeom prst="rect">
            <a:avLst/>
          </a:prstGeom>
          <a:noFill/>
          <a:ln/>
        </p:spPr>
        <p:txBody>
          <a:bodyPr wrap="square" lIns="0" tIns="0" rIns="0" bIns="0" rtlCol="0" anchor="ctr"/>
          <a:lstStyle/>
          <a:p>
            <a:pPr indent="0" marL="0">
              <a:buNone/>
            </a:pPr>
            <a:r>
              <a:rPr lang="en-US" sz="1050" dirty="0">
                <a:solidFill>
                  <a:srgbClr val="6E86A8"/>
                </a:solidFill>
                <a:latin typeface="Calibri" pitchFamily="34" charset="0"/>
                <a:ea typeface="Calibri" pitchFamily="34" charset="-122"/>
                <a:cs typeface="Calibri" pitchFamily="34" charset="-120"/>
              </a:rPr>
              <a:t>equal green time</a:t>
            </a:r>
            <a:endParaRPr lang="en-US" sz="1050" dirty="0"/>
          </a:p>
        </p:txBody>
      </p:sp>
      <p:sp>
        <p:nvSpPr>
          <p:cNvPr id="34" name="Text 32"/>
          <p:cNvSpPr/>
          <p:nvPr/>
        </p:nvSpPr>
        <p:spPr>
          <a:xfrm>
            <a:off x="804672" y="4041648"/>
            <a:ext cx="5029200" cy="384048"/>
          </a:xfrm>
          <a:prstGeom prst="rect">
            <a:avLst/>
          </a:prstGeom>
          <a:noFill/>
          <a:ln/>
        </p:spPr>
        <p:txBody>
          <a:bodyPr wrap="square" lIns="0" tIns="0" rIns="0" bIns="0" rtlCol="0" anchor="ctr"/>
          <a:lstStyle/>
          <a:p>
            <a:pPr indent="0" marL="0">
              <a:lnSpc>
                <a:spcPct val="100000"/>
              </a:lnSpc>
              <a:buNone/>
            </a:pPr>
            <a:r>
              <a:rPr lang="en-US" sz="1100" i="1" dirty="0">
                <a:solidFill>
                  <a:srgbClr val="9DB2CE"/>
                </a:solidFill>
                <a:latin typeface="Calibri" pitchFamily="34" charset="0"/>
                <a:ea typeface="Calibri" pitchFamily="34" charset="-122"/>
                <a:cs typeface="Calibri" pitchFamily="34" charset="-120"/>
              </a:rPr>
              <a:t>A fixed strategy keeps allocating the same green to both roads, regardless of demand.</a:t>
            </a:r>
            <a:endParaRPr lang="en-US" sz="1100" dirty="0"/>
          </a:p>
        </p:txBody>
      </p:sp>
      <p:sp>
        <p:nvSpPr>
          <p:cNvPr id="35" name="Shape 33"/>
          <p:cNvSpPr/>
          <p:nvPr/>
        </p:nvSpPr>
        <p:spPr>
          <a:xfrm>
            <a:off x="6446520" y="1207008"/>
            <a:ext cx="5193792" cy="713232"/>
          </a:xfrm>
          <a:prstGeom prst="roundRect">
            <a:avLst>
              <a:gd name="adj" fmla="val 12821"/>
            </a:avLst>
          </a:prstGeom>
          <a:solidFill>
            <a:srgbClr val="15223C"/>
          </a:solidFill>
          <a:ln w="12700">
            <a:solidFill>
              <a:srgbClr val="2B3E60"/>
            </a:solidFill>
            <a:prstDash val="solid"/>
          </a:ln>
        </p:spPr>
      </p:sp>
      <p:sp>
        <p:nvSpPr>
          <p:cNvPr id="36" name="Shape 34"/>
          <p:cNvSpPr/>
          <p:nvPr/>
        </p:nvSpPr>
        <p:spPr>
          <a:xfrm>
            <a:off x="6656832" y="1325880"/>
            <a:ext cx="475488" cy="475488"/>
          </a:xfrm>
          <a:prstGeom prst="ellipse">
            <a:avLst/>
          </a:prstGeom>
          <a:solidFill>
            <a:srgbClr val="132B4D"/>
          </a:solidFill>
          <a:ln w="12700">
            <a:solidFill>
              <a:srgbClr val="4D9BFF"/>
            </a:solidFill>
            <a:prstDash val="solid"/>
          </a:ln>
        </p:spPr>
      </p:sp>
      <p:pic>
        <p:nvPicPr>
          <p:cNvPr id="37" name="Image 0" descr="preencoded.png">    </p:cNvPr>
          <p:cNvPicPr>
            <a:picLocks noChangeAspect="1"/>
          </p:cNvPicPr>
          <p:nvPr/>
        </p:nvPicPr>
        <p:blipFill>
          <a:blip r:embed="rId1"/>
          <a:stretch>
            <a:fillRect/>
          </a:stretch>
        </p:blipFill>
        <p:spPr>
          <a:xfrm>
            <a:off x="6785214" y="1454262"/>
            <a:ext cx="218724" cy="218724"/>
          </a:xfrm>
          <a:prstGeom prst="rect">
            <a:avLst/>
          </a:prstGeom>
        </p:spPr>
      </p:pic>
      <p:sp>
        <p:nvSpPr>
          <p:cNvPr id="38" name="Text 35"/>
          <p:cNvSpPr/>
          <p:nvPr/>
        </p:nvSpPr>
        <p:spPr>
          <a:xfrm>
            <a:off x="7296912" y="1207008"/>
            <a:ext cx="416052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Long queues on the loaded approach</a:t>
            </a:r>
            <a:endParaRPr lang="en-US" sz="1250" dirty="0"/>
          </a:p>
        </p:txBody>
      </p:sp>
      <p:sp>
        <p:nvSpPr>
          <p:cNvPr id="39" name="Shape 36"/>
          <p:cNvSpPr/>
          <p:nvPr/>
        </p:nvSpPr>
        <p:spPr>
          <a:xfrm>
            <a:off x="6446520" y="2057400"/>
            <a:ext cx="5193792" cy="713232"/>
          </a:xfrm>
          <a:prstGeom prst="roundRect">
            <a:avLst>
              <a:gd name="adj" fmla="val 12821"/>
            </a:avLst>
          </a:prstGeom>
          <a:solidFill>
            <a:srgbClr val="15223C"/>
          </a:solidFill>
          <a:ln w="12700">
            <a:solidFill>
              <a:srgbClr val="2B3E60"/>
            </a:solidFill>
            <a:prstDash val="solid"/>
          </a:ln>
        </p:spPr>
      </p:sp>
      <p:sp>
        <p:nvSpPr>
          <p:cNvPr id="40" name="Shape 37"/>
          <p:cNvSpPr/>
          <p:nvPr/>
        </p:nvSpPr>
        <p:spPr>
          <a:xfrm>
            <a:off x="6656832" y="2176272"/>
            <a:ext cx="475488" cy="475488"/>
          </a:xfrm>
          <a:prstGeom prst="ellipse">
            <a:avLst/>
          </a:prstGeom>
          <a:solidFill>
            <a:srgbClr val="132B4D"/>
          </a:solidFill>
          <a:ln w="12700">
            <a:solidFill>
              <a:srgbClr val="4D9BFF"/>
            </a:solidFill>
            <a:prstDash val="solid"/>
          </a:ln>
        </p:spPr>
      </p:sp>
      <p:pic>
        <p:nvPicPr>
          <p:cNvPr id="41" name="Image 1" descr="preencoded.png">    </p:cNvPr>
          <p:cNvPicPr>
            <a:picLocks noChangeAspect="1"/>
          </p:cNvPicPr>
          <p:nvPr/>
        </p:nvPicPr>
        <p:blipFill>
          <a:blip r:embed="rId2"/>
          <a:stretch>
            <a:fillRect/>
          </a:stretch>
        </p:blipFill>
        <p:spPr>
          <a:xfrm>
            <a:off x="6785214" y="2304654"/>
            <a:ext cx="218724" cy="218724"/>
          </a:xfrm>
          <a:prstGeom prst="rect">
            <a:avLst/>
          </a:prstGeom>
        </p:spPr>
      </p:pic>
      <p:sp>
        <p:nvSpPr>
          <p:cNvPr id="42" name="Text 38"/>
          <p:cNvSpPr/>
          <p:nvPr/>
        </p:nvSpPr>
        <p:spPr>
          <a:xfrm>
            <a:off x="7296912" y="2057400"/>
            <a:ext cx="416052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Increased average waiting time</a:t>
            </a:r>
            <a:endParaRPr lang="en-US" sz="1250" dirty="0"/>
          </a:p>
        </p:txBody>
      </p:sp>
      <p:sp>
        <p:nvSpPr>
          <p:cNvPr id="43" name="Shape 39"/>
          <p:cNvSpPr/>
          <p:nvPr/>
        </p:nvSpPr>
        <p:spPr>
          <a:xfrm>
            <a:off x="6446520" y="2907792"/>
            <a:ext cx="5193792" cy="713232"/>
          </a:xfrm>
          <a:prstGeom prst="roundRect">
            <a:avLst>
              <a:gd name="adj" fmla="val 12821"/>
            </a:avLst>
          </a:prstGeom>
          <a:solidFill>
            <a:srgbClr val="15223C"/>
          </a:solidFill>
          <a:ln w="12700">
            <a:solidFill>
              <a:srgbClr val="2B3E60"/>
            </a:solidFill>
            <a:prstDash val="solid"/>
          </a:ln>
        </p:spPr>
      </p:sp>
      <p:sp>
        <p:nvSpPr>
          <p:cNvPr id="44" name="Shape 40"/>
          <p:cNvSpPr/>
          <p:nvPr/>
        </p:nvSpPr>
        <p:spPr>
          <a:xfrm>
            <a:off x="6656832" y="3026664"/>
            <a:ext cx="475488" cy="475488"/>
          </a:xfrm>
          <a:prstGeom prst="ellipse">
            <a:avLst/>
          </a:prstGeom>
          <a:solidFill>
            <a:srgbClr val="132B4D"/>
          </a:solidFill>
          <a:ln w="12700">
            <a:solidFill>
              <a:srgbClr val="4D9BFF"/>
            </a:solidFill>
            <a:prstDash val="solid"/>
          </a:ln>
        </p:spPr>
      </p:sp>
      <p:pic>
        <p:nvPicPr>
          <p:cNvPr id="45" name="Image 2" descr="preencoded.png">    </p:cNvPr>
          <p:cNvPicPr>
            <a:picLocks noChangeAspect="1"/>
          </p:cNvPicPr>
          <p:nvPr/>
        </p:nvPicPr>
        <p:blipFill>
          <a:blip r:embed="rId3"/>
          <a:stretch>
            <a:fillRect/>
          </a:stretch>
        </p:blipFill>
        <p:spPr>
          <a:xfrm>
            <a:off x="6785214" y="3155046"/>
            <a:ext cx="218724" cy="218724"/>
          </a:xfrm>
          <a:prstGeom prst="rect">
            <a:avLst/>
          </a:prstGeom>
        </p:spPr>
      </p:pic>
      <p:sp>
        <p:nvSpPr>
          <p:cNvPr id="46" name="Text 41"/>
          <p:cNvSpPr/>
          <p:nvPr/>
        </p:nvSpPr>
        <p:spPr>
          <a:xfrm>
            <a:off x="7296912" y="2907792"/>
            <a:ext cx="416052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Poor utilization of green time</a:t>
            </a:r>
            <a:endParaRPr lang="en-US" sz="1250" dirty="0"/>
          </a:p>
        </p:txBody>
      </p:sp>
      <p:sp>
        <p:nvSpPr>
          <p:cNvPr id="47" name="Shape 42"/>
          <p:cNvSpPr/>
          <p:nvPr/>
        </p:nvSpPr>
        <p:spPr>
          <a:xfrm>
            <a:off x="6446520" y="3758184"/>
            <a:ext cx="5193792" cy="713232"/>
          </a:xfrm>
          <a:prstGeom prst="roundRect">
            <a:avLst>
              <a:gd name="adj" fmla="val 12821"/>
            </a:avLst>
          </a:prstGeom>
          <a:solidFill>
            <a:srgbClr val="15223C"/>
          </a:solidFill>
          <a:ln w="12700">
            <a:solidFill>
              <a:srgbClr val="2B3E60"/>
            </a:solidFill>
            <a:prstDash val="solid"/>
          </a:ln>
        </p:spPr>
      </p:sp>
      <p:sp>
        <p:nvSpPr>
          <p:cNvPr id="48" name="Shape 43"/>
          <p:cNvSpPr/>
          <p:nvPr/>
        </p:nvSpPr>
        <p:spPr>
          <a:xfrm>
            <a:off x="6656832" y="3877056"/>
            <a:ext cx="475488" cy="475488"/>
          </a:xfrm>
          <a:prstGeom prst="ellipse">
            <a:avLst/>
          </a:prstGeom>
          <a:solidFill>
            <a:srgbClr val="132B4D"/>
          </a:solidFill>
          <a:ln w="12700">
            <a:solidFill>
              <a:srgbClr val="4D9BFF"/>
            </a:solidFill>
            <a:prstDash val="solid"/>
          </a:ln>
        </p:spPr>
      </p:sp>
      <p:pic>
        <p:nvPicPr>
          <p:cNvPr id="49" name="Image 3" descr="preencoded.png">    </p:cNvPr>
          <p:cNvPicPr>
            <a:picLocks noChangeAspect="1"/>
          </p:cNvPicPr>
          <p:nvPr/>
        </p:nvPicPr>
        <p:blipFill>
          <a:blip r:embed="rId4"/>
          <a:stretch>
            <a:fillRect/>
          </a:stretch>
        </p:blipFill>
        <p:spPr>
          <a:xfrm>
            <a:off x="6785214" y="4005438"/>
            <a:ext cx="218724" cy="218724"/>
          </a:xfrm>
          <a:prstGeom prst="rect">
            <a:avLst/>
          </a:prstGeom>
        </p:spPr>
      </p:pic>
      <p:sp>
        <p:nvSpPr>
          <p:cNvPr id="50" name="Text 44"/>
          <p:cNvSpPr/>
          <p:nvPr/>
        </p:nvSpPr>
        <p:spPr>
          <a:xfrm>
            <a:off x="7296912" y="3758184"/>
            <a:ext cx="416052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Reduced vehicle throughput</a:t>
            </a:r>
            <a:endParaRPr lang="en-US" sz="1250" dirty="0"/>
          </a:p>
        </p:txBody>
      </p:sp>
      <p:sp>
        <p:nvSpPr>
          <p:cNvPr id="51" name="Shape 45"/>
          <p:cNvSpPr/>
          <p:nvPr/>
        </p:nvSpPr>
        <p:spPr>
          <a:xfrm>
            <a:off x="548640" y="4828032"/>
            <a:ext cx="11091672" cy="1024128"/>
          </a:xfrm>
          <a:prstGeom prst="roundRect">
            <a:avLst>
              <a:gd name="adj" fmla="val 8929"/>
            </a:avLst>
          </a:prstGeom>
          <a:solidFill>
            <a:srgbClr val="132B4D"/>
          </a:solidFill>
          <a:ln w="12700">
            <a:solidFill>
              <a:srgbClr val="4D9BFF"/>
            </a:solidFill>
            <a:prstDash val="solid"/>
          </a:ln>
        </p:spPr>
      </p:sp>
      <p:sp>
        <p:nvSpPr>
          <p:cNvPr id="52" name="Shape 46"/>
          <p:cNvSpPr/>
          <p:nvPr/>
        </p:nvSpPr>
        <p:spPr>
          <a:xfrm>
            <a:off x="804672" y="5074920"/>
            <a:ext cx="512064" cy="512064"/>
          </a:xfrm>
          <a:prstGeom prst="ellipse">
            <a:avLst/>
          </a:prstGeom>
          <a:solidFill>
            <a:srgbClr val="0A1226"/>
          </a:solidFill>
          <a:ln w="12700">
            <a:solidFill>
              <a:srgbClr val="4D9BFF"/>
            </a:solidFill>
            <a:prstDash val="solid"/>
          </a:ln>
        </p:spPr>
      </p:sp>
      <p:pic>
        <p:nvPicPr>
          <p:cNvPr id="53" name="Image 4" descr="preencoded.png">    </p:cNvPr>
          <p:cNvPicPr>
            <a:picLocks noChangeAspect="1"/>
          </p:cNvPicPr>
          <p:nvPr/>
        </p:nvPicPr>
        <p:blipFill>
          <a:blip r:embed="rId5"/>
          <a:stretch>
            <a:fillRect/>
          </a:stretch>
        </p:blipFill>
        <p:spPr>
          <a:xfrm>
            <a:off x="942929" y="5213177"/>
            <a:ext cx="235549" cy="235549"/>
          </a:xfrm>
          <a:prstGeom prst="rect">
            <a:avLst/>
          </a:prstGeom>
        </p:spPr>
      </p:pic>
      <p:sp>
        <p:nvSpPr>
          <p:cNvPr id="54" name="Text 47"/>
          <p:cNvSpPr/>
          <p:nvPr/>
        </p:nvSpPr>
        <p:spPr>
          <a:xfrm>
            <a:off x="1499616" y="4974336"/>
            <a:ext cx="3017520" cy="274320"/>
          </a:xfrm>
          <a:prstGeom prst="rect">
            <a:avLst/>
          </a:prstGeom>
          <a:noFill/>
          <a:ln/>
        </p:spPr>
        <p:txBody>
          <a:bodyPr wrap="square" lIns="0" tIns="0" rIns="0" bIns="0" rtlCol="0" anchor="ctr"/>
          <a:lstStyle/>
          <a:p>
            <a:pPr indent="0" marL="0">
              <a:buNone/>
            </a:pPr>
            <a:r>
              <a:rPr lang="en-US" sz="1450" b="1" dirty="0">
                <a:solidFill>
                  <a:srgbClr val="4D9BFF"/>
                </a:solidFill>
                <a:latin typeface="Arial" pitchFamily="34" charset="0"/>
                <a:ea typeface="Arial" pitchFamily="34" charset="-122"/>
                <a:cs typeface="Arial" pitchFamily="34" charset="-120"/>
              </a:rPr>
              <a:t>Adaptive DQN control</a:t>
            </a:r>
            <a:endParaRPr lang="en-US" sz="1450" dirty="0"/>
          </a:p>
        </p:txBody>
      </p:sp>
      <p:sp>
        <p:nvSpPr>
          <p:cNvPr id="55" name="Text 48"/>
          <p:cNvSpPr/>
          <p:nvPr/>
        </p:nvSpPr>
        <p:spPr>
          <a:xfrm>
            <a:off x="1499616" y="5266944"/>
            <a:ext cx="9875520" cy="530352"/>
          </a:xfrm>
          <a:prstGeom prst="rect">
            <a:avLst/>
          </a:prstGeom>
          <a:noFill/>
          <a:ln/>
        </p:spPr>
        <p:txBody>
          <a:bodyPr wrap="square" lIns="0" tIns="0" rIns="0" bIns="0" rtlCol="0" anchor="ctr"/>
          <a:lstStyle/>
          <a:p>
            <a:pPr indent="0" marL="0">
              <a:lnSpc>
                <a:spcPct val="102000"/>
              </a:lnSpc>
              <a:buNone/>
            </a:pPr>
            <a:r>
              <a:rPr lang="en-US" sz="1200" dirty="0">
                <a:solidFill>
                  <a:srgbClr val="9DB2CE"/>
                </a:solidFill>
                <a:latin typeface="Calibri" pitchFamily="34" charset="0"/>
                <a:ea typeface="Calibri" pitchFamily="34" charset="-122"/>
                <a:cs typeface="Calibri" pitchFamily="34" charset="-120"/>
              </a:rPr>
              <a:t>The agent observes the imbalance directly in the state — queue length per lane, arrival rate, phase duration — and dynamically modifies the signal phase instead of following a pre-set plan.</a:t>
            </a:r>
            <a:endParaRPr lang="en-US" sz="1200" dirty="0"/>
          </a:p>
        </p:txBody>
      </p:sp>
      <p:sp>
        <p:nvSpPr>
          <p:cNvPr id="57" name="Text 49"/>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Delna Liz Denny</a:t>
            </a:r>
            <a:endParaRPr lang="en-US" sz="950" dirty="0"/>
          </a:p>
        </p:txBody>
      </p:sp>
      <p:sp>
        <p:nvSpPr>
          <p:cNvPr id="58" name="Text 50"/>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4D9BFF"/>
                </a:solidFill>
                <a:latin typeface="Calibri" pitchFamily="34" charset="0"/>
                <a:ea typeface="Calibri" pitchFamily="34" charset="-122"/>
                <a:cs typeface="Calibri" pitchFamily="34" charset="-120"/>
              </a:rPr>
              <a:t>15 / 22</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4D9BFF"/>
                </a:solidFill>
                <a:latin typeface="Arial" pitchFamily="34" charset="0"/>
                <a:ea typeface="Arial" pitchFamily="34" charset="-122"/>
                <a:cs typeface="Arial" pitchFamily="34" charset="-120"/>
              </a:rPr>
              <a:t>CONGESTION REDUCTION  ·  RL FORMULATION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State, Action and Reward</a:t>
            </a:r>
            <a:endParaRPr lang="en-US" sz="2800" dirty="0"/>
          </a:p>
        </p:txBody>
      </p:sp>
      <p:sp>
        <p:nvSpPr>
          <p:cNvPr id="4" name="Shape 2"/>
          <p:cNvSpPr/>
          <p:nvPr/>
        </p:nvSpPr>
        <p:spPr>
          <a:xfrm>
            <a:off x="548640" y="1188720"/>
            <a:ext cx="3794760" cy="3474720"/>
          </a:xfrm>
          <a:prstGeom prst="roundRect">
            <a:avLst>
              <a:gd name="adj" fmla="val 2632"/>
            </a:avLst>
          </a:prstGeom>
          <a:solidFill>
            <a:srgbClr val="15223C"/>
          </a:solidFill>
          <a:ln w="12700">
            <a:solidFill>
              <a:srgbClr val="2B3E60"/>
            </a:solidFill>
            <a:prstDash val="solid"/>
          </a:ln>
        </p:spPr>
      </p:sp>
      <p:sp>
        <p:nvSpPr>
          <p:cNvPr id="5" name="Shape 3"/>
          <p:cNvSpPr/>
          <p:nvPr/>
        </p:nvSpPr>
        <p:spPr>
          <a:xfrm>
            <a:off x="786384" y="1426464"/>
            <a:ext cx="1051560" cy="274320"/>
          </a:xfrm>
          <a:prstGeom prst="roundRect">
            <a:avLst>
              <a:gd name="adj" fmla="val 20000"/>
            </a:avLst>
          </a:prstGeom>
          <a:solidFill>
            <a:srgbClr val="132B4D"/>
          </a:solidFill>
          <a:ln w="12700">
            <a:solidFill>
              <a:srgbClr val="132B4D"/>
            </a:solidFill>
            <a:prstDash val="solid"/>
          </a:ln>
        </p:spPr>
      </p:sp>
      <p:sp>
        <p:nvSpPr>
          <p:cNvPr id="6" name="Text 4"/>
          <p:cNvSpPr/>
          <p:nvPr/>
        </p:nvSpPr>
        <p:spPr>
          <a:xfrm>
            <a:off x="786384" y="1426464"/>
            <a:ext cx="1051560" cy="274320"/>
          </a:xfrm>
          <a:prstGeom prst="rect">
            <a:avLst/>
          </a:prstGeom>
          <a:noFill/>
          <a:ln/>
        </p:spPr>
        <p:txBody>
          <a:bodyPr wrap="square" lIns="0" tIns="0" rIns="0" bIns="0" rtlCol="0" anchor="ctr"/>
          <a:lstStyle/>
          <a:p>
            <a:pPr algn="ctr" indent="0" marL="0">
              <a:buNone/>
            </a:pPr>
            <a:r>
              <a:rPr lang="en-US" sz="950" b="1" spc="120" kern="0" dirty="0">
                <a:solidFill>
                  <a:srgbClr val="4D9BFF"/>
                </a:solidFill>
                <a:latin typeface="Arial" pitchFamily="34" charset="0"/>
                <a:ea typeface="Arial" pitchFamily="34" charset="-122"/>
                <a:cs typeface="Arial" pitchFamily="34" charset="-120"/>
              </a:rPr>
              <a:t>STATE</a:t>
            </a:r>
            <a:endParaRPr lang="en-US" sz="950" dirty="0"/>
          </a:p>
        </p:txBody>
      </p:sp>
      <p:sp>
        <p:nvSpPr>
          <p:cNvPr id="7" name="Text 5"/>
          <p:cNvSpPr/>
          <p:nvPr/>
        </p:nvSpPr>
        <p:spPr>
          <a:xfrm>
            <a:off x="2002536" y="1426464"/>
            <a:ext cx="2103120" cy="274320"/>
          </a:xfrm>
          <a:prstGeom prst="rect">
            <a:avLst/>
          </a:prstGeom>
          <a:noFill/>
          <a:ln/>
        </p:spPr>
        <p:txBody>
          <a:bodyPr wrap="square" lIns="0" tIns="0" rIns="0" bIns="0" rtlCol="0" anchor="ctr"/>
          <a:lstStyle/>
          <a:p>
            <a:pPr indent="0" marL="0">
              <a:buNone/>
            </a:pPr>
            <a:r>
              <a:rPr lang="en-US" sz="1050" i="1" dirty="0">
                <a:solidFill>
                  <a:srgbClr val="6E86A8"/>
                </a:solidFill>
                <a:latin typeface="Calibri" pitchFamily="34" charset="0"/>
                <a:ea typeface="Calibri" pitchFamily="34" charset="-122"/>
                <a:cs typeface="Calibri" pitchFamily="34" charset="-120"/>
              </a:rPr>
              <a:t>what the agent sees</a:t>
            </a:r>
            <a:endParaRPr lang="en-US" sz="1050" dirty="0"/>
          </a:p>
        </p:txBody>
      </p:sp>
      <p:sp>
        <p:nvSpPr>
          <p:cNvPr id="8" name="Text 6"/>
          <p:cNvSpPr/>
          <p:nvPr/>
        </p:nvSpPr>
        <p:spPr>
          <a:xfrm>
            <a:off x="822960" y="1828800"/>
            <a:ext cx="3291840" cy="265176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Queue length of each lane</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Number of vehicles</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Waiting time</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Vehicle arrival rate</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Current signal phase</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Duration of current phase</a:t>
            </a:r>
            <a:endParaRPr lang="en-US" sz="1250" dirty="0"/>
          </a:p>
          <a:p>
            <a:pPr marL="342900" indent="-342900">
              <a:lnSpc>
                <a:spcPct val="100000"/>
              </a:lnSpc>
              <a:spcAft>
                <a:spcPts val="800"/>
              </a:spcAft>
              <a:buSzPct val="100000"/>
              <a:buChar char="•"/>
            </a:pPr>
            <a:r>
              <a:rPr lang="en-US" sz="1250" dirty="0">
                <a:solidFill>
                  <a:srgbClr val="9DB2CE"/>
                </a:solidFill>
                <a:latin typeface="Calibri" pitchFamily="34" charset="0"/>
                <a:ea typeface="Calibri" pitchFamily="34" charset="-122"/>
                <a:cs typeface="Calibri" pitchFamily="34" charset="-120"/>
              </a:rPr>
              <a:t>Average speed</a:t>
            </a:r>
            <a:endParaRPr lang="en-US" sz="1250" dirty="0"/>
          </a:p>
        </p:txBody>
      </p:sp>
      <p:sp>
        <p:nvSpPr>
          <p:cNvPr id="9" name="Shape 7"/>
          <p:cNvSpPr/>
          <p:nvPr/>
        </p:nvSpPr>
        <p:spPr>
          <a:xfrm>
            <a:off x="4590288" y="1188720"/>
            <a:ext cx="2999232" cy="3474720"/>
          </a:xfrm>
          <a:prstGeom prst="roundRect">
            <a:avLst>
              <a:gd name="adj" fmla="val 3049"/>
            </a:avLst>
          </a:prstGeom>
          <a:solidFill>
            <a:srgbClr val="15223C"/>
          </a:solidFill>
          <a:ln w="12700">
            <a:solidFill>
              <a:srgbClr val="2B3E60"/>
            </a:solidFill>
            <a:prstDash val="solid"/>
          </a:ln>
        </p:spPr>
      </p:sp>
      <p:sp>
        <p:nvSpPr>
          <p:cNvPr id="10" name="Shape 8"/>
          <p:cNvSpPr/>
          <p:nvPr/>
        </p:nvSpPr>
        <p:spPr>
          <a:xfrm>
            <a:off x="4828032" y="1426464"/>
            <a:ext cx="1234440" cy="274320"/>
          </a:xfrm>
          <a:prstGeom prst="roundRect">
            <a:avLst>
              <a:gd name="adj" fmla="val 20000"/>
            </a:avLst>
          </a:prstGeom>
          <a:solidFill>
            <a:srgbClr val="132B4D"/>
          </a:solidFill>
          <a:ln w="12700">
            <a:solidFill>
              <a:srgbClr val="132B4D"/>
            </a:solidFill>
            <a:prstDash val="solid"/>
          </a:ln>
        </p:spPr>
      </p:sp>
      <p:sp>
        <p:nvSpPr>
          <p:cNvPr id="11" name="Text 9"/>
          <p:cNvSpPr/>
          <p:nvPr/>
        </p:nvSpPr>
        <p:spPr>
          <a:xfrm>
            <a:off x="4828032" y="1426464"/>
            <a:ext cx="1234440" cy="274320"/>
          </a:xfrm>
          <a:prstGeom prst="rect">
            <a:avLst/>
          </a:prstGeom>
          <a:noFill/>
          <a:ln/>
        </p:spPr>
        <p:txBody>
          <a:bodyPr wrap="square" lIns="0" tIns="0" rIns="0" bIns="0" rtlCol="0" anchor="ctr"/>
          <a:lstStyle/>
          <a:p>
            <a:pPr algn="ctr" indent="0" marL="0">
              <a:buNone/>
            </a:pPr>
            <a:r>
              <a:rPr lang="en-US" sz="950" b="1" spc="120" kern="0" dirty="0">
                <a:solidFill>
                  <a:srgbClr val="4D9BFF"/>
                </a:solidFill>
                <a:latin typeface="Arial" pitchFamily="34" charset="0"/>
                <a:ea typeface="Arial" pitchFamily="34" charset="-122"/>
                <a:cs typeface="Arial" pitchFamily="34" charset="-120"/>
              </a:rPr>
              <a:t>ACTIONS</a:t>
            </a:r>
            <a:endParaRPr lang="en-US" sz="950" dirty="0"/>
          </a:p>
        </p:txBody>
      </p:sp>
      <p:sp>
        <p:nvSpPr>
          <p:cNvPr id="12" name="Text 10"/>
          <p:cNvSpPr/>
          <p:nvPr/>
        </p:nvSpPr>
        <p:spPr>
          <a:xfrm>
            <a:off x="6227064" y="1426464"/>
            <a:ext cx="1124712" cy="274320"/>
          </a:xfrm>
          <a:prstGeom prst="rect">
            <a:avLst/>
          </a:prstGeom>
          <a:noFill/>
          <a:ln/>
        </p:spPr>
        <p:txBody>
          <a:bodyPr wrap="square" lIns="0" tIns="0" rIns="0" bIns="0" rtlCol="0" anchor="ctr"/>
          <a:lstStyle/>
          <a:p>
            <a:pPr indent="0" marL="0">
              <a:buNone/>
            </a:pPr>
            <a:r>
              <a:rPr lang="en-US" sz="1050" i="1" dirty="0">
                <a:solidFill>
                  <a:srgbClr val="6E86A8"/>
                </a:solidFill>
                <a:latin typeface="Calibri" pitchFamily="34" charset="0"/>
                <a:ea typeface="Calibri" pitchFamily="34" charset="-122"/>
                <a:cs typeface="Calibri" pitchFamily="34" charset="-120"/>
              </a:rPr>
              <a:t>discrete</a:t>
            </a:r>
            <a:endParaRPr lang="en-US" sz="1050" dirty="0"/>
          </a:p>
        </p:txBody>
      </p:sp>
      <p:sp>
        <p:nvSpPr>
          <p:cNvPr id="13" name="Shape 11"/>
          <p:cNvSpPr/>
          <p:nvPr/>
        </p:nvSpPr>
        <p:spPr>
          <a:xfrm>
            <a:off x="4828032" y="1719072"/>
            <a:ext cx="2523744" cy="548640"/>
          </a:xfrm>
          <a:prstGeom prst="roundRect">
            <a:avLst>
              <a:gd name="adj" fmla="val 13333"/>
            </a:avLst>
          </a:prstGeom>
          <a:solidFill>
            <a:srgbClr val="1B2B49"/>
          </a:solidFill>
          <a:ln w="12700">
            <a:solidFill>
              <a:srgbClr val="2B3E60"/>
            </a:solidFill>
            <a:prstDash val="solid"/>
          </a:ln>
        </p:spPr>
      </p:sp>
      <p:sp>
        <p:nvSpPr>
          <p:cNvPr id="14" name="Text 12"/>
          <p:cNvSpPr/>
          <p:nvPr/>
        </p:nvSpPr>
        <p:spPr>
          <a:xfrm>
            <a:off x="4937760" y="1719072"/>
            <a:ext cx="274320" cy="548640"/>
          </a:xfrm>
          <a:prstGeom prst="rect">
            <a:avLst/>
          </a:prstGeom>
          <a:noFill/>
          <a:ln/>
        </p:spPr>
        <p:txBody>
          <a:bodyPr wrap="square" lIns="0" tIns="0" rIns="0" bIns="0" rtlCol="0" anchor="ctr"/>
          <a:lstStyle/>
          <a:p>
            <a:pPr indent="0" marL="0">
              <a:buNone/>
            </a:pPr>
            <a:r>
              <a:rPr lang="en-US" sz="1100" b="1" dirty="0">
                <a:solidFill>
                  <a:srgbClr val="4D9BFF"/>
                </a:solidFill>
                <a:latin typeface="Courier New" pitchFamily="34" charset="0"/>
                <a:ea typeface="Courier New" pitchFamily="34" charset="-122"/>
                <a:cs typeface="Courier New" pitchFamily="34" charset="-120"/>
              </a:rPr>
              <a:t>1</a:t>
            </a:r>
            <a:endParaRPr lang="en-US" sz="1100" dirty="0"/>
          </a:p>
        </p:txBody>
      </p:sp>
      <p:sp>
        <p:nvSpPr>
          <p:cNvPr id="15" name="Text 13"/>
          <p:cNvSpPr/>
          <p:nvPr/>
        </p:nvSpPr>
        <p:spPr>
          <a:xfrm>
            <a:off x="5230368" y="1719072"/>
            <a:ext cx="2011680" cy="5486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Keep current signal</a:t>
            </a:r>
            <a:endParaRPr lang="en-US" sz="1150" dirty="0"/>
          </a:p>
        </p:txBody>
      </p:sp>
      <p:sp>
        <p:nvSpPr>
          <p:cNvPr id="16" name="Shape 14"/>
          <p:cNvSpPr/>
          <p:nvPr/>
        </p:nvSpPr>
        <p:spPr>
          <a:xfrm>
            <a:off x="4828032" y="2414016"/>
            <a:ext cx="2523744" cy="548640"/>
          </a:xfrm>
          <a:prstGeom prst="roundRect">
            <a:avLst>
              <a:gd name="adj" fmla="val 13333"/>
            </a:avLst>
          </a:prstGeom>
          <a:solidFill>
            <a:srgbClr val="1B2B49"/>
          </a:solidFill>
          <a:ln w="12700">
            <a:solidFill>
              <a:srgbClr val="2B3E60"/>
            </a:solidFill>
            <a:prstDash val="solid"/>
          </a:ln>
        </p:spPr>
      </p:sp>
      <p:sp>
        <p:nvSpPr>
          <p:cNvPr id="17" name="Text 15"/>
          <p:cNvSpPr/>
          <p:nvPr/>
        </p:nvSpPr>
        <p:spPr>
          <a:xfrm>
            <a:off x="4937760" y="2414016"/>
            <a:ext cx="274320" cy="548640"/>
          </a:xfrm>
          <a:prstGeom prst="rect">
            <a:avLst/>
          </a:prstGeom>
          <a:noFill/>
          <a:ln/>
        </p:spPr>
        <p:txBody>
          <a:bodyPr wrap="square" lIns="0" tIns="0" rIns="0" bIns="0" rtlCol="0" anchor="ctr"/>
          <a:lstStyle/>
          <a:p>
            <a:pPr indent="0" marL="0">
              <a:buNone/>
            </a:pPr>
            <a:r>
              <a:rPr lang="en-US" sz="1100" b="1" dirty="0">
                <a:solidFill>
                  <a:srgbClr val="4D9BFF"/>
                </a:solidFill>
                <a:latin typeface="Courier New" pitchFamily="34" charset="0"/>
                <a:ea typeface="Courier New" pitchFamily="34" charset="-122"/>
                <a:cs typeface="Courier New" pitchFamily="34" charset="-120"/>
              </a:rPr>
              <a:t>2</a:t>
            </a:r>
            <a:endParaRPr lang="en-US" sz="1100" dirty="0"/>
          </a:p>
        </p:txBody>
      </p:sp>
      <p:sp>
        <p:nvSpPr>
          <p:cNvPr id="18" name="Text 16"/>
          <p:cNvSpPr/>
          <p:nvPr/>
        </p:nvSpPr>
        <p:spPr>
          <a:xfrm>
            <a:off x="5230368" y="2414016"/>
            <a:ext cx="2011680" cy="5486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Extend green</a:t>
            </a:r>
            <a:endParaRPr lang="en-US" sz="1150" dirty="0"/>
          </a:p>
        </p:txBody>
      </p:sp>
      <p:sp>
        <p:nvSpPr>
          <p:cNvPr id="19" name="Shape 17"/>
          <p:cNvSpPr/>
          <p:nvPr/>
        </p:nvSpPr>
        <p:spPr>
          <a:xfrm>
            <a:off x="4828032" y="3108960"/>
            <a:ext cx="2523744" cy="548640"/>
          </a:xfrm>
          <a:prstGeom prst="roundRect">
            <a:avLst>
              <a:gd name="adj" fmla="val 13333"/>
            </a:avLst>
          </a:prstGeom>
          <a:solidFill>
            <a:srgbClr val="1B2B49"/>
          </a:solidFill>
          <a:ln w="12700">
            <a:solidFill>
              <a:srgbClr val="2B3E60"/>
            </a:solidFill>
            <a:prstDash val="solid"/>
          </a:ln>
        </p:spPr>
      </p:sp>
      <p:sp>
        <p:nvSpPr>
          <p:cNvPr id="20" name="Text 18"/>
          <p:cNvSpPr/>
          <p:nvPr/>
        </p:nvSpPr>
        <p:spPr>
          <a:xfrm>
            <a:off x="4937760" y="3108960"/>
            <a:ext cx="274320" cy="548640"/>
          </a:xfrm>
          <a:prstGeom prst="rect">
            <a:avLst/>
          </a:prstGeom>
          <a:noFill/>
          <a:ln/>
        </p:spPr>
        <p:txBody>
          <a:bodyPr wrap="square" lIns="0" tIns="0" rIns="0" bIns="0" rtlCol="0" anchor="ctr"/>
          <a:lstStyle/>
          <a:p>
            <a:pPr indent="0" marL="0">
              <a:buNone/>
            </a:pPr>
            <a:r>
              <a:rPr lang="en-US" sz="1100" b="1" dirty="0">
                <a:solidFill>
                  <a:srgbClr val="4D9BFF"/>
                </a:solidFill>
                <a:latin typeface="Courier New" pitchFamily="34" charset="0"/>
                <a:ea typeface="Courier New" pitchFamily="34" charset="-122"/>
                <a:cs typeface="Courier New" pitchFamily="34" charset="-120"/>
              </a:rPr>
              <a:t>3</a:t>
            </a:r>
            <a:endParaRPr lang="en-US" sz="1100" dirty="0"/>
          </a:p>
        </p:txBody>
      </p:sp>
      <p:sp>
        <p:nvSpPr>
          <p:cNvPr id="21" name="Text 19"/>
          <p:cNvSpPr/>
          <p:nvPr/>
        </p:nvSpPr>
        <p:spPr>
          <a:xfrm>
            <a:off x="5230368" y="3108960"/>
            <a:ext cx="2011680" cy="5486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Switch signal</a:t>
            </a:r>
            <a:endParaRPr lang="en-US" sz="1150" dirty="0"/>
          </a:p>
        </p:txBody>
      </p:sp>
      <p:sp>
        <p:nvSpPr>
          <p:cNvPr id="22" name="Shape 20"/>
          <p:cNvSpPr/>
          <p:nvPr/>
        </p:nvSpPr>
        <p:spPr>
          <a:xfrm>
            <a:off x="4828032" y="3803904"/>
            <a:ext cx="2523744" cy="548640"/>
          </a:xfrm>
          <a:prstGeom prst="roundRect">
            <a:avLst>
              <a:gd name="adj" fmla="val 13333"/>
            </a:avLst>
          </a:prstGeom>
          <a:solidFill>
            <a:srgbClr val="1B2B49"/>
          </a:solidFill>
          <a:ln w="12700">
            <a:solidFill>
              <a:srgbClr val="2B3E60"/>
            </a:solidFill>
            <a:prstDash val="solid"/>
          </a:ln>
        </p:spPr>
      </p:sp>
      <p:sp>
        <p:nvSpPr>
          <p:cNvPr id="23" name="Text 21"/>
          <p:cNvSpPr/>
          <p:nvPr/>
        </p:nvSpPr>
        <p:spPr>
          <a:xfrm>
            <a:off x="4937760" y="3803904"/>
            <a:ext cx="274320" cy="548640"/>
          </a:xfrm>
          <a:prstGeom prst="rect">
            <a:avLst/>
          </a:prstGeom>
          <a:noFill/>
          <a:ln/>
        </p:spPr>
        <p:txBody>
          <a:bodyPr wrap="square" lIns="0" tIns="0" rIns="0" bIns="0" rtlCol="0" anchor="ctr"/>
          <a:lstStyle/>
          <a:p>
            <a:pPr indent="0" marL="0">
              <a:buNone/>
            </a:pPr>
            <a:r>
              <a:rPr lang="en-US" sz="1100" b="1" dirty="0">
                <a:solidFill>
                  <a:srgbClr val="4D9BFF"/>
                </a:solidFill>
                <a:latin typeface="Courier New" pitchFamily="34" charset="0"/>
                <a:ea typeface="Courier New" pitchFamily="34" charset="-122"/>
                <a:cs typeface="Courier New" pitchFamily="34" charset="-120"/>
              </a:rPr>
              <a:t>4</a:t>
            </a:r>
            <a:endParaRPr lang="en-US" sz="1100" dirty="0"/>
          </a:p>
        </p:txBody>
      </p:sp>
      <p:sp>
        <p:nvSpPr>
          <p:cNvPr id="24" name="Text 22"/>
          <p:cNvSpPr/>
          <p:nvPr/>
        </p:nvSpPr>
        <p:spPr>
          <a:xfrm>
            <a:off x="5230368" y="3803904"/>
            <a:ext cx="2011680" cy="5486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Reduce green</a:t>
            </a:r>
            <a:endParaRPr lang="en-US" sz="1150" dirty="0"/>
          </a:p>
        </p:txBody>
      </p:sp>
      <p:sp>
        <p:nvSpPr>
          <p:cNvPr id="25" name="Shape 23"/>
          <p:cNvSpPr/>
          <p:nvPr/>
        </p:nvSpPr>
        <p:spPr>
          <a:xfrm>
            <a:off x="7836408" y="1188720"/>
            <a:ext cx="3803904" cy="3474720"/>
          </a:xfrm>
          <a:prstGeom prst="roundRect">
            <a:avLst>
              <a:gd name="adj" fmla="val 2632"/>
            </a:avLst>
          </a:prstGeom>
          <a:solidFill>
            <a:srgbClr val="15223C"/>
          </a:solidFill>
          <a:ln w="12700">
            <a:solidFill>
              <a:srgbClr val="2B3E60"/>
            </a:solidFill>
            <a:prstDash val="solid"/>
          </a:ln>
        </p:spPr>
      </p:sp>
      <p:sp>
        <p:nvSpPr>
          <p:cNvPr id="26" name="Shape 24"/>
          <p:cNvSpPr/>
          <p:nvPr/>
        </p:nvSpPr>
        <p:spPr>
          <a:xfrm>
            <a:off x="8074152" y="1426464"/>
            <a:ext cx="1188720" cy="274320"/>
          </a:xfrm>
          <a:prstGeom prst="roundRect">
            <a:avLst>
              <a:gd name="adj" fmla="val 20000"/>
            </a:avLst>
          </a:prstGeom>
          <a:solidFill>
            <a:srgbClr val="132B4D"/>
          </a:solidFill>
          <a:ln w="12700">
            <a:solidFill>
              <a:srgbClr val="132B4D"/>
            </a:solidFill>
            <a:prstDash val="solid"/>
          </a:ln>
        </p:spPr>
      </p:sp>
      <p:sp>
        <p:nvSpPr>
          <p:cNvPr id="27" name="Text 25"/>
          <p:cNvSpPr/>
          <p:nvPr/>
        </p:nvSpPr>
        <p:spPr>
          <a:xfrm>
            <a:off x="8074152" y="1426464"/>
            <a:ext cx="1188720" cy="274320"/>
          </a:xfrm>
          <a:prstGeom prst="rect">
            <a:avLst/>
          </a:prstGeom>
          <a:noFill/>
          <a:ln/>
        </p:spPr>
        <p:txBody>
          <a:bodyPr wrap="square" lIns="0" tIns="0" rIns="0" bIns="0" rtlCol="0" anchor="ctr"/>
          <a:lstStyle/>
          <a:p>
            <a:pPr algn="ctr" indent="0" marL="0">
              <a:buNone/>
            </a:pPr>
            <a:r>
              <a:rPr lang="en-US" sz="950" b="1" spc="120" kern="0" dirty="0">
                <a:solidFill>
                  <a:srgbClr val="4D9BFF"/>
                </a:solidFill>
                <a:latin typeface="Arial" pitchFamily="34" charset="0"/>
                <a:ea typeface="Arial" pitchFamily="34" charset="-122"/>
                <a:cs typeface="Arial" pitchFamily="34" charset="-120"/>
              </a:rPr>
              <a:t>REWARD</a:t>
            </a:r>
            <a:endParaRPr lang="en-US" sz="950" dirty="0"/>
          </a:p>
        </p:txBody>
      </p:sp>
      <p:sp>
        <p:nvSpPr>
          <p:cNvPr id="28" name="Text 26"/>
          <p:cNvSpPr/>
          <p:nvPr/>
        </p:nvSpPr>
        <p:spPr>
          <a:xfrm>
            <a:off x="8092440" y="1773936"/>
            <a:ext cx="3291840" cy="237744"/>
          </a:xfrm>
          <a:prstGeom prst="rect">
            <a:avLst/>
          </a:prstGeom>
          <a:noFill/>
          <a:ln/>
        </p:spPr>
        <p:txBody>
          <a:bodyPr wrap="square" lIns="0" tIns="0" rIns="0" bIns="0" rtlCol="0" anchor="ctr"/>
          <a:lstStyle/>
          <a:p>
            <a:pPr indent="0" marL="0">
              <a:buNone/>
            </a:pPr>
            <a:r>
              <a:rPr lang="en-US" sz="1000" b="1" spc="120" kern="0" dirty="0">
                <a:solidFill>
                  <a:srgbClr val="2FD68C"/>
                </a:solidFill>
                <a:latin typeface="Arial" pitchFamily="34" charset="0"/>
                <a:ea typeface="Arial" pitchFamily="34" charset="-122"/>
                <a:cs typeface="Arial" pitchFamily="34" charset="-120"/>
              </a:rPr>
              <a:t>REWARDED FOR  +</a:t>
            </a:r>
            <a:endParaRPr lang="en-US" sz="1000" dirty="0"/>
          </a:p>
        </p:txBody>
      </p:sp>
      <p:sp>
        <p:nvSpPr>
          <p:cNvPr id="29" name="Text 27"/>
          <p:cNvSpPr/>
          <p:nvPr/>
        </p:nvSpPr>
        <p:spPr>
          <a:xfrm>
            <a:off x="8119872" y="2066544"/>
            <a:ext cx="3246120" cy="10972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Decreasing queue length</a:t>
            </a:r>
            <a:endParaRPr lang="en-US" sz="1150" dirty="0"/>
          </a:p>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Decreasing waiting time</a:t>
            </a:r>
            <a:endParaRPr lang="en-US" sz="1150" dirty="0"/>
          </a:p>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Increasing vehicle throughput</a:t>
            </a:r>
            <a:endParaRPr lang="en-US" sz="1150" dirty="0"/>
          </a:p>
          <a:p>
            <a:pPr marL="342900" indent="-342900">
              <a:lnSpc>
                <a:spcPct val="100000"/>
              </a:lnSpc>
              <a:spcAft>
                <a:spcPts val="300"/>
              </a:spcAft>
              <a:buSzPct val="100000"/>
              <a:buChar char="•"/>
            </a:pPr>
            <a:r>
              <a:rPr lang="en-US" sz="1150" dirty="0">
                <a:solidFill>
                  <a:srgbClr val="FFFFFF"/>
                </a:solidFill>
                <a:latin typeface="Calibri" pitchFamily="34" charset="0"/>
                <a:ea typeface="Calibri" pitchFamily="34" charset="-122"/>
                <a:cs typeface="Calibri" pitchFamily="34" charset="-120"/>
              </a:rPr>
              <a:t>Maintaining smooth flow</a:t>
            </a:r>
            <a:endParaRPr lang="en-US" sz="1150" dirty="0"/>
          </a:p>
        </p:txBody>
      </p:sp>
      <p:sp>
        <p:nvSpPr>
          <p:cNvPr id="30" name="Text 28"/>
          <p:cNvSpPr/>
          <p:nvPr/>
        </p:nvSpPr>
        <p:spPr>
          <a:xfrm>
            <a:off x="8092440" y="3255264"/>
            <a:ext cx="3291840" cy="237744"/>
          </a:xfrm>
          <a:prstGeom prst="rect">
            <a:avLst/>
          </a:prstGeom>
          <a:noFill/>
          <a:ln/>
        </p:spPr>
        <p:txBody>
          <a:bodyPr wrap="square" lIns="0" tIns="0" rIns="0" bIns="0" rtlCol="0" anchor="ctr"/>
          <a:lstStyle/>
          <a:p>
            <a:pPr indent="0" marL="0">
              <a:buNone/>
            </a:pPr>
            <a:r>
              <a:rPr lang="en-US" sz="1000" b="1" spc="120" kern="0" dirty="0">
                <a:solidFill>
                  <a:srgbClr val="E74C3C"/>
                </a:solidFill>
                <a:latin typeface="Arial" pitchFamily="34" charset="0"/>
                <a:ea typeface="Arial" pitchFamily="34" charset="-122"/>
                <a:cs typeface="Arial" pitchFamily="34" charset="-120"/>
              </a:rPr>
              <a:t>PENALIZED FOR  −</a:t>
            </a:r>
            <a:endParaRPr lang="en-US" sz="1000" dirty="0"/>
          </a:p>
        </p:txBody>
      </p:sp>
      <p:sp>
        <p:nvSpPr>
          <p:cNvPr id="31" name="Text 29"/>
          <p:cNvSpPr/>
          <p:nvPr/>
        </p:nvSpPr>
        <p:spPr>
          <a:xfrm>
            <a:off x="8119872" y="3547872"/>
            <a:ext cx="3246120" cy="105156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Long queues</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Excessive waiting</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Poor throughput</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Frequent unnecessary switching</a:t>
            </a:r>
            <a:endParaRPr lang="en-US" sz="1150" dirty="0"/>
          </a:p>
        </p:txBody>
      </p:sp>
      <p:sp>
        <p:nvSpPr>
          <p:cNvPr id="32" name="Shape 30"/>
          <p:cNvSpPr/>
          <p:nvPr/>
        </p:nvSpPr>
        <p:spPr>
          <a:xfrm>
            <a:off x="548640" y="4919472"/>
            <a:ext cx="11091672" cy="1170432"/>
          </a:xfrm>
          <a:prstGeom prst="roundRect">
            <a:avLst>
              <a:gd name="adj" fmla="val 7813"/>
            </a:avLst>
          </a:prstGeom>
          <a:solidFill>
            <a:srgbClr val="0D1730"/>
          </a:solidFill>
          <a:ln w="12700">
            <a:solidFill>
              <a:srgbClr val="4D9BFF"/>
            </a:solidFill>
            <a:prstDash val="solid"/>
          </a:ln>
        </p:spPr>
      </p:sp>
      <p:sp>
        <p:nvSpPr>
          <p:cNvPr id="33" name="Text 31"/>
          <p:cNvSpPr/>
          <p:nvPr/>
        </p:nvSpPr>
        <p:spPr>
          <a:xfrm>
            <a:off x="822960" y="5047488"/>
            <a:ext cx="105156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R_congestion  =  − α (Queue Length)  − β (Waiting Time)  + γ (Throughput)</a:t>
            </a:r>
            <a:endParaRPr lang="en-US" sz="1700" dirty="0"/>
          </a:p>
        </p:txBody>
      </p:sp>
      <p:sp>
        <p:nvSpPr>
          <p:cNvPr id="34" name="Text 32"/>
          <p:cNvSpPr/>
          <p:nvPr/>
        </p:nvSpPr>
        <p:spPr>
          <a:xfrm>
            <a:off x="822960" y="5486400"/>
            <a:ext cx="10515600" cy="365760"/>
          </a:xfrm>
          <a:prstGeom prst="rect">
            <a:avLst/>
          </a:prstGeom>
          <a:noFill/>
          <a:ln/>
        </p:spPr>
        <p:txBody>
          <a:bodyPr wrap="square" lIns="0" tIns="0" rIns="0" bIns="0" rtlCol="0" anchor="ctr"/>
          <a:lstStyle/>
          <a:p>
            <a:pPr algn="ctr" indent="0" marL="0">
              <a:buNone/>
            </a:pPr>
            <a:r>
              <a:rPr lang="en-US" sz="1300" b="1" dirty="0">
                <a:solidFill>
                  <a:srgbClr val="4D9BFF"/>
                </a:solidFill>
                <a:latin typeface="Arial" pitchFamily="34" charset="0"/>
                <a:ea typeface="Arial" pitchFamily="34" charset="-122"/>
                <a:cs typeface="Arial" pitchFamily="34" charset="-120"/>
              </a:rPr>
              <a:t>Queue  ↓      +      Waiting  ↓      +      Throughput  ↑      =      Higher Reward</a:t>
            </a:r>
            <a:endParaRPr lang="en-US" sz="1300" dirty="0"/>
          </a:p>
        </p:txBody>
      </p:sp>
      <p:sp>
        <p:nvSpPr>
          <p:cNvPr id="36" name="Text 33"/>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Delna Liz Denny</a:t>
            </a:r>
            <a:endParaRPr lang="en-US" sz="950" dirty="0"/>
          </a:p>
        </p:txBody>
      </p:sp>
      <p:sp>
        <p:nvSpPr>
          <p:cNvPr id="37" name="Text 34"/>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4D9BFF"/>
                </a:solidFill>
                <a:latin typeface="Calibri" pitchFamily="34" charset="0"/>
                <a:ea typeface="Calibri" pitchFamily="34" charset="-122"/>
                <a:cs typeface="Calibri" pitchFamily="34" charset="-120"/>
              </a:rPr>
              <a:t>16 / 22</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4D9BFF"/>
                </a:solidFill>
                <a:latin typeface="Arial" pitchFamily="34" charset="0"/>
                <a:ea typeface="Arial" pitchFamily="34" charset="-122"/>
                <a:cs typeface="Arial" pitchFamily="34" charset="-120"/>
              </a:rPr>
              <a:t>CONGESTION REDUCTION  ·  WORKING SCENARIO</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Detecting and Correcting an Imbalance</a:t>
            </a:r>
            <a:endParaRPr lang="en-US" sz="2800" dirty="0"/>
          </a:p>
        </p:txBody>
      </p:sp>
      <p:sp>
        <p:nvSpPr>
          <p:cNvPr id="4" name="Shape 2"/>
          <p:cNvSpPr/>
          <p:nvPr/>
        </p:nvSpPr>
        <p:spPr>
          <a:xfrm>
            <a:off x="548640" y="1188720"/>
            <a:ext cx="5532120" cy="4663440"/>
          </a:xfrm>
          <a:prstGeom prst="roundRect">
            <a:avLst>
              <a:gd name="adj" fmla="val 1961"/>
            </a:avLst>
          </a:prstGeom>
          <a:solidFill>
            <a:srgbClr val="15223C"/>
          </a:solidFill>
          <a:ln w="12700">
            <a:solidFill>
              <a:srgbClr val="2B3E60"/>
            </a:solidFill>
            <a:prstDash val="solid"/>
          </a:ln>
        </p:spPr>
      </p:sp>
      <p:sp>
        <p:nvSpPr>
          <p:cNvPr id="5" name="Shape 3"/>
          <p:cNvSpPr/>
          <p:nvPr/>
        </p:nvSpPr>
        <p:spPr>
          <a:xfrm>
            <a:off x="2743200" y="1463040"/>
            <a:ext cx="1133856" cy="3913632"/>
          </a:xfrm>
          <a:prstGeom prst="rect">
            <a:avLst/>
          </a:prstGeom>
          <a:solidFill>
            <a:srgbClr val="0D1730"/>
          </a:solidFill>
          <a:ln w="12700">
            <a:solidFill>
              <a:srgbClr val="333333"/>
            </a:solidFill>
            <a:prstDash val="solid"/>
          </a:ln>
        </p:spPr>
      </p:sp>
      <p:sp>
        <p:nvSpPr>
          <p:cNvPr id="6" name="Shape 4"/>
          <p:cNvSpPr/>
          <p:nvPr/>
        </p:nvSpPr>
        <p:spPr>
          <a:xfrm>
            <a:off x="841248" y="2999232"/>
            <a:ext cx="4937760" cy="1133856"/>
          </a:xfrm>
          <a:prstGeom prst="rect">
            <a:avLst/>
          </a:prstGeom>
          <a:solidFill>
            <a:srgbClr val="0D1730"/>
          </a:solidFill>
          <a:ln w="12700">
            <a:solidFill>
              <a:srgbClr val="333333"/>
            </a:solidFill>
            <a:prstDash val="solid"/>
          </a:ln>
        </p:spPr>
      </p:sp>
      <p:sp>
        <p:nvSpPr>
          <p:cNvPr id="7" name="Shape 5"/>
          <p:cNvSpPr/>
          <p:nvPr/>
        </p:nvSpPr>
        <p:spPr>
          <a:xfrm>
            <a:off x="960120" y="3538728"/>
            <a:ext cx="201168" cy="54864"/>
          </a:xfrm>
          <a:prstGeom prst="rect">
            <a:avLst/>
          </a:prstGeom>
          <a:solidFill>
            <a:srgbClr val="2B3E60"/>
          </a:solidFill>
          <a:ln w="12700">
            <a:solidFill>
              <a:srgbClr val="333333"/>
            </a:solidFill>
            <a:prstDash val="solid"/>
          </a:ln>
        </p:spPr>
      </p:sp>
      <p:sp>
        <p:nvSpPr>
          <p:cNvPr id="8" name="Shape 6"/>
          <p:cNvSpPr/>
          <p:nvPr/>
        </p:nvSpPr>
        <p:spPr>
          <a:xfrm>
            <a:off x="1344168" y="3538728"/>
            <a:ext cx="201168" cy="54864"/>
          </a:xfrm>
          <a:prstGeom prst="rect">
            <a:avLst/>
          </a:prstGeom>
          <a:solidFill>
            <a:srgbClr val="2B3E60"/>
          </a:solidFill>
          <a:ln w="12700">
            <a:solidFill>
              <a:srgbClr val="333333"/>
            </a:solidFill>
            <a:prstDash val="solid"/>
          </a:ln>
        </p:spPr>
      </p:sp>
      <p:sp>
        <p:nvSpPr>
          <p:cNvPr id="9" name="Shape 7"/>
          <p:cNvSpPr/>
          <p:nvPr/>
        </p:nvSpPr>
        <p:spPr>
          <a:xfrm>
            <a:off x="1728216" y="3538728"/>
            <a:ext cx="201168" cy="54864"/>
          </a:xfrm>
          <a:prstGeom prst="rect">
            <a:avLst/>
          </a:prstGeom>
          <a:solidFill>
            <a:srgbClr val="2B3E60"/>
          </a:solidFill>
          <a:ln w="12700">
            <a:solidFill>
              <a:srgbClr val="333333"/>
            </a:solidFill>
            <a:prstDash val="solid"/>
          </a:ln>
        </p:spPr>
      </p:sp>
      <p:sp>
        <p:nvSpPr>
          <p:cNvPr id="10" name="Shape 8"/>
          <p:cNvSpPr/>
          <p:nvPr/>
        </p:nvSpPr>
        <p:spPr>
          <a:xfrm>
            <a:off x="4572000" y="3538728"/>
            <a:ext cx="201168" cy="54864"/>
          </a:xfrm>
          <a:prstGeom prst="rect">
            <a:avLst/>
          </a:prstGeom>
          <a:solidFill>
            <a:srgbClr val="2B3E60"/>
          </a:solidFill>
          <a:ln w="12700">
            <a:solidFill>
              <a:srgbClr val="333333"/>
            </a:solidFill>
            <a:prstDash val="solid"/>
          </a:ln>
        </p:spPr>
      </p:sp>
      <p:sp>
        <p:nvSpPr>
          <p:cNvPr id="11" name="Shape 9"/>
          <p:cNvSpPr/>
          <p:nvPr/>
        </p:nvSpPr>
        <p:spPr>
          <a:xfrm>
            <a:off x="4956048" y="3538728"/>
            <a:ext cx="201168" cy="54864"/>
          </a:xfrm>
          <a:prstGeom prst="rect">
            <a:avLst/>
          </a:prstGeom>
          <a:solidFill>
            <a:srgbClr val="2B3E60"/>
          </a:solidFill>
          <a:ln w="12700">
            <a:solidFill>
              <a:srgbClr val="333333"/>
            </a:solidFill>
            <a:prstDash val="solid"/>
          </a:ln>
        </p:spPr>
      </p:sp>
      <p:sp>
        <p:nvSpPr>
          <p:cNvPr id="12" name="Shape 10"/>
          <p:cNvSpPr/>
          <p:nvPr/>
        </p:nvSpPr>
        <p:spPr>
          <a:xfrm>
            <a:off x="5340096" y="3538728"/>
            <a:ext cx="201168" cy="54864"/>
          </a:xfrm>
          <a:prstGeom prst="rect">
            <a:avLst/>
          </a:prstGeom>
          <a:solidFill>
            <a:srgbClr val="2B3E60"/>
          </a:solidFill>
          <a:ln w="12700">
            <a:solidFill>
              <a:srgbClr val="333333"/>
            </a:solidFill>
            <a:prstDash val="solid"/>
          </a:ln>
        </p:spPr>
      </p:sp>
      <p:sp>
        <p:nvSpPr>
          <p:cNvPr id="13" name="Shape 11"/>
          <p:cNvSpPr/>
          <p:nvPr/>
        </p:nvSpPr>
        <p:spPr>
          <a:xfrm>
            <a:off x="2834640" y="1572768"/>
            <a:ext cx="402336" cy="274320"/>
          </a:xfrm>
          <a:prstGeom prst="roundRect">
            <a:avLst>
              <a:gd name="adj" fmla="val 16667"/>
            </a:avLst>
          </a:prstGeom>
          <a:solidFill>
            <a:srgbClr val="4D9BFF"/>
          </a:solidFill>
          <a:ln w="12700">
            <a:solidFill>
              <a:srgbClr val="333333"/>
            </a:solidFill>
            <a:prstDash val="solid"/>
          </a:ln>
        </p:spPr>
      </p:sp>
      <p:sp>
        <p:nvSpPr>
          <p:cNvPr id="14" name="Shape 12"/>
          <p:cNvSpPr/>
          <p:nvPr/>
        </p:nvSpPr>
        <p:spPr>
          <a:xfrm>
            <a:off x="3383280" y="1572768"/>
            <a:ext cx="402336" cy="274320"/>
          </a:xfrm>
          <a:prstGeom prst="roundRect">
            <a:avLst>
              <a:gd name="adj" fmla="val 16667"/>
            </a:avLst>
          </a:prstGeom>
          <a:solidFill>
            <a:srgbClr val="4D9BFF"/>
          </a:solidFill>
          <a:ln w="12700">
            <a:solidFill>
              <a:srgbClr val="333333"/>
            </a:solidFill>
            <a:prstDash val="solid"/>
          </a:ln>
        </p:spPr>
      </p:sp>
      <p:sp>
        <p:nvSpPr>
          <p:cNvPr id="15" name="Shape 13"/>
          <p:cNvSpPr/>
          <p:nvPr/>
        </p:nvSpPr>
        <p:spPr>
          <a:xfrm>
            <a:off x="2834640" y="1938528"/>
            <a:ext cx="402336" cy="274320"/>
          </a:xfrm>
          <a:prstGeom prst="roundRect">
            <a:avLst>
              <a:gd name="adj" fmla="val 16667"/>
            </a:avLst>
          </a:prstGeom>
          <a:solidFill>
            <a:srgbClr val="4D9BFF"/>
          </a:solidFill>
          <a:ln w="12700">
            <a:solidFill>
              <a:srgbClr val="333333"/>
            </a:solidFill>
            <a:prstDash val="solid"/>
          </a:ln>
        </p:spPr>
      </p:sp>
      <p:sp>
        <p:nvSpPr>
          <p:cNvPr id="16" name="Shape 14"/>
          <p:cNvSpPr/>
          <p:nvPr/>
        </p:nvSpPr>
        <p:spPr>
          <a:xfrm>
            <a:off x="3383280" y="1938528"/>
            <a:ext cx="402336" cy="274320"/>
          </a:xfrm>
          <a:prstGeom prst="roundRect">
            <a:avLst>
              <a:gd name="adj" fmla="val 16667"/>
            </a:avLst>
          </a:prstGeom>
          <a:solidFill>
            <a:srgbClr val="4D9BFF"/>
          </a:solidFill>
          <a:ln w="12700">
            <a:solidFill>
              <a:srgbClr val="333333"/>
            </a:solidFill>
            <a:prstDash val="solid"/>
          </a:ln>
        </p:spPr>
      </p:sp>
      <p:sp>
        <p:nvSpPr>
          <p:cNvPr id="17" name="Shape 15"/>
          <p:cNvSpPr/>
          <p:nvPr/>
        </p:nvSpPr>
        <p:spPr>
          <a:xfrm>
            <a:off x="2834640" y="2304288"/>
            <a:ext cx="402336" cy="274320"/>
          </a:xfrm>
          <a:prstGeom prst="roundRect">
            <a:avLst>
              <a:gd name="adj" fmla="val 16667"/>
            </a:avLst>
          </a:prstGeom>
          <a:solidFill>
            <a:srgbClr val="4D9BFF"/>
          </a:solidFill>
          <a:ln w="12700">
            <a:solidFill>
              <a:srgbClr val="333333"/>
            </a:solidFill>
            <a:prstDash val="solid"/>
          </a:ln>
        </p:spPr>
      </p:sp>
      <p:sp>
        <p:nvSpPr>
          <p:cNvPr id="18" name="Shape 16"/>
          <p:cNvSpPr/>
          <p:nvPr/>
        </p:nvSpPr>
        <p:spPr>
          <a:xfrm>
            <a:off x="3383280" y="2304288"/>
            <a:ext cx="402336" cy="274320"/>
          </a:xfrm>
          <a:prstGeom prst="roundRect">
            <a:avLst>
              <a:gd name="adj" fmla="val 16667"/>
            </a:avLst>
          </a:prstGeom>
          <a:solidFill>
            <a:srgbClr val="4D9BFF"/>
          </a:solidFill>
          <a:ln w="12700">
            <a:solidFill>
              <a:srgbClr val="333333"/>
            </a:solidFill>
            <a:prstDash val="solid"/>
          </a:ln>
        </p:spPr>
      </p:sp>
      <p:sp>
        <p:nvSpPr>
          <p:cNvPr id="19" name="Shape 17"/>
          <p:cNvSpPr/>
          <p:nvPr/>
        </p:nvSpPr>
        <p:spPr>
          <a:xfrm>
            <a:off x="2834640" y="2670048"/>
            <a:ext cx="402336" cy="274320"/>
          </a:xfrm>
          <a:prstGeom prst="roundRect">
            <a:avLst>
              <a:gd name="adj" fmla="val 16667"/>
            </a:avLst>
          </a:prstGeom>
          <a:solidFill>
            <a:srgbClr val="4D9BFF"/>
          </a:solidFill>
          <a:ln w="12700">
            <a:solidFill>
              <a:srgbClr val="333333"/>
            </a:solidFill>
            <a:prstDash val="solid"/>
          </a:ln>
        </p:spPr>
      </p:sp>
      <p:sp>
        <p:nvSpPr>
          <p:cNvPr id="20" name="Shape 18"/>
          <p:cNvSpPr/>
          <p:nvPr/>
        </p:nvSpPr>
        <p:spPr>
          <a:xfrm>
            <a:off x="3383280" y="2670048"/>
            <a:ext cx="402336" cy="274320"/>
          </a:xfrm>
          <a:prstGeom prst="roundRect">
            <a:avLst>
              <a:gd name="adj" fmla="val 16667"/>
            </a:avLst>
          </a:prstGeom>
          <a:solidFill>
            <a:srgbClr val="4D9BFF"/>
          </a:solidFill>
          <a:ln w="12700">
            <a:solidFill>
              <a:srgbClr val="333333"/>
            </a:solidFill>
            <a:prstDash val="solid"/>
          </a:ln>
        </p:spPr>
      </p:sp>
      <p:sp>
        <p:nvSpPr>
          <p:cNvPr id="21" name="Shape 19"/>
          <p:cNvSpPr/>
          <p:nvPr/>
        </p:nvSpPr>
        <p:spPr>
          <a:xfrm>
            <a:off x="2834640" y="3035808"/>
            <a:ext cx="402336" cy="274320"/>
          </a:xfrm>
          <a:prstGeom prst="roundRect">
            <a:avLst>
              <a:gd name="adj" fmla="val 16667"/>
            </a:avLst>
          </a:prstGeom>
          <a:solidFill>
            <a:srgbClr val="4D9BFF"/>
          </a:solidFill>
          <a:ln w="12700">
            <a:solidFill>
              <a:srgbClr val="333333"/>
            </a:solidFill>
            <a:prstDash val="solid"/>
          </a:ln>
        </p:spPr>
      </p:sp>
      <p:sp>
        <p:nvSpPr>
          <p:cNvPr id="22" name="Shape 20"/>
          <p:cNvSpPr/>
          <p:nvPr/>
        </p:nvSpPr>
        <p:spPr>
          <a:xfrm>
            <a:off x="3383280" y="3035808"/>
            <a:ext cx="402336" cy="274320"/>
          </a:xfrm>
          <a:prstGeom prst="roundRect">
            <a:avLst>
              <a:gd name="adj" fmla="val 16667"/>
            </a:avLst>
          </a:prstGeom>
          <a:solidFill>
            <a:srgbClr val="4D9BFF"/>
          </a:solidFill>
          <a:ln w="12700">
            <a:solidFill>
              <a:srgbClr val="333333"/>
            </a:solidFill>
            <a:prstDash val="solid"/>
          </a:ln>
        </p:spPr>
      </p:sp>
      <p:sp>
        <p:nvSpPr>
          <p:cNvPr id="23" name="Shape 21"/>
          <p:cNvSpPr/>
          <p:nvPr/>
        </p:nvSpPr>
        <p:spPr>
          <a:xfrm>
            <a:off x="2834640" y="4261104"/>
            <a:ext cx="402336" cy="274320"/>
          </a:xfrm>
          <a:prstGeom prst="roundRect">
            <a:avLst>
              <a:gd name="adj" fmla="val 16667"/>
            </a:avLst>
          </a:prstGeom>
          <a:solidFill>
            <a:srgbClr val="4D9BFF"/>
          </a:solidFill>
          <a:ln w="12700">
            <a:solidFill>
              <a:srgbClr val="333333"/>
            </a:solidFill>
            <a:prstDash val="solid"/>
          </a:ln>
        </p:spPr>
      </p:sp>
      <p:sp>
        <p:nvSpPr>
          <p:cNvPr id="24" name="Shape 22"/>
          <p:cNvSpPr/>
          <p:nvPr/>
        </p:nvSpPr>
        <p:spPr>
          <a:xfrm>
            <a:off x="2834640" y="4599432"/>
            <a:ext cx="402336" cy="274320"/>
          </a:xfrm>
          <a:prstGeom prst="roundRect">
            <a:avLst>
              <a:gd name="adj" fmla="val 16667"/>
            </a:avLst>
          </a:prstGeom>
          <a:solidFill>
            <a:srgbClr val="4D9BFF"/>
          </a:solidFill>
          <a:ln w="12700">
            <a:solidFill>
              <a:srgbClr val="333333"/>
            </a:solidFill>
            <a:prstDash val="solid"/>
          </a:ln>
        </p:spPr>
      </p:sp>
      <p:sp>
        <p:nvSpPr>
          <p:cNvPr id="25" name="Shape 23"/>
          <p:cNvSpPr/>
          <p:nvPr/>
        </p:nvSpPr>
        <p:spPr>
          <a:xfrm>
            <a:off x="2834640" y="4937760"/>
            <a:ext cx="402336" cy="274320"/>
          </a:xfrm>
          <a:prstGeom prst="roundRect">
            <a:avLst>
              <a:gd name="adj" fmla="val 16667"/>
            </a:avLst>
          </a:prstGeom>
          <a:solidFill>
            <a:srgbClr val="4D9BFF"/>
          </a:solidFill>
          <a:ln w="12700">
            <a:solidFill>
              <a:srgbClr val="333333"/>
            </a:solidFill>
            <a:prstDash val="solid"/>
          </a:ln>
        </p:spPr>
      </p:sp>
      <p:sp>
        <p:nvSpPr>
          <p:cNvPr id="26" name="Shape 24"/>
          <p:cNvSpPr/>
          <p:nvPr/>
        </p:nvSpPr>
        <p:spPr>
          <a:xfrm>
            <a:off x="1234440" y="3127248"/>
            <a:ext cx="402336" cy="274320"/>
          </a:xfrm>
          <a:prstGeom prst="roundRect">
            <a:avLst>
              <a:gd name="adj" fmla="val 16667"/>
            </a:avLst>
          </a:prstGeom>
          <a:solidFill>
            <a:srgbClr val="1B2B49"/>
          </a:solidFill>
          <a:ln w="12700">
            <a:solidFill>
              <a:srgbClr val="2B3E60"/>
            </a:solidFill>
            <a:prstDash val="solid"/>
          </a:ln>
        </p:spPr>
      </p:sp>
      <p:sp>
        <p:nvSpPr>
          <p:cNvPr id="27" name="Shape 25"/>
          <p:cNvSpPr/>
          <p:nvPr/>
        </p:nvSpPr>
        <p:spPr>
          <a:xfrm>
            <a:off x="5074920" y="3712464"/>
            <a:ext cx="402336" cy="274320"/>
          </a:xfrm>
          <a:prstGeom prst="roundRect">
            <a:avLst>
              <a:gd name="adj" fmla="val 16667"/>
            </a:avLst>
          </a:prstGeom>
          <a:solidFill>
            <a:srgbClr val="1B2B49"/>
          </a:solidFill>
          <a:ln w="12700">
            <a:solidFill>
              <a:srgbClr val="2B3E60"/>
            </a:solidFill>
            <a:prstDash val="solid"/>
          </a:ln>
        </p:spPr>
      </p:sp>
      <p:sp>
        <p:nvSpPr>
          <p:cNvPr id="28" name="Text 26"/>
          <p:cNvSpPr/>
          <p:nvPr/>
        </p:nvSpPr>
        <p:spPr>
          <a:xfrm>
            <a:off x="3977640" y="1536192"/>
            <a:ext cx="1828800" cy="219456"/>
          </a:xfrm>
          <a:prstGeom prst="rect">
            <a:avLst/>
          </a:prstGeom>
          <a:noFill/>
          <a:ln/>
        </p:spPr>
        <p:txBody>
          <a:bodyPr wrap="square" lIns="0" tIns="0" rIns="0" bIns="0" rtlCol="0" anchor="ctr"/>
          <a:lstStyle/>
          <a:p>
            <a:pPr indent="0" marL="0">
              <a:buNone/>
            </a:pPr>
            <a:r>
              <a:rPr lang="en-US" sz="1050" b="1" dirty="0">
                <a:solidFill>
                  <a:srgbClr val="4D9BFF"/>
                </a:solidFill>
                <a:latin typeface="Arial" pitchFamily="34" charset="0"/>
                <a:ea typeface="Arial" pitchFamily="34" charset="-122"/>
                <a:cs typeface="Arial" pitchFamily="34" charset="-120"/>
              </a:rPr>
              <a:t>NORTH–SOUTH</a:t>
            </a:r>
            <a:endParaRPr lang="en-US" sz="1050" dirty="0"/>
          </a:p>
        </p:txBody>
      </p:sp>
      <p:sp>
        <p:nvSpPr>
          <p:cNvPr id="29" name="Text 27"/>
          <p:cNvSpPr/>
          <p:nvPr/>
        </p:nvSpPr>
        <p:spPr>
          <a:xfrm>
            <a:off x="3977640" y="1737360"/>
            <a:ext cx="1828800" cy="219456"/>
          </a:xfrm>
          <a:prstGeom prst="rect">
            <a:avLst/>
          </a:prstGeom>
          <a:noFill/>
          <a:ln/>
        </p:spPr>
        <p:txBody>
          <a:bodyPr wrap="square" lIns="0" tIns="0" rIns="0" bIns="0" rtlCol="0" anchor="ctr"/>
          <a:lstStyle/>
          <a:p>
            <a:pPr indent="0" marL="0">
              <a:buNone/>
            </a:pPr>
            <a:r>
              <a:rPr lang="en-US" sz="1100" dirty="0">
                <a:solidFill>
                  <a:srgbClr val="E74C3C"/>
                </a:solidFill>
                <a:latin typeface="Calibri" pitchFamily="34" charset="0"/>
                <a:ea typeface="Calibri" pitchFamily="34" charset="-122"/>
                <a:cs typeface="Calibri" pitchFamily="34" charset="-120"/>
              </a:rPr>
              <a:t>large queue</a:t>
            </a:r>
            <a:endParaRPr lang="en-US" sz="1100" dirty="0"/>
          </a:p>
        </p:txBody>
      </p:sp>
      <p:sp>
        <p:nvSpPr>
          <p:cNvPr id="30" name="Text 28"/>
          <p:cNvSpPr/>
          <p:nvPr/>
        </p:nvSpPr>
        <p:spPr>
          <a:xfrm>
            <a:off x="841248" y="4315968"/>
            <a:ext cx="1828800" cy="219456"/>
          </a:xfrm>
          <a:prstGeom prst="rect">
            <a:avLst/>
          </a:prstGeom>
          <a:noFill/>
          <a:ln/>
        </p:spPr>
        <p:txBody>
          <a:bodyPr wrap="square" lIns="0" tIns="0" rIns="0" bIns="0" rtlCol="0" anchor="ctr"/>
          <a:lstStyle/>
          <a:p>
            <a:pPr indent="0" marL="0">
              <a:buNone/>
            </a:pPr>
            <a:r>
              <a:rPr lang="en-US" sz="1050" b="1" dirty="0">
                <a:solidFill>
                  <a:srgbClr val="9DB2CE"/>
                </a:solidFill>
                <a:latin typeface="Arial" pitchFamily="34" charset="0"/>
                <a:ea typeface="Arial" pitchFamily="34" charset="-122"/>
                <a:cs typeface="Arial" pitchFamily="34" charset="-120"/>
              </a:rPr>
              <a:t>EAST–WEST</a:t>
            </a:r>
            <a:endParaRPr lang="en-US" sz="1050" dirty="0"/>
          </a:p>
        </p:txBody>
      </p:sp>
      <p:sp>
        <p:nvSpPr>
          <p:cNvPr id="31" name="Text 29"/>
          <p:cNvSpPr/>
          <p:nvPr/>
        </p:nvSpPr>
        <p:spPr>
          <a:xfrm>
            <a:off x="841248" y="4517136"/>
            <a:ext cx="1828800" cy="219456"/>
          </a:xfrm>
          <a:prstGeom prst="rect">
            <a:avLst/>
          </a:prstGeom>
          <a:noFill/>
          <a:ln/>
        </p:spPr>
        <p:txBody>
          <a:bodyPr wrap="square" lIns="0" tIns="0" rIns="0" bIns="0" rtlCol="0" anchor="ctr"/>
          <a:lstStyle/>
          <a:p>
            <a:pPr indent="0" marL="0">
              <a:buNone/>
            </a:pPr>
            <a:r>
              <a:rPr lang="en-US" sz="1100" dirty="0">
                <a:solidFill>
                  <a:srgbClr val="2FD68C"/>
                </a:solidFill>
                <a:latin typeface="Calibri" pitchFamily="34" charset="0"/>
                <a:ea typeface="Calibri" pitchFamily="34" charset="-122"/>
                <a:cs typeface="Calibri" pitchFamily="34" charset="-120"/>
              </a:rPr>
              <a:t>few vehicles</a:t>
            </a:r>
            <a:endParaRPr lang="en-US" sz="1100" dirty="0"/>
          </a:p>
        </p:txBody>
      </p:sp>
      <p:sp>
        <p:nvSpPr>
          <p:cNvPr id="32" name="Shape 30"/>
          <p:cNvSpPr/>
          <p:nvPr/>
        </p:nvSpPr>
        <p:spPr>
          <a:xfrm>
            <a:off x="2414016" y="2651760"/>
            <a:ext cx="256032" cy="256032"/>
          </a:xfrm>
          <a:prstGeom prst="ellipse">
            <a:avLst/>
          </a:prstGeom>
          <a:solidFill>
            <a:srgbClr val="2FD68C"/>
          </a:solidFill>
          <a:ln w="12700">
            <a:solidFill>
              <a:srgbClr val="2FD68C"/>
            </a:solidFill>
            <a:prstDash val="solid"/>
          </a:ln>
        </p:spPr>
      </p:sp>
      <p:sp>
        <p:nvSpPr>
          <p:cNvPr id="33" name="Text 31"/>
          <p:cNvSpPr/>
          <p:nvPr/>
        </p:nvSpPr>
        <p:spPr>
          <a:xfrm>
            <a:off x="1207008" y="2615184"/>
            <a:ext cx="1170432" cy="274320"/>
          </a:xfrm>
          <a:prstGeom prst="rect">
            <a:avLst/>
          </a:prstGeom>
          <a:noFill/>
          <a:ln/>
        </p:spPr>
        <p:txBody>
          <a:bodyPr wrap="square" lIns="0" tIns="0" rIns="0" bIns="0" rtlCol="0" anchor="ctr"/>
          <a:lstStyle/>
          <a:p>
            <a:pPr algn="r" indent="0" marL="0">
              <a:buNone/>
            </a:pPr>
            <a:r>
              <a:rPr lang="en-US" sz="1000" b="1" dirty="0">
                <a:solidFill>
                  <a:srgbClr val="2FD68C"/>
                </a:solidFill>
                <a:latin typeface="Arial" pitchFamily="34" charset="0"/>
                <a:ea typeface="Arial" pitchFamily="34" charset="-122"/>
                <a:cs typeface="Arial" pitchFamily="34" charset="-120"/>
              </a:rPr>
              <a:t>N–S extended</a:t>
            </a:r>
            <a:endParaRPr lang="en-US" sz="1000" dirty="0"/>
          </a:p>
        </p:txBody>
      </p:sp>
      <p:sp>
        <p:nvSpPr>
          <p:cNvPr id="34" name="Text 32"/>
          <p:cNvSpPr/>
          <p:nvPr/>
        </p:nvSpPr>
        <p:spPr>
          <a:xfrm>
            <a:off x="3127248" y="1243584"/>
            <a:ext cx="365760" cy="219456"/>
          </a:xfrm>
          <a:prstGeom prst="rect">
            <a:avLst/>
          </a:prstGeom>
          <a:noFill/>
          <a:ln/>
        </p:spPr>
        <p:txBody>
          <a:bodyPr wrap="square" lIns="0" tIns="0" rIns="0" bIns="0" rtlCol="0" anchor="ctr"/>
          <a:lstStyle/>
          <a:p>
            <a:pPr algn="ctr" indent="0" marL="0">
              <a:buNone/>
            </a:pPr>
            <a:r>
              <a:rPr lang="en-US" sz="1100" b="1" dirty="0">
                <a:solidFill>
                  <a:srgbClr val="6E86A8"/>
                </a:solidFill>
                <a:latin typeface="Arial" pitchFamily="34" charset="0"/>
                <a:ea typeface="Arial" pitchFamily="34" charset="-122"/>
                <a:cs typeface="Arial" pitchFamily="34" charset="-120"/>
              </a:rPr>
              <a:t>N</a:t>
            </a:r>
            <a:endParaRPr lang="en-US" sz="1100" dirty="0"/>
          </a:p>
        </p:txBody>
      </p:sp>
      <p:sp>
        <p:nvSpPr>
          <p:cNvPr id="35" name="Text 33"/>
          <p:cNvSpPr/>
          <p:nvPr/>
        </p:nvSpPr>
        <p:spPr>
          <a:xfrm>
            <a:off x="841248" y="5449824"/>
            <a:ext cx="4937760" cy="329184"/>
          </a:xfrm>
          <a:prstGeom prst="rect">
            <a:avLst/>
          </a:prstGeom>
          <a:noFill/>
          <a:ln/>
        </p:spPr>
        <p:txBody>
          <a:bodyPr wrap="square" lIns="0" tIns="0" rIns="0" bIns="0" rtlCol="0" anchor="ctr"/>
          <a:lstStyle/>
          <a:p>
            <a:pPr algn="ctr" indent="0" marL="0">
              <a:buNone/>
            </a:pPr>
            <a:r>
              <a:rPr lang="en-US" sz="1150" i="1" dirty="0">
                <a:solidFill>
                  <a:srgbClr val="6E86A8"/>
                </a:solidFill>
                <a:latin typeface="Calibri" pitchFamily="34" charset="0"/>
                <a:ea typeface="Calibri" pitchFamily="34" charset="-122"/>
                <a:cs typeface="Calibri" pitchFamily="34" charset="-120"/>
              </a:rPr>
              <a:t>Green time follows the demand, not the clock.</a:t>
            </a:r>
            <a:endParaRPr lang="en-US" sz="1150" dirty="0"/>
          </a:p>
        </p:txBody>
      </p:sp>
      <p:sp>
        <p:nvSpPr>
          <p:cNvPr id="36" name="Shape 34"/>
          <p:cNvSpPr/>
          <p:nvPr/>
        </p:nvSpPr>
        <p:spPr>
          <a:xfrm>
            <a:off x="6446520" y="1188720"/>
            <a:ext cx="5193792" cy="566928"/>
          </a:xfrm>
          <a:prstGeom prst="roundRect">
            <a:avLst>
              <a:gd name="adj" fmla="val 16129"/>
            </a:avLst>
          </a:prstGeom>
          <a:solidFill>
            <a:srgbClr val="15223C"/>
          </a:solidFill>
          <a:ln w="12700">
            <a:solidFill>
              <a:srgbClr val="2B3E60"/>
            </a:solidFill>
            <a:prstDash val="solid"/>
          </a:ln>
        </p:spPr>
      </p:sp>
      <p:sp>
        <p:nvSpPr>
          <p:cNvPr id="37" name="Text 35"/>
          <p:cNvSpPr/>
          <p:nvPr/>
        </p:nvSpPr>
        <p:spPr>
          <a:xfrm>
            <a:off x="6537960" y="1243584"/>
            <a:ext cx="5010912" cy="457200"/>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N–S: large queue   ·   E–W: small queue</a:t>
            </a:r>
            <a:endParaRPr lang="en-US" sz="1200" dirty="0"/>
          </a:p>
        </p:txBody>
      </p:sp>
      <p:sp>
        <p:nvSpPr>
          <p:cNvPr id="38" name="Shape 36"/>
          <p:cNvSpPr/>
          <p:nvPr/>
        </p:nvSpPr>
        <p:spPr>
          <a:xfrm rot="10800000">
            <a:off x="8933688" y="1810512"/>
            <a:ext cx="219456" cy="182880"/>
          </a:xfrm>
          <a:prstGeom prst="triangle">
            <a:avLst/>
          </a:prstGeom>
          <a:solidFill>
            <a:srgbClr val="4D9BFF"/>
          </a:solidFill>
          <a:ln w="12700">
            <a:solidFill>
              <a:srgbClr val="4D9BFF"/>
            </a:solidFill>
            <a:prstDash val="solid"/>
          </a:ln>
        </p:spPr>
      </p:sp>
      <p:sp>
        <p:nvSpPr>
          <p:cNvPr id="39" name="Shape 37"/>
          <p:cNvSpPr/>
          <p:nvPr/>
        </p:nvSpPr>
        <p:spPr>
          <a:xfrm>
            <a:off x="6446520" y="1993392"/>
            <a:ext cx="5193792" cy="566928"/>
          </a:xfrm>
          <a:prstGeom prst="roundRect">
            <a:avLst>
              <a:gd name="adj" fmla="val 16129"/>
            </a:avLst>
          </a:prstGeom>
          <a:solidFill>
            <a:srgbClr val="15223C"/>
          </a:solidFill>
          <a:ln w="12700">
            <a:solidFill>
              <a:srgbClr val="2B3E60"/>
            </a:solidFill>
            <a:prstDash val="solid"/>
          </a:ln>
        </p:spPr>
      </p:sp>
      <p:sp>
        <p:nvSpPr>
          <p:cNvPr id="40" name="Text 38"/>
          <p:cNvSpPr/>
          <p:nvPr/>
        </p:nvSpPr>
        <p:spPr>
          <a:xfrm>
            <a:off x="6537960" y="2048256"/>
            <a:ext cx="5010912" cy="457200"/>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DQN detects the imbalance in the state</a:t>
            </a:r>
            <a:endParaRPr lang="en-US" sz="1200" dirty="0"/>
          </a:p>
        </p:txBody>
      </p:sp>
      <p:sp>
        <p:nvSpPr>
          <p:cNvPr id="41" name="Shape 39"/>
          <p:cNvSpPr/>
          <p:nvPr/>
        </p:nvSpPr>
        <p:spPr>
          <a:xfrm rot="10800000">
            <a:off x="8933688" y="2615184"/>
            <a:ext cx="219456" cy="182880"/>
          </a:xfrm>
          <a:prstGeom prst="triangle">
            <a:avLst/>
          </a:prstGeom>
          <a:solidFill>
            <a:srgbClr val="4D9BFF"/>
          </a:solidFill>
          <a:ln w="12700">
            <a:solidFill>
              <a:srgbClr val="4D9BFF"/>
            </a:solidFill>
            <a:prstDash val="solid"/>
          </a:ln>
        </p:spPr>
      </p:sp>
      <p:sp>
        <p:nvSpPr>
          <p:cNvPr id="42" name="Shape 40"/>
          <p:cNvSpPr/>
          <p:nvPr/>
        </p:nvSpPr>
        <p:spPr>
          <a:xfrm>
            <a:off x="6446520" y="2798064"/>
            <a:ext cx="5193792" cy="566928"/>
          </a:xfrm>
          <a:prstGeom prst="roundRect">
            <a:avLst>
              <a:gd name="adj" fmla="val 16129"/>
            </a:avLst>
          </a:prstGeom>
          <a:solidFill>
            <a:srgbClr val="132B4D"/>
          </a:solidFill>
          <a:ln w="12700">
            <a:solidFill>
              <a:srgbClr val="4D9BFF"/>
            </a:solidFill>
            <a:prstDash val="solid"/>
          </a:ln>
        </p:spPr>
      </p:sp>
      <p:sp>
        <p:nvSpPr>
          <p:cNvPr id="43" name="Text 41"/>
          <p:cNvSpPr/>
          <p:nvPr/>
        </p:nvSpPr>
        <p:spPr>
          <a:xfrm>
            <a:off x="6537960" y="2852928"/>
            <a:ext cx="5010912" cy="457200"/>
          </a:xfrm>
          <a:prstGeom prst="rect">
            <a:avLst/>
          </a:prstGeom>
          <a:noFill/>
          <a:ln/>
        </p:spPr>
        <p:txBody>
          <a:bodyPr wrap="square" lIns="0" tIns="0" rIns="0" bIns="0" rtlCol="0" anchor="ctr"/>
          <a:lstStyle/>
          <a:p>
            <a:pPr algn="ctr" indent="0" marL="0">
              <a:lnSpc>
                <a:spcPct val="95000"/>
              </a:lnSpc>
              <a:buNone/>
            </a:pPr>
            <a:r>
              <a:rPr lang="en-US" sz="1200" b="1" dirty="0">
                <a:solidFill>
                  <a:srgbClr val="4D9BFF"/>
                </a:solidFill>
                <a:latin typeface="Calibri" pitchFamily="34" charset="0"/>
                <a:ea typeface="Calibri" pitchFamily="34" charset="-122"/>
                <a:cs typeface="Calibri" pitchFamily="34" charset="-120"/>
              </a:rPr>
              <a:t>Action selected: extend north–south green</a:t>
            </a:r>
            <a:endParaRPr lang="en-US" sz="1200" dirty="0"/>
          </a:p>
        </p:txBody>
      </p:sp>
      <p:sp>
        <p:nvSpPr>
          <p:cNvPr id="44" name="Shape 42"/>
          <p:cNvSpPr/>
          <p:nvPr/>
        </p:nvSpPr>
        <p:spPr>
          <a:xfrm rot="10800000">
            <a:off x="8933688" y="3419856"/>
            <a:ext cx="219456" cy="182880"/>
          </a:xfrm>
          <a:prstGeom prst="triangle">
            <a:avLst/>
          </a:prstGeom>
          <a:solidFill>
            <a:srgbClr val="4D9BFF"/>
          </a:solidFill>
          <a:ln w="12700">
            <a:solidFill>
              <a:srgbClr val="4D9BFF"/>
            </a:solidFill>
            <a:prstDash val="solid"/>
          </a:ln>
        </p:spPr>
      </p:sp>
      <p:sp>
        <p:nvSpPr>
          <p:cNvPr id="45" name="Shape 43"/>
          <p:cNvSpPr/>
          <p:nvPr/>
        </p:nvSpPr>
        <p:spPr>
          <a:xfrm>
            <a:off x="6446520" y="3602736"/>
            <a:ext cx="5193792" cy="566928"/>
          </a:xfrm>
          <a:prstGeom prst="roundRect">
            <a:avLst>
              <a:gd name="adj" fmla="val 16129"/>
            </a:avLst>
          </a:prstGeom>
          <a:solidFill>
            <a:srgbClr val="15223C"/>
          </a:solidFill>
          <a:ln w="12700">
            <a:solidFill>
              <a:srgbClr val="2B3E60"/>
            </a:solidFill>
            <a:prstDash val="solid"/>
          </a:ln>
        </p:spPr>
      </p:sp>
      <p:sp>
        <p:nvSpPr>
          <p:cNvPr id="46" name="Text 44"/>
          <p:cNvSpPr/>
          <p:nvPr/>
        </p:nvSpPr>
        <p:spPr>
          <a:xfrm>
            <a:off x="6537960" y="3657600"/>
            <a:ext cx="5010912" cy="457200"/>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Queue length decreases</a:t>
            </a:r>
            <a:endParaRPr lang="en-US" sz="1200" dirty="0"/>
          </a:p>
        </p:txBody>
      </p:sp>
      <p:sp>
        <p:nvSpPr>
          <p:cNvPr id="47" name="Shape 45"/>
          <p:cNvSpPr/>
          <p:nvPr/>
        </p:nvSpPr>
        <p:spPr>
          <a:xfrm rot="10800000">
            <a:off x="8933688" y="4224528"/>
            <a:ext cx="219456" cy="182880"/>
          </a:xfrm>
          <a:prstGeom prst="triangle">
            <a:avLst/>
          </a:prstGeom>
          <a:solidFill>
            <a:srgbClr val="4D9BFF"/>
          </a:solidFill>
          <a:ln w="12700">
            <a:solidFill>
              <a:srgbClr val="4D9BFF"/>
            </a:solidFill>
            <a:prstDash val="solid"/>
          </a:ln>
        </p:spPr>
      </p:sp>
      <p:sp>
        <p:nvSpPr>
          <p:cNvPr id="48" name="Shape 46"/>
          <p:cNvSpPr/>
          <p:nvPr/>
        </p:nvSpPr>
        <p:spPr>
          <a:xfrm>
            <a:off x="6446520" y="4407408"/>
            <a:ext cx="5193792" cy="566928"/>
          </a:xfrm>
          <a:prstGeom prst="roundRect">
            <a:avLst>
              <a:gd name="adj" fmla="val 16129"/>
            </a:avLst>
          </a:prstGeom>
          <a:solidFill>
            <a:srgbClr val="132B4D"/>
          </a:solidFill>
          <a:ln w="12700">
            <a:solidFill>
              <a:srgbClr val="4D9BFF"/>
            </a:solidFill>
            <a:prstDash val="solid"/>
          </a:ln>
        </p:spPr>
      </p:sp>
      <p:sp>
        <p:nvSpPr>
          <p:cNvPr id="49" name="Text 47"/>
          <p:cNvSpPr/>
          <p:nvPr/>
        </p:nvSpPr>
        <p:spPr>
          <a:xfrm>
            <a:off x="6537960" y="4462272"/>
            <a:ext cx="5010912" cy="457200"/>
          </a:xfrm>
          <a:prstGeom prst="rect">
            <a:avLst/>
          </a:prstGeom>
          <a:noFill/>
          <a:ln/>
        </p:spPr>
        <p:txBody>
          <a:bodyPr wrap="square" lIns="0" tIns="0" rIns="0" bIns="0" rtlCol="0" anchor="ctr"/>
          <a:lstStyle/>
          <a:p>
            <a:pPr algn="ctr" indent="0" marL="0">
              <a:lnSpc>
                <a:spcPct val="95000"/>
              </a:lnSpc>
              <a:buNone/>
            </a:pPr>
            <a:r>
              <a:rPr lang="en-US" sz="1200" b="1" dirty="0">
                <a:solidFill>
                  <a:srgbClr val="4D9BFF"/>
                </a:solidFill>
                <a:latin typeface="Calibri" pitchFamily="34" charset="0"/>
                <a:ea typeface="Calibri" pitchFamily="34" charset="-122"/>
                <a:cs typeface="Calibri" pitchFamily="34" charset="-120"/>
              </a:rPr>
              <a:t>Positive reward returned</a:t>
            </a:r>
            <a:endParaRPr lang="en-US" sz="1200" dirty="0"/>
          </a:p>
        </p:txBody>
      </p:sp>
      <p:sp>
        <p:nvSpPr>
          <p:cNvPr id="50" name="Shape 48"/>
          <p:cNvSpPr/>
          <p:nvPr/>
        </p:nvSpPr>
        <p:spPr>
          <a:xfrm rot="10800000">
            <a:off x="8933688" y="5029200"/>
            <a:ext cx="219456" cy="182880"/>
          </a:xfrm>
          <a:prstGeom prst="triangle">
            <a:avLst/>
          </a:prstGeom>
          <a:solidFill>
            <a:srgbClr val="4D9BFF"/>
          </a:solidFill>
          <a:ln w="12700">
            <a:solidFill>
              <a:srgbClr val="4D9BFF"/>
            </a:solidFill>
            <a:prstDash val="solid"/>
          </a:ln>
        </p:spPr>
      </p:sp>
      <p:sp>
        <p:nvSpPr>
          <p:cNvPr id="51" name="Shape 49"/>
          <p:cNvSpPr/>
          <p:nvPr/>
        </p:nvSpPr>
        <p:spPr>
          <a:xfrm>
            <a:off x="6446520" y="5212080"/>
            <a:ext cx="5193792" cy="566928"/>
          </a:xfrm>
          <a:prstGeom prst="roundRect">
            <a:avLst>
              <a:gd name="adj" fmla="val 16129"/>
            </a:avLst>
          </a:prstGeom>
          <a:solidFill>
            <a:srgbClr val="15223C"/>
          </a:solidFill>
          <a:ln w="12700">
            <a:solidFill>
              <a:srgbClr val="2B3E60"/>
            </a:solidFill>
            <a:prstDash val="solid"/>
          </a:ln>
        </p:spPr>
      </p:sp>
      <p:sp>
        <p:nvSpPr>
          <p:cNvPr id="52" name="Text 50"/>
          <p:cNvSpPr/>
          <p:nvPr/>
        </p:nvSpPr>
        <p:spPr>
          <a:xfrm>
            <a:off x="6537960" y="5266944"/>
            <a:ext cx="5010912" cy="457200"/>
          </a:xfrm>
          <a:prstGeom prst="rect">
            <a:avLst/>
          </a:prstGeom>
          <a:noFill/>
          <a:ln/>
        </p:spPr>
        <p:txBody>
          <a:bodyPr wrap="square" lIns="0" tIns="0" rIns="0" bIns="0"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Experience stored — policy updated</a:t>
            </a:r>
            <a:endParaRPr lang="en-US" sz="1200" dirty="0"/>
          </a:p>
        </p:txBody>
      </p:sp>
      <p:sp>
        <p:nvSpPr>
          <p:cNvPr id="54" name="Text 51"/>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Delna Liz Denny</a:t>
            </a:r>
            <a:endParaRPr lang="en-US" sz="950" dirty="0"/>
          </a:p>
        </p:txBody>
      </p:sp>
      <p:sp>
        <p:nvSpPr>
          <p:cNvPr id="55" name="Text 52"/>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4D9BFF"/>
                </a:solidFill>
                <a:latin typeface="Calibri" pitchFamily="34" charset="0"/>
                <a:ea typeface="Calibri" pitchFamily="34" charset="-122"/>
                <a:cs typeface="Calibri" pitchFamily="34" charset="-120"/>
              </a:rPr>
              <a:t>17 / 22</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4D9BFF"/>
                </a:solidFill>
                <a:latin typeface="Arial" pitchFamily="34" charset="0"/>
                <a:ea typeface="Arial" pitchFamily="34" charset="-122"/>
                <a:cs typeface="Arial" pitchFamily="34" charset="-120"/>
              </a:rPr>
              <a:t>CONGESTION REDUCTION  ·  EXPECTED OUTCOME</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the Trained Agent Should Achieve</a:t>
            </a:r>
            <a:endParaRPr lang="en-US" sz="2800" dirty="0"/>
          </a:p>
        </p:txBody>
      </p:sp>
      <p:sp>
        <p:nvSpPr>
          <p:cNvPr id="4" name="Shape 2"/>
          <p:cNvSpPr/>
          <p:nvPr/>
        </p:nvSpPr>
        <p:spPr>
          <a:xfrm>
            <a:off x="548640" y="1298448"/>
            <a:ext cx="3557016" cy="1554480"/>
          </a:xfrm>
          <a:prstGeom prst="roundRect">
            <a:avLst>
              <a:gd name="adj" fmla="val 5882"/>
            </a:avLst>
          </a:prstGeom>
          <a:solidFill>
            <a:srgbClr val="15223C"/>
          </a:solidFill>
          <a:ln w="12700">
            <a:solidFill>
              <a:srgbClr val="2B3E60"/>
            </a:solidFill>
            <a:prstDash val="solid"/>
          </a:ln>
        </p:spPr>
      </p:sp>
      <p:sp>
        <p:nvSpPr>
          <p:cNvPr id="5" name="Shape 3"/>
          <p:cNvSpPr/>
          <p:nvPr/>
        </p:nvSpPr>
        <p:spPr>
          <a:xfrm>
            <a:off x="804672" y="1536192"/>
            <a:ext cx="475488" cy="475488"/>
          </a:xfrm>
          <a:prstGeom prst="ellipse">
            <a:avLst/>
          </a:prstGeom>
          <a:solidFill>
            <a:srgbClr val="132B4D"/>
          </a:solidFill>
          <a:ln w="12700">
            <a:solidFill>
              <a:srgbClr val="4D9BFF"/>
            </a:solidFill>
            <a:prstDash val="solid"/>
          </a:ln>
        </p:spPr>
      </p:sp>
      <p:pic>
        <p:nvPicPr>
          <p:cNvPr id="6" name="Image 0" descr="preencoded.png">    </p:cNvPr>
          <p:cNvPicPr>
            <a:picLocks noChangeAspect="1"/>
          </p:cNvPicPr>
          <p:nvPr/>
        </p:nvPicPr>
        <p:blipFill>
          <a:blip r:embed="rId1"/>
          <a:stretch>
            <a:fillRect/>
          </a:stretch>
        </p:blipFill>
        <p:spPr>
          <a:xfrm>
            <a:off x="933054" y="1664574"/>
            <a:ext cx="218724" cy="218724"/>
          </a:xfrm>
          <a:prstGeom prst="rect">
            <a:avLst/>
          </a:prstGeom>
        </p:spPr>
      </p:pic>
      <p:sp>
        <p:nvSpPr>
          <p:cNvPr id="7" name="Text 4"/>
          <p:cNvSpPr/>
          <p:nvPr/>
        </p:nvSpPr>
        <p:spPr>
          <a:xfrm>
            <a:off x="1481328" y="155448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Lower average queue length</a:t>
            </a:r>
            <a:endParaRPr lang="en-US" sz="1250" dirty="0"/>
          </a:p>
        </p:txBody>
      </p:sp>
      <p:sp>
        <p:nvSpPr>
          <p:cNvPr id="8" name="Text 5"/>
          <p:cNvSpPr/>
          <p:nvPr/>
        </p:nvSpPr>
        <p:spPr>
          <a:xfrm>
            <a:off x="804672" y="217627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Fewer vehicles held waiting per lane.</a:t>
            </a:r>
            <a:endParaRPr lang="en-US" sz="1100" dirty="0"/>
          </a:p>
        </p:txBody>
      </p:sp>
      <p:sp>
        <p:nvSpPr>
          <p:cNvPr id="9" name="Shape 6"/>
          <p:cNvSpPr/>
          <p:nvPr/>
        </p:nvSpPr>
        <p:spPr>
          <a:xfrm>
            <a:off x="4315968" y="1298448"/>
            <a:ext cx="3557016" cy="1554480"/>
          </a:xfrm>
          <a:prstGeom prst="roundRect">
            <a:avLst>
              <a:gd name="adj" fmla="val 5882"/>
            </a:avLst>
          </a:prstGeom>
          <a:solidFill>
            <a:srgbClr val="15223C"/>
          </a:solidFill>
          <a:ln w="12700">
            <a:solidFill>
              <a:srgbClr val="2B3E60"/>
            </a:solidFill>
            <a:prstDash val="solid"/>
          </a:ln>
        </p:spPr>
      </p:sp>
      <p:sp>
        <p:nvSpPr>
          <p:cNvPr id="10" name="Shape 7"/>
          <p:cNvSpPr/>
          <p:nvPr/>
        </p:nvSpPr>
        <p:spPr>
          <a:xfrm>
            <a:off x="4572000" y="1536192"/>
            <a:ext cx="475488" cy="475488"/>
          </a:xfrm>
          <a:prstGeom prst="ellipse">
            <a:avLst/>
          </a:prstGeom>
          <a:solidFill>
            <a:srgbClr val="132B4D"/>
          </a:solidFill>
          <a:ln w="12700">
            <a:solidFill>
              <a:srgbClr val="4D9BFF"/>
            </a:solidFill>
            <a:prstDash val="solid"/>
          </a:ln>
        </p:spPr>
      </p:sp>
      <p:pic>
        <p:nvPicPr>
          <p:cNvPr id="11" name="Image 1" descr="preencoded.png">    </p:cNvPr>
          <p:cNvPicPr>
            <a:picLocks noChangeAspect="1"/>
          </p:cNvPicPr>
          <p:nvPr/>
        </p:nvPicPr>
        <p:blipFill>
          <a:blip r:embed="rId2"/>
          <a:stretch>
            <a:fillRect/>
          </a:stretch>
        </p:blipFill>
        <p:spPr>
          <a:xfrm>
            <a:off x="4700382" y="1664574"/>
            <a:ext cx="218724" cy="218724"/>
          </a:xfrm>
          <a:prstGeom prst="rect">
            <a:avLst/>
          </a:prstGeom>
        </p:spPr>
      </p:pic>
      <p:sp>
        <p:nvSpPr>
          <p:cNvPr id="12" name="Text 8"/>
          <p:cNvSpPr/>
          <p:nvPr/>
        </p:nvSpPr>
        <p:spPr>
          <a:xfrm>
            <a:off x="5248656" y="155448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Lower average waiting time</a:t>
            </a:r>
            <a:endParaRPr lang="en-US" sz="1250" dirty="0"/>
          </a:p>
        </p:txBody>
      </p:sp>
      <p:sp>
        <p:nvSpPr>
          <p:cNvPr id="13" name="Text 9"/>
          <p:cNvSpPr/>
          <p:nvPr/>
        </p:nvSpPr>
        <p:spPr>
          <a:xfrm>
            <a:off x="4572000" y="217627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Less accumulated delay across approaches.</a:t>
            </a:r>
            <a:endParaRPr lang="en-US" sz="1100" dirty="0"/>
          </a:p>
        </p:txBody>
      </p:sp>
      <p:sp>
        <p:nvSpPr>
          <p:cNvPr id="14" name="Shape 10"/>
          <p:cNvSpPr/>
          <p:nvPr/>
        </p:nvSpPr>
        <p:spPr>
          <a:xfrm>
            <a:off x="8083296" y="1298448"/>
            <a:ext cx="3557016" cy="1554480"/>
          </a:xfrm>
          <a:prstGeom prst="roundRect">
            <a:avLst>
              <a:gd name="adj" fmla="val 5882"/>
            </a:avLst>
          </a:prstGeom>
          <a:solidFill>
            <a:srgbClr val="15223C"/>
          </a:solidFill>
          <a:ln w="12700">
            <a:solidFill>
              <a:srgbClr val="2B3E60"/>
            </a:solidFill>
            <a:prstDash val="solid"/>
          </a:ln>
        </p:spPr>
      </p:sp>
      <p:sp>
        <p:nvSpPr>
          <p:cNvPr id="15" name="Shape 11"/>
          <p:cNvSpPr/>
          <p:nvPr/>
        </p:nvSpPr>
        <p:spPr>
          <a:xfrm>
            <a:off x="8339328" y="1536192"/>
            <a:ext cx="475488" cy="475488"/>
          </a:xfrm>
          <a:prstGeom prst="ellipse">
            <a:avLst/>
          </a:prstGeom>
          <a:solidFill>
            <a:srgbClr val="132B4D"/>
          </a:solidFill>
          <a:ln w="12700">
            <a:solidFill>
              <a:srgbClr val="4D9BFF"/>
            </a:solidFill>
            <a:prstDash val="solid"/>
          </a:ln>
        </p:spPr>
      </p:sp>
      <p:pic>
        <p:nvPicPr>
          <p:cNvPr id="16" name="Image 2" descr="preencoded.png">    </p:cNvPr>
          <p:cNvPicPr>
            <a:picLocks noChangeAspect="1"/>
          </p:cNvPicPr>
          <p:nvPr/>
        </p:nvPicPr>
        <p:blipFill>
          <a:blip r:embed="rId3"/>
          <a:stretch>
            <a:fillRect/>
          </a:stretch>
        </p:blipFill>
        <p:spPr>
          <a:xfrm>
            <a:off x="8467710" y="1664574"/>
            <a:ext cx="218724" cy="218724"/>
          </a:xfrm>
          <a:prstGeom prst="rect">
            <a:avLst/>
          </a:prstGeom>
        </p:spPr>
      </p:pic>
      <p:sp>
        <p:nvSpPr>
          <p:cNvPr id="17" name="Text 12"/>
          <p:cNvSpPr/>
          <p:nvPr/>
        </p:nvSpPr>
        <p:spPr>
          <a:xfrm>
            <a:off x="9015984" y="155448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Higher vehicle throughput</a:t>
            </a:r>
            <a:endParaRPr lang="en-US" sz="1250" dirty="0"/>
          </a:p>
        </p:txBody>
      </p:sp>
      <p:sp>
        <p:nvSpPr>
          <p:cNvPr id="18" name="Text 13"/>
          <p:cNvSpPr/>
          <p:nvPr/>
        </p:nvSpPr>
        <p:spPr>
          <a:xfrm>
            <a:off x="8339328" y="217627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More vehicles cleared per unit time.</a:t>
            </a:r>
            <a:endParaRPr lang="en-US" sz="1100" dirty="0"/>
          </a:p>
        </p:txBody>
      </p:sp>
      <p:sp>
        <p:nvSpPr>
          <p:cNvPr id="19" name="Shape 14"/>
          <p:cNvSpPr/>
          <p:nvPr/>
        </p:nvSpPr>
        <p:spPr>
          <a:xfrm>
            <a:off x="548640" y="2944368"/>
            <a:ext cx="3557016" cy="1554480"/>
          </a:xfrm>
          <a:prstGeom prst="roundRect">
            <a:avLst>
              <a:gd name="adj" fmla="val 5882"/>
            </a:avLst>
          </a:prstGeom>
          <a:solidFill>
            <a:srgbClr val="15223C"/>
          </a:solidFill>
          <a:ln w="12700">
            <a:solidFill>
              <a:srgbClr val="2B3E60"/>
            </a:solidFill>
            <a:prstDash val="solid"/>
          </a:ln>
        </p:spPr>
      </p:sp>
      <p:sp>
        <p:nvSpPr>
          <p:cNvPr id="20" name="Shape 15"/>
          <p:cNvSpPr/>
          <p:nvPr/>
        </p:nvSpPr>
        <p:spPr>
          <a:xfrm>
            <a:off x="804672" y="3182112"/>
            <a:ext cx="475488" cy="475488"/>
          </a:xfrm>
          <a:prstGeom prst="ellipse">
            <a:avLst/>
          </a:prstGeom>
          <a:solidFill>
            <a:srgbClr val="132B4D"/>
          </a:solidFill>
          <a:ln w="12700">
            <a:solidFill>
              <a:srgbClr val="4D9BFF"/>
            </a:solidFill>
            <a:prstDash val="solid"/>
          </a:ln>
        </p:spPr>
      </p:sp>
      <p:pic>
        <p:nvPicPr>
          <p:cNvPr id="21" name="Image 3" descr="preencoded.png">    </p:cNvPr>
          <p:cNvPicPr>
            <a:picLocks noChangeAspect="1"/>
          </p:cNvPicPr>
          <p:nvPr/>
        </p:nvPicPr>
        <p:blipFill>
          <a:blip r:embed="rId4"/>
          <a:stretch>
            <a:fillRect/>
          </a:stretch>
        </p:blipFill>
        <p:spPr>
          <a:xfrm>
            <a:off x="933054" y="3310494"/>
            <a:ext cx="218724" cy="218724"/>
          </a:xfrm>
          <a:prstGeom prst="rect">
            <a:avLst/>
          </a:prstGeom>
        </p:spPr>
      </p:pic>
      <p:sp>
        <p:nvSpPr>
          <p:cNvPr id="22" name="Text 16"/>
          <p:cNvSpPr/>
          <p:nvPr/>
        </p:nvSpPr>
        <p:spPr>
          <a:xfrm>
            <a:off x="1481328" y="320040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Better green-time utilization</a:t>
            </a:r>
            <a:endParaRPr lang="en-US" sz="1250" dirty="0"/>
          </a:p>
        </p:txBody>
      </p:sp>
      <p:sp>
        <p:nvSpPr>
          <p:cNvPr id="23" name="Text 17"/>
          <p:cNvSpPr/>
          <p:nvPr/>
        </p:nvSpPr>
        <p:spPr>
          <a:xfrm>
            <a:off x="804672" y="382219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Green is spent where vehicles actually are.</a:t>
            </a:r>
            <a:endParaRPr lang="en-US" sz="1100" dirty="0"/>
          </a:p>
        </p:txBody>
      </p:sp>
      <p:sp>
        <p:nvSpPr>
          <p:cNvPr id="24" name="Shape 18"/>
          <p:cNvSpPr/>
          <p:nvPr/>
        </p:nvSpPr>
        <p:spPr>
          <a:xfrm>
            <a:off x="4315968" y="2944368"/>
            <a:ext cx="3557016" cy="1554480"/>
          </a:xfrm>
          <a:prstGeom prst="roundRect">
            <a:avLst>
              <a:gd name="adj" fmla="val 5882"/>
            </a:avLst>
          </a:prstGeom>
          <a:solidFill>
            <a:srgbClr val="15223C"/>
          </a:solidFill>
          <a:ln w="12700">
            <a:solidFill>
              <a:srgbClr val="2B3E60"/>
            </a:solidFill>
            <a:prstDash val="solid"/>
          </a:ln>
        </p:spPr>
      </p:sp>
      <p:sp>
        <p:nvSpPr>
          <p:cNvPr id="25" name="Shape 19"/>
          <p:cNvSpPr/>
          <p:nvPr/>
        </p:nvSpPr>
        <p:spPr>
          <a:xfrm>
            <a:off x="4572000" y="3182112"/>
            <a:ext cx="475488" cy="475488"/>
          </a:xfrm>
          <a:prstGeom prst="ellipse">
            <a:avLst/>
          </a:prstGeom>
          <a:solidFill>
            <a:srgbClr val="132B4D"/>
          </a:solidFill>
          <a:ln w="12700">
            <a:solidFill>
              <a:srgbClr val="4D9BFF"/>
            </a:solidFill>
            <a:prstDash val="solid"/>
          </a:ln>
        </p:spPr>
      </p:sp>
      <p:pic>
        <p:nvPicPr>
          <p:cNvPr id="26" name="Image 4" descr="preencoded.png">    </p:cNvPr>
          <p:cNvPicPr>
            <a:picLocks noChangeAspect="1"/>
          </p:cNvPicPr>
          <p:nvPr/>
        </p:nvPicPr>
        <p:blipFill>
          <a:blip r:embed="rId5"/>
          <a:stretch>
            <a:fillRect/>
          </a:stretch>
        </p:blipFill>
        <p:spPr>
          <a:xfrm>
            <a:off x="4700382" y="3310494"/>
            <a:ext cx="218724" cy="218724"/>
          </a:xfrm>
          <a:prstGeom prst="rect">
            <a:avLst/>
          </a:prstGeom>
        </p:spPr>
      </p:pic>
      <p:sp>
        <p:nvSpPr>
          <p:cNvPr id="27" name="Text 20"/>
          <p:cNvSpPr/>
          <p:nvPr/>
        </p:nvSpPr>
        <p:spPr>
          <a:xfrm>
            <a:off x="5248656" y="320040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Reduced congestion</a:t>
            </a:r>
            <a:endParaRPr lang="en-US" sz="1250" dirty="0"/>
          </a:p>
        </p:txBody>
      </p:sp>
      <p:sp>
        <p:nvSpPr>
          <p:cNvPr id="28" name="Text 21"/>
          <p:cNvSpPr/>
          <p:nvPr/>
        </p:nvSpPr>
        <p:spPr>
          <a:xfrm>
            <a:off x="4572000" y="382219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Queues resolve instead of accumulating.</a:t>
            </a:r>
            <a:endParaRPr lang="en-US" sz="1100" dirty="0"/>
          </a:p>
        </p:txBody>
      </p:sp>
      <p:sp>
        <p:nvSpPr>
          <p:cNvPr id="29" name="Shape 22"/>
          <p:cNvSpPr/>
          <p:nvPr/>
        </p:nvSpPr>
        <p:spPr>
          <a:xfrm>
            <a:off x="8083296" y="2944368"/>
            <a:ext cx="3557016" cy="1554480"/>
          </a:xfrm>
          <a:prstGeom prst="roundRect">
            <a:avLst>
              <a:gd name="adj" fmla="val 5882"/>
            </a:avLst>
          </a:prstGeom>
          <a:solidFill>
            <a:srgbClr val="15223C"/>
          </a:solidFill>
          <a:ln w="12700">
            <a:solidFill>
              <a:srgbClr val="2B3E60"/>
            </a:solidFill>
            <a:prstDash val="solid"/>
          </a:ln>
        </p:spPr>
      </p:sp>
      <p:sp>
        <p:nvSpPr>
          <p:cNvPr id="30" name="Shape 23"/>
          <p:cNvSpPr/>
          <p:nvPr/>
        </p:nvSpPr>
        <p:spPr>
          <a:xfrm>
            <a:off x="8339328" y="3182112"/>
            <a:ext cx="475488" cy="475488"/>
          </a:xfrm>
          <a:prstGeom prst="ellipse">
            <a:avLst/>
          </a:prstGeom>
          <a:solidFill>
            <a:srgbClr val="132B4D"/>
          </a:solidFill>
          <a:ln w="12700">
            <a:solidFill>
              <a:srgbClr val="4D9BFF"/>
            </a:solidFill>
            <a:prstDash val="solid"/>
          </a:ln>
        </p:spPr>
      </p:sp>
      <p:pic>
        <p:nvPicPr>
          <p:cNvPr id="31" name="Image 5" descr="preencoded.png">    </p:cNvPr>
          <p:cNvPicPr>
            <a:picLocks noChangeAspect="1"/>
          </p:cNvPicPr>
          <p:nvPr/>
        </p:nvPicPr>
        <p:blipFill>
          <a:blip r:embed="rId6"/>
          <a:stretch>
            <a:fillRect/>
          </a:stretch>
        </p:blipFill>
        <p:spPr>
          <a:xfrm>
            <a:off x="8467710" y="3310494"/>
            <a:ext cx="218724" cy="218724"/>
          </a:xfrm>
          <a:prstGeom prst="rect">
            <a:avLst/>
          </a:prstGeom>
        </p:spPr>
      </p:pic>
      <p:sp>
        <p:nvSpPr>
          <p:cNvPr id="32" name="Text 24"/>
          <p:cNvSpPr/>
          <p:nvPr/>
        </p:nvSpPr>
        <p:spPr>
          <a:xfrm>
            <a:off x="9015984" y="3200400"/>
            <a:ext cx="2423160" cy="31089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Adaptive to changing conditions</a:t>
            </a:r>
            <a:endParaRPr lang="en-US" sz="1250" dirty="0"/>
          </a:p>
        </p:txBody>
      </p:sp>
      <p:sp>
        <p:nvSpPr>
          <p:cNvPr id="33" name="Text 25"/>
          <p:cNvSpPr/>
          <p:nvPr/>
        </p:nvSpPr>
        <p:spPr>
          <a:xfrm>
            <a:off x="8339328" y="3822192"/>
            <a:ext cx="3044952" cy="548640"/>
          </a:xfrm>
          <a:prstGeom prst="rect">
            <a:avLst/>
          </a:prstGeom>
          <a:noFill/>
          <a:ln/>
        </p:spPr>
        <p:txBody>
          <a:bodyPr wrap="square" lIns="0" tIns="0" rIns="0" bIns="0" rtlCol="0" anchor="t"/>
          <a:lstStyle/>
          <a:p>
            <a:pPr indent="0" marL="0">
              <a:lnSpc>
                <a:spcPct val="105000"/>
              </a:lnSpc>
              <a:buNone/>
            </a:pPr>
            <a:r>
              <a:rPr lang="en-US" sz="1100" dirty="0">
                <a:solidFill>
                  <a:srgbClr val="9DB2CE"/>
                </a:solidFill>
                <a:latin typeface="Calibri" pitchFamily="34" charset="0"/>
                <a:ea typeface="Calibri" pitchFamily="34" charset="-122"/>
                <a:cs typeface="Calibri" pitchFamily="34" charset="-120"/>
              </a:rPr>
              <a:t>Responds as demand shifts through the day.</a:t>
            </a:r>
            <a:endParaRPr lang="en-US" sz="1100" dirty="0"/>
          </a:p>
        </p:txBody>
      </p:sp>
      <p:sp>
        <p:nvSpPr>
          <p:cNvPr id="34" name="Shape 26"/>
          <p:cNvSpPr/>
          <p:nvPr/>
        </p:nvSpPr>
        <p:spPr>
          <a:xfrm>
            <a:off x="548640" y="4773168"/>
            <a:ext cx="11091672" cy="1024128"/>
          </a:xfrm>
          <a:prstGeom prst="roundRect">
            <a:avLst>
              <a:gd name="adj" fmla="val 8929"/>
            </a:avLst>
          </a:prstGeom>
          <a:solidFill>
            <a:srgbClr val="132B4D"/>
          </a:solidFill>
          <a:ln w="12700">
            <a:solidFill>
              <a:srgbClr val="4D9BFF"/>
            </a:solidFill>
            <a:prstDash val="solid"/>
          </a:ln>
        </p:spPr>
      </p:sp>
      <p:sp>
        <p:nvSpPr>
          <p:cNvPr id="35" name="Text 27"/>
          <p:cNvSpPr/>
          <p:nvPr/>
        </p:nvSpPr>
        <p:spPr>
          <a:xfrm>
            <a:off x="822960" y="4773168"/>
            <a:ext cx="10515600" cy="1024128"/>
          </a:xfrm>
          <a:prstGeom prst="rect">
            <a:avLst/>
          </a:prstGeom>
          <a:noFill/>
          <a:ln/>
        </p:spPr>
        <p:txBody>
          <a:bodyPr wrap="square" lIns="0" tIns="0" rIns="0" bIns="0" rtlCol="0" anchor="ctr"/>
          <a:lstStyle/>
          <a:p>
            <a:pPr algn="ctr" indent="0" marL="0">
              <a:buNone/>
            </a:pPr>
            <a:r>
              <a:rPr lang="en-US" sz="1900" b="1" i="1" dirty="0">
                <a:solidFill>
                  <a:srgbClr val="4D9BFF"/>
                </a:solidFill>
                <a:latin typeface="Arial" pitchFamily="34" charset="0"/>
                <a:ea typeface="Arial" pitchFamily="34" charset="-122"/>
                <a:cs typeface="Arial" pitchFamily="34" charset="-120"/>
              </a:rPr>
              <a:t>“Green time allocated by demand — learned, not pre-set.”</a:t>
            </a:r>
            <a:endParaRPr lang="en-US" sz="1900" dirty="0"/>
          </a:p>
        </p:txBody>
      </p:sp>
      <p:sp>
        <p:nvSpPr>
          <p:cNvPr id="36" name="Text 28"/>
          <p:cNvSpPr/>
          <p:nvPr/>
        </p:nvSpPr>
        <p:spPr>
          <a:xfrm>
            <a:off x="548640" y="5943600"/>
            <a:ext cx="11091672" cy="274320"/>
          </a:xfrm>
          <a:prstGeom prst="rect">
            <a:avLst/>
          </a:prstGeom>
          <a:noFill/>
          <a:ln/>
        </p:spPr>
        <p:txBody>
          <a:bodyPr wrap="square" lIns="0" tIns="0" rIns="0" bIns="0" rtlCol="0" anchor="ctr"/>
          <a:lstStyle/>
          <a:p>
            <a:pPr indent="0" marL="0">
              <a:buNone/>
            </a:pPr>
            <a:r>
              <a:rPr lang="en-US" sz="1100" i="1" dirty="0">
                <a:solidFill>
                  <a:srgbClr val="6E86A8"/>
                </a:solidFill>
                <a:latin typeface="Calibri" pitchFamily="34" charset="0"/>
                <a:ea typeface="Calibri" pitchFamily="34" charset="-122"/>
                <a:cs typeface="Calibri" pitchFamily="34" charset="-120"/>
              </a:rPr>
              <a:t>Expected outcomes — to be evaluated experimentally against a fixed-time controller.      That completes the three objectives; we now bring them together.</a:t>
            </a:r>
            <a:endParaRPr lang="en-US" sz="1100" dirty="0"/>
          </a:p>
        </p:txBody>
      </p:sp>
      <p:sp>
        <p:nvSpPr>
          <p:cNvPr id="38" name="Text 29"/>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Delna Liz Denny</a:t>
            </a:r>
            <a:endParaRPr lang="en-US" sz="950" dirty="0"/>
          </a:p>
        </p:txBody>
      </p:sp>
      <p:sp>
        <p:nvSpPr>
          <p:cNvPr id="39" name="Text 30"/>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4D9BFF"/>
                </a:solidFill>
                <a:latin typeface="Calibri" pitchFamily="34" charset="0"/>
                <a:ea typeface="Calibri" pitchFamily="34" charset="-122"/>
                <a:cs typeface="Calibri" pitchFamily="34" charset="-120"/>
              </a:rPr>
              <a:t>18 / 22</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2D3EE"/>
                </a:solidFill>
                <a:latin typeface="Arial" pitchFamily="34" charset="0"/>
                <a:ea typeface="Arial" pitchFamily="34" charset="-122"/>
                <a:cs typeface="Arial" pitchFamily="34" charset="-120"/>
              </a:rPr>
              <a:t>TEAM INTEGRATION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Three Objectives, One System</a:t>
            </a:r>
            <a:endParaRPr lang="en-US" sz="2800" dirty="0"/>
          </a:p>
        </p:txBody>
      </p:sp>
      <p:sp>
        <p:nvSpPr>
          <p:cNvPr id="4" name="Shape 2"/>
          <p:cNvSpPr/>
          <p:nvPr/>
        </p:nvSpPr>
        <p:spPr>
          <a:xfrm>
            <a:off x="548640" y="1188720"/>
            <a:ext cx="3557016" cy="2240280"/>
          </a:xfrm>
          <a:prstGeom prst="roundRect">
            <a:avLst>
              <a:gd name="adj" fmla="val 4082"/>
            </a:avLst>
          </a:prstGeom>
          <a:solidFill>
            <a:srgbClr val="3A2113"/>
          </a:solidFill>
          <a:ln w="12700">
            <a:solidFill>
              <a:srgbClr val="FF7A3D"/>
            </a:solidFill>
            <a:prstDash val="solid"/>
          </a:ln>
        </p:spPr>
      </p:sp>
      <p:sp>
        <p:nvSpPr>
          <p:cNvPr id="5" name="Shape 3"/>
          <p:cNvSpPr/>
          <p:nvPr/>
        </p:nvSpPr>
        <p:spPr>
          <a:xfrm>
            <a:off x="786384" y="1389888"/>
            <a:ext cx="475488" cy="475488"/>
          </a:xfrm>
          <a:prstGeom prst="ellipse">
            <a:avLst/>
          </a:prstGeom>
          <a:solidFill>
            <a:srgbClr val="0A1226"/>
          </a:solidFill>
          <a:ln w="12700">
            <a:solidFill>
              <a:srgbClr val="FF7A3D"/>
            </a:solidFill>
            <a:prstDash val="solid"/>
          </a:ln>
        </p:spPr>
      </p:sp>
      <p:pic>
        <p:nvPicPr>
          <p:cNvPr id="6" name="Image 0" descr="preencoded.png">    </p:cNvPr>
          <p:cNvPicPr>
            <a:picLocks noChangeAspect="1"/>
          </p:cNvPicPr>
          <p:nvPr/>
        </p:nvPicPr>
        <p:blipFill>
          <a:blip r:embed="rId1"/>
          <a:stretch>
            <a:fillRect/>
          </a:stretch>
        </p:blipFill>
        <p:spPr>
          <a:xfrm>
            <a:off x="914766" y="1518270"/>
            <a:ext cx="218724" cy="218724"/>
          </a:xfrm>
          <a:prstGeom prst="rect">
            <a:avLst/>
          </a:prstGeom>
        </p:spPr>
      </p:pic>
      <p:sp>
        <p:nvSpPr>
          <p:cNvPr id="7" name="Text 4"/>
          <p:cNvSpPr/>
          <p:nvPr/>
        </p:nvSpPr>
        <p:spPr>
          <a:xfrm>
            <a:off x="1426464" y="1371600"/>
            <a:ext cx="2468880" cy="256032"/>
          </a:xfrm>
          <a:prstGeom prst="rect">
            <a:avLst/>
          </a:prstGeom>
          <a:noFill/>
          <a:ln/>
        </p:spPr>
        <p:txBody>
          <a:bodyPr wrap="square" lIns="0" tIns="0" rIns="0" bIns="0" rtlCol="0" anchor="ctr"/>
          <a:lstStyle/>
          <a:p>
            <a:pPr indent="0" marL="0">
              <a:buNone/>
            </a:pPr>
            <a:r>
              <a:rPr lang="en-US" sz="1100" b="1" spc="160" kern="0" dirty="0">
                <a:solidFill>
                  <a:srgbClr val="FF7A3D"/>
                </a:solidFill>
                <a:latin typeface="Arial" pitchFamily="34" charset="0"/>
                <a:ea typeface="Arial" pitchFamily="34" charset="-122"/>
                <a:cs typeface="Arial" pitchFamily="34" charset="-120"/>
              </a:rPr>
              <a:t>ANANTHA</a:t>
            </a:r>
            <a:endParaRPr lang="en-US" sz="1100" dirty="0"/>
          </a:p>
        </p:txBody>
      </p:sp>
      <p:sp>
        <p:nvSpPr>
          <p:cNvPr id="8" name="Text 5"/>
          <p:cNvSpPr/>
          <p:nvPr/>
        </p:nvSpPr>
        <p:spPr>
          <a:xfrm>
            <a:off x="1426464" y="1609344"/>
            <a:ext cx="2468880" cy="45720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Arial" pitchFamily="34" charset="0"/>
                <a:ea typeface="Arial" pitchFamily="34" charset="-122"/>
                <a:cs typeface="Arial" pitchFamily="34" charset="-120"/>
              </a:rPr>
              <a:t>Emergency Vehicle</a:t>
            </a:r>
            <a:endParaRPr lang="en-US" sz="1250" dirty="0"/>
          </a:p>
          <a:p>
            <a:pPr indent="0" marL="0">
              <a:lnSpc>
                <a:spcPct val="95000"/>
              </a:lnSpc>
              <a:buNone/>
            </a:pPr>
            <a:r>
              <a:rPr lang="en-US" sz="1250" b="1" dirty="0">
                <a:solidFill>
                  <a:srgbClr val="FFFFFF"/>
                </a:solidFill>
                <a:latin typeface="Arial" pitchFamily="34" charset="0"/>
                <a:ea typeface="Arial" pitchFamily="34" charset="-122"/>
                <a:cs typeface="Arial" pitchFamily="34" charset="-120"/>
              </a:rPr>
              <a:t>Prioritization</a:t>
            </a:r>
            <a:endParaRPr lang="en-US" sz="1250" dirty="0"/>
          </a:p>
        </p:txBody>
      </p:sp>
      <p:sp>
        <p:nvSpPr>
          <p:cNvPr id="9" name="Text 6"/>
          <p:cNvSpPr/>
          <p:nvPr/>
        </p:nvSpPr>
        <p:spPr>
          <a:xfrm>
            <a:off x="804672" y="2212848"/>
            <a:ext cx="3063240" cy="10972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Emergency presence, distance, direction</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Emergency-priority phase</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Priority reward − general delay penalty</a:t>
            </a:r>
            <a:endParaRPr lang="en-US" sz="1050" dirty="0"/>
          </a:p>
        </p:txBody>
      </p:sp>
      <p:sp>
        <p:nvSpPr>
          <p:cNvPr id="10" name="Shape 7"/>
          <p:cNvSpPr/>
          <p:nvPr/>
        </p:nvSpPr>
        <p:spPr>
          <a:xfrm rot="10800000">
            <a:off x="2221992" y="3493008"/>
            <a:ext cx="219456" cy="182880"/>
          </a:xfrm>
          <a:prstGeom prst="triangle">
            <a:avLst/>
          </a:prstGeom>
          <a:solidFill>
            <a:srgbClr val="FF7A3D"/>
          </a:solidFill>
          <a:ln w="12700">
            <a:solidFill>
              <a:srgbClr val="FF7A3D"/>
            </a:solidFill>
            <a:prstDash val="solid"/>
          </a:ln>
        </p:spPr>
      </p:sp>
      <p:sp>
        <p:nvSpPr>
          <p:cNvPr id="11" name="Shape 8"/>
          <p:cNvSpPr/>
          <p:nvPr/>
        </p:nvSpPr>
        <p:spPr>
          <a:xfrm>
            <a:off x="4334256" y="1188720"/>
            <a:ext cx="3557016" cy="2240280"/>
          </a:xfrm>
          <a:prstGeom prst="roundRect">
            <a:avLst>
              <a:gd name="adj" fmla="val 4082"/>
            </a:avLst>
          </a:prstGeom>
          <a:solidFill>
            <a:srgbClr val="10331F"/>
          </a:solidFill>
          <a:ln w="12700">
            <a:solidFill>
              <a:srgbClr val="2FD68C"/>
            </a:solidFill>
            <a:prstDash val="solid"/>
          </a:ln>
        </p:spPr>
      </p:sp>
      <p:sp>
        <p:nvSpPr>
          <p:cNvPr id="12" name="Shape 9"/>
          <p:cNvSpPr/>
          <p:nvPr/>
        </p:nvSpPr>
        <p:spPr>
          <a:xfrm>
            <a:off x="4572000" y="1389888"/>
            <a:ext cx="475488" cy="475488"/>
          </a:xfrm>
          <a:prstGeom prst="ellipse">
            <a:avLst/>
          </a:prstGeom>
          <a:solidFill>
            <a:srgbClr val="0A1226"/>
          </a:solidFill>
          <a:ln w="12700">
            <a:solidFill>
              <a:srgbClr val="2FD68C"/>
            </a:solidFill>
            <a:prstDash val="solid"/>
          </a:ln>
        </p:spPr>
      </p:sp>
      <p:pic>
        <p:nvPicPr>
          <p:cNvPr id="13" name="Image 1" descr="preencoded.png">    </p:cNvPr>
          <p:cNvPicPr>
            <a:picLocks noChangeAspect="1"/>
          </p:cNvPicPr>
          <p:nvPr/>
        </p:nvPicPr>
        <p:blipFill>
          <a:blip r:embed="rId2"/>
          <a:stretch>
            <a:fillRect/>
          </a:stretch>
        </p:blipFill>
        <p:spPr>
          <a:xfrm>
            <a:off x="4700382" y="1518270"/>
            <a:ext cx="218724" cy="218724"/>
          </a:xfrm>
          <a:prstGeom prst="rect">
            <a:avLst/>
          </a:prstGeom>
        </p:spPr>
      </p:pic>
      <p:sp>
        <p:nvSpPr>
          <p:cNvPr id="14" name="Text 10"/>
          <p:cNvSpPr/>
          <p:nvPr/>
        </p:nvSpPr>
        <p:spPr>
          <a:xfrm>
            <a:off x="5212080" y="1371600"/>
            <a:ext cx="2468880" cy="256032"/>
          </a:xfrm>
          <a:prstGeom prst="rect">
            <a:avLst/>
          </a:prstGeom>
          <a:noFill/>
          <a:ln/>
        </p:spPr>
        <p:txBody>
          <a:bodyPr wrap="square" lIns="0" tIns="0" rIns="0" bIns="0" rtlCol="0" anchor="ctr"/>
          <a:lstStyle/>
          <a:p>
            <a:pPr indent="0" marL="0">
              <a:buNone/>
            </a:pPr>
            <a:r>
              <a:rPr lang="en-US" sz="1100" b="1" spc="160" kern="0" dirty="0">
                <a:solidFill>
                  <a:srgbClr val="2FD68C"/>
                </a:solidFill>
                <a:latin typeface="Arial" pitchFamily="34" charset="0"/>
                <a:ea typeface="Arial" pitchFamily="34" charset="-122"/>
                <a:cs typeface="Arial" pitchFamily="34" charset="-120"/>
              </a:rPr>
              <a:t>SHAUN</a:t>
            </a:r>
            <a:endParaRPr lang="en-US" sz="1100" dirty="0"/>
          </a:p>
        </p:txBody>
      </p:sp>
      <p:sp>
        <p:nvSpPr>
          <p:cNvPr id="15" name="Text 11"/>
          <p:cNvSpPr/>
          <p:nvPr/>
        </p:nvSpPr>
        <p:spPr>
          <a:xfrm>
            <a:off x="5212080" y="1609344"/>
            <a:ext cx="2468880" cy="45720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Arial" pitchFamily="34" charset="0"/>
                <a:ea typeface="Arial" pitchFamily="34" charset="-122"/>
                <a:cs typeface="Arial" pitchFamily="34" charset="-120"/>
              </a:rPr>
              <a:t>Fuel + Emission +</a:t>
            </a:r>
            <a:endParaRPr lang="en-US" sz="1250" dirty="0"/>
          </a:p>
          <a:p>
            <a:pPr indent="0" marL="0">
              <a:lnSpc>
                <a:spcPct val="95000"/>
              </a:lnSpc>
              <a:buNone/>
            </a:pPr>
            <a:r>
              <a:rPr lang="en-US" sz="1250" b="1" dirty="0">
                <a:solidFill>
                  <a:srgbClr val="FFFFFF"/>
                </a:solidFill>
                <a:latin typeface="Arial" pitchFamily="34" charset="0"/>
                <a:ea typeface="Arial" pitchFamily="34" charset="-122"/>
                <a:cs typeface="Arial" pitchFamily="34" charset="-120"/>
              </a:rPr>
              <a:t>Violation Monitoring</a:t>
            </a:r>
            <a:endParaRPr lang="en-US" sz="1250" dirty="0"/>
          </a:p>
        </p:txBody>
      </p:sp>
      <p:sp>
        <p:nvSpPr>
          <p:cNvPr id="16" name="Text 12"/>
          <p:cNvSpPr/>
          <p:nvPr/>
        </p:nvSpPr>
        <p:spPr>
          <a:xfrm>
            <a:off x="4590288" y="2212848"/>
            <a:ext cx="3063240" cy="10972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Speed, stops, estimated emission</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Appropriate signal transitions</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Smoothness reward − violation penalty</a:t>
            </a:r>
            <a:endParaRPr lang="en-US" sz="1050" dirty="0"/>
          </a:p>
        </p:txBody>
      </p:sp>
      <p:sp>
        <p:nvSpPr>
          <p:cNvPr id="17" name="Shape 13"/>
          <p:cNvSpPr/>
          <p:nvPr/>
        </p:nvSpPr>
        <p:spPr>
          <a:xfrm rot="10800000">
            <a:off x="6007608" y="3493008"/>
            <a:ext cx="219456" cy="182880"/>
          </a:xfrm>
          <a:prstGeom prst="triangle">
            <a:avLst/>
          </a:prstGeom>
          <a:solidFill>
            <a:srgbClr val="2FD68C"/>
          </a:solidFill>
          <a:ln w="12700">
            <a:solidFill>
              <a:srgbClr val="2FD68C"/>
            </a:solidFill>
            <a:prstDash val="solid"/>
          </a:ln>
        </p:spPr>
      </p:sp>
      <p:sp>
        <p:nvSpPr>
          <p:cNvPr id="18" name="Shape 14"/>
          <p:cNvSpPr/>
          <p:nvPr/>
        </p:nvSpPr>
        <p:spPr>
          <a:xfrm>
            <a:off x="8119872" y="1188720"/>
            <a:ext cx="3557016" cy="2240280"/>
          </a:xfrm>
          <a:prstGeom prst="roundRect">
            <a:avLst>
              <a:gd name="adj" fmla="val 4082"/>
            </a:avLst>
          </a:prstGeom>
          <a:solidFill>
            <a:srgbClr val="132B4D"/>
          </a:solidFill>
          <a:ln w="12700">
            <a:solidFill>
              <a:srgbClr val="4D9BFF"/>
            </a:solidFill>
            <a:prstDash val="solid"/>
          </a:ln>
        </p:spPr>
      </p:sp>
      <p:sp>
        <p:nvSpPr>
          <p:cNvPr id="19" name="Shape 15"/>
          <p:cNvSpPr/>
          <p:nvPr/>
        </p:nvSpPr>
        <p:spPr>
          <a:xfrm>
            <a:off x="8357616" y="1389888"/>
            <a:ext cx="475488" cy="475488"/>
          </a:xfrm>
          <a:prstGeom prst="ellipse">
            <a:avLst/>
          </a:prstGeom>
          <a:solidFill>
            <a:srgbClr val="0A1226"/>
          </a:solidFill>
          <a:ln w="12700">
            <a:solidFill>
              <a:srgbClr val="4D9BFF"/>
            </a:solidFill>
            <a:prstDash val="solid"/>
          </a:ln>
        </p:spPr>
      </p:sp>
      <p:pic>
        <p:nvPicPr>
          <p:cNvPr id="20" name="Image 2" descr="preencoded.png">    </p:cNvPr>
          <p:cNvPicPr>
            <a:picLocks noChangeAspect="1"/>
          </p:cNvPicPr>
          <p:nvPr/>
        </p:nvPicPr>
        <p:blipFill>
          <a:blip r:embed="rId3"/>
          <a:stretch>
            <a:fillRect/>
          </a:stretch>
        </p:blipFill>
        <p:spPr>
          <a:xfrm>
            <a:off x="8485998" y="1518270"/>
            <a:ext cx="218724" cy="218724"/>
          </a:xfrm>
          <a:prstGeom prst="rect">
            <a:avLst/>
          </a:prstGeom>
        </p:spPr>
      </p:pic>
      <p:sp>
        <p:nvSpPr>
          <p:cNvPr id="21" name="Text 16"/>
          <p:cNvSpPr/>
          <p:nvPr/>
        </p:nvSpPr>
        <p:spPr>
          <a:xfrm>
            <a:off x="8997696" y="1371600"/>
            <a:ext cx="2468880" cy="256032"/>
          </a:xfrm>
          <a:prstGeom prst="rect">
            <a:avLst/>
          </a:prstGeom>
          <a:noFill/>
          <a:ln/>
        </p:spPr>
        <p:txBody>
          <a:bodyPr wrap="square" lIns="0" tIns="0" rIns="0" bIns="0" rtlCol="0" anchor="ctr"/>
          <a:lstStyle/>
          <a:p>
            <a:pPr indent="0" marL="0">
              <a:buNone/>
            </a:pPr>
            <a:r>
              <a:rPr lang="en-US" sz="1100" b="1" spc="160" kern="0" dirty="0">
                <a:solidFill>
                  <a:srgbClr val="4D9BFF"/>
                </a:solidFill>
                <a:latin typeface="Arial" pitchFamily="34" charset="0"/>
                <a:ea typeface="Arial" pitchFamily="34" charset="-122"/>
                <a:cs typeface="Arial" pitchFamily="34" charset="-120"/>
              </a:rPr>
              <a:t>DELNA</a:t>
            </a:r>
            <a:endParaRPr lang="en-US" sz="1100" dirty="0"/>
          </a:p>
        </p:txBody>
      </p:sp>
      <p:sp>
        <p:nvSpPr>
          <p:cNvPr id="22" name="Text 17"/>
          <p:cNvSpPr/>
          <p:nvPr/>
        </p:nvSpPr>
        <p:spPr>
          <a:xfrm>
            <a:off x="8997696" y="1609344"/>
            <a:ext cx="2468880" cy="45720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Arial" pitchFamily="34" charset="0"/>
                <a:ea typeface="Arial" pitchFamily="34" charset="-122"/>
                <a:cs typeface="Arial" pitchFamily="34" charset="-120"/>
              </a:rPr>
              <a:t>Traffic Congestion</a:t>
            </a:r>
            <a:endParaRPr lang="en-US" sz="1250" dirty="0"/>
          </a:p>
          <a:p>
            <a:pPr indent="0" marL="0">
              <a:lnSpc>
                <a:spcPct val="95000"/>
              </a:lnSpc>
              <a:buNone/>
            </a:pPr>
            <a:r>
              <a:rPr lang="en-US" sz="1250" b="1" dirty="0">
                <a:solidFill>
                  <a:srgbClr val="FFFFFF"/>
                </a:solidFill>
                <a:latin typeface="Arial" pitchFamily="34" charset="0"/>
                <a:ea typeface="Arial" pitchFamily="34" charset="-122"/>
                <a:cs typeface="Arial" pitchFamily="34" charset="-120"/>
              </a:rPr>
              <a:t>Reduction</a:t>
            </a:r>
            <a:endParaRPr lang="en-US" sz="1250" dirty="0"/>
          </a:p>
        </p:txBody>
      </p:sp>
      <p:sp>
        <p:nvSpPr>
          <p:cNvPr id="23" name="Text 18"/>
          <p:cNvSpPr/>
          <p:nvPr/>
        </p:nvSpPr>
        <p:spPr>
          <a:xfrm>
            <a:off x="8375904" y="2212848"/>
            <a:ext cx="3063240" cy="10972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Queue per lane, arrival rate, phase duration</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Keep / extend / switch / reduce</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−α queue − β waiting + γ throughput</a:t>
            </a:r>
            <a:endParaRPr lang="en-US" sz="1050" dirty="0"/>
          </a:p>
        </p:txBody>
      </p:sp>
      <p:sp>
        <p:nvSpPr>
          <p:cNvPr id="24" name="Shape 19"/>
          <p:cNvSpPr/>
          <p:nvPr/>
        </p:nvSpPr>
        <p:spPr>
          <a:xfrm rot="10800000">
            <a:off x="9793224" y="3493008"/>
            <a:ext cx="219456" cy="182880"/>
          </a:xfrm>
          <a:prstGeom prst="triangle">
            <a:avLst/>
          </a:prstGeom>
          <a:solidFill>
            <a:srgbClr val="4D9BFF"/>
          </a:solidFill>
          <a:ln w="12700">
            <a:solidFill>
              <a:srgbClr val="4D9BFF"/>
            </a:solidFill>
            <a:prstDash val="solid"/>
          </a:ln>
        </p:spPr>
      </p:sp>
      <p:sp>
        <p:nvSpPr>
          <p:cNvPr id="25" name="Shape 20"/>
          <p:cNvSpPr/>
          <p:nvPr/>
        </p:nvSpPr>
        <p:spPr>
          <a:xfrm>
            <a:off x="548640" y="3877056"/>
            <a:ext cx="11091672" cy="1143000"/>
          </a:xfrm>
          <a:prstGeom prst="roundRect">
            <a:avLst>
              <a:gd name="adj" fmla="val 8000"/>
            </a:avLst>
          </a:prstGeom>
          <a:solidFill>
            <a:srgbClr val="0C3A4A"/>
          </a:solidFill>
          <a:ln w="19050">
            <a:solidFill>
              <a:srgbClr val="22D3EE"/>
            </a:solidFill>
            <a:prstDash val="solid"/>
          </a:ln>
        </p:spPr>
      </p:sp>
      <p:sp>
        <p:nvSpPr>
          <p:cNvPr id="26" name="Shape 21"/>
          <p:cNvSpPr/>
          <p:nvPr/>
        </p:nvSpPr>
        <p:spPr>
          <a:xfrm>
            <a:off x="914400" y="4151376"/>
            <a:ext cx="594360" cy="594360"/>
          </a:xfrm>
          <a:prstGeom prst="ellipse">
            <a:avLst/>
          </a:prstGeom>
          <a:solidFill>
            <a:srgbClr val="0A1226"/>
          </a:solidFill>
          <a:ln w="12700">
            <a:solidFill>
              <a:srgbClr val="22D3EE"/>
            </a:solidFill>
            <a:prstDash val="solid"/>
          </a:ln>
        </p:spPr>
      </p:sp>
      <p:pic>
        <p:nvPicPr>
          <p:cNvPr id="27" name="Image 3" descr="preencoded.png">    </p:cNvPr>
          <p:cNvPicPr>
            <a:picLocks noChangeAspect="1"/>
          </p:cNvPicPr>
          <p:nvPr/>
        </p:nvPicPr>
        <p:blipFill>
          <a:blip r:embed="rId4"/>
          <a:stretch>
            <a:fillRect/>
          </a:stretch>
        </p:blipFill>
        <p:spPr>
          <a:xfrm>
            <a:off x="1074877" y="4311853"/>
            <a:ext cx="273406" cy="273406"/>
          </a:xfrm>
          <a:prstGeom prst="rect">
            <a:avLst/>
          </a:prstGeom>
        </p:spPr>
      </p:pic>
      <p:sp>
        <p:nvSpPr>
          <p:cNvPr id="28" name="Text 22"/>
          <p:cNvSpPr/>
          <p:nvPr/>
        </p:nvSpPr>
        <p:spPr>
          <a:xfrm>
            <a:off x="1737360" y="4041648"/>
            <a:ext cx="9509760" cy="411480"/>
          </a:xfrm>
          <a:prstGeom prst="rect">
            <a:avLst/>
          </a:prstGeom>
          <a:noFill/>
          <a:ln/>
        </p:spPr>
        <p:txBody>
          <a:bodyPr wrap="square" lIns="0" tIns="0" rIns="0" bIns="0" rtlCol="0" anchor="ctr"/>
          <a:lstStyle/>
          <a:p>
            <a:pPr indent="0" marL="0">
              <a:buNone/>
            </a:pPr>
            <a:r>
              <a:rPr lang="en-US" sz="2300" b="1" spc="60" kern="0" dirty="0">
                <a:solidFill>
                  <a:srgbClr val="FFFFFF"/>
                </a:solidFill>
                <a:latin typeface="Arial" pitchFamily="34" charset="0"/>
                <a:ea typeface="Arial" pitchFamily="34" charset="-122"/>
                <a:cs typeface="Arial" pitchFamily="34" charset="-120"/>
              </a:rPr>
              <a:t>UNIFIED DQN TRAFFIC SIGNAL CONTROLLER</a:t>
            </a:r>
            <a:endParaRPr lang="en-US" sz="2300" dirty="0"/>
          </a:p>
        </p:txBody>
      </p:sp>
      <p:sp>
        <p:nvSpPr>
          <p:cNvPr id="29" name="Text 23"/>
          <p:cNvSpPr/>
          <p:nvPr/>
        </p:nvSpPr>
        <p:spPr>
          <a:xfrm>
            <a:off x="1737360" y="4480560"/>
            <a:ext cx="9509760" cy="292608"/>
          </a:xfrm>
          <a:prstGeom prst="rect">
            <a:avLst/>
          </a:prstGeom>
          <a:noFill/>
          <a:ln/>
        </p:spPr>
        <p:txBody>
          <a:bodyPr wrap="square" lIns="0" tIns="0" rIns="0" bIns="0" rtlCol="0" anchor="ctr"/>
          <a:lstStyle/>
          <a:p>
            <a:pPr indent="0" marL="0">
              <a:buNone/>
            </a:pPr>
            <a:r>
              <a:rPr lang="en-US" sz="1200" dirty="0">
                <a:solidFill>
                  <a:srgbClr val="22D3EE"/>
                </a:solidFill>
                <a:latin typeface="Calibri" pitchFamily="34" charset="0"/>
                <a:ea typeface="Calibri" pitchFamily="34" charset="-122"/>
                <a:cs typeface="Calibri" pitchFamily="34" charset="-120"/>
              </a:rPr>
              <a:t>One state representation  ·  one discrete action space  ·  one multi-objective reward  ·  one policy</a:t>
            </a:r>
            <a:endParaRPr lang="en-US" sz="1200" dirty="0"/>
          </a:p>
        </p:txBody>
      </p:sp>
      <p:sp>
        <p:nvSpPr>
          <p:cNvPr id="30" name="Shape 24"/>
          <p:cNvSpPr/>
          <p:nvPr/>
        </p:nvSpPr>
        <p:spPr>
          <a:xfrm>
            <a:off x="548640" y="5193792"/>
            <a:ext cx="11091672" cy="841248"/>
          </a:xfrm>
          <a:prstGeom prst="roundRect">
            <a:avLst>
              <a:gd name="adj" fmla="val 10870"/>
            </a:avLst>
          </a:prstGeom>
          <a:solidFill>
            <a:srgbClr val="0D1730"/>
          </a:solidFill>
          <a:ln w="12700">
            <a:solidFill>
              <a:srgbClr val="2B3E60"/>
            </a:solidFill>
            <a:prstDash val="solid"/>
          </a:ln>
        </p:spPr>
      </p:sp>
      <p:sp>
        <p:nvSpPr>
          <p:cNvPr id="31" name="Text 25"/>
          <p:cNvSpPr/>
          <p:nvPr/>
        </p:nvSpPr>
        <p:spPr>
          <a:xfrm>
            <a:off x="841248" y="5193792"/>
            <a:ext cx="10515600" cy="841248"/>
          </a:xfrm>
          <a:prstGeom prst="rect">
            <a:avLst/>
          </a:prstGeom>
          <a:noFill/>
          <a:ln/>
        </p:spPr>
        <p:txBody>
          <a:bodyPr wrap="square" lIns="0" tIns="0" rIns="0" bIns="0" rtlCol="0" anchor="ctr"/>
          <a:lstStyle/>
          <a:p>
            <a:pPr indent="0" marL="0">
              <a:lnSpc>
                <a:spcPct val="102000"/>
              </a:lnSpc>
              <a:buNone/>
            </a:pPr>
            <a:r>
              <a:rPr lang="en-US" sz="1200" dirty="0">
                <a:solidFill>
                  <a:srgbClr val="9DB2CE"/>
                </a:solidFill>
                <a:latin typeface="Calibri" pitchFamily="34" charset="0"/>
                <a:ea typeface="Calibri" pitchFamily="34" charset="-122"/>
                <a:cs typeface="Calibri" pitchFamily="34" charset="-120"/>
              </a:rPr>
              <a:t>The three objectives are objective-focused components of a single framework — each contributes state variables, permitted actions and reward terms to one controller. They collectively define the intelligent traffic-control system rather than operating as three independently deployed models.</a:t>
            </a:r>
            <a:endParaRPr lang="en-US" sz="1200" dirty="0"/>
          </a:p>
        </p:txBody>
      </p:sp>
      <p:sp>
        <p:nvSpPr>
          <p:cNvPr id="33" name="Text 26"/>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Team</a:t>
            </a:r>
            <a:endParaRPr lang="en-US" sz="950" dirty="0"/>
          </a:p>
        </p:txBody>
      </p:sp>
      <p:sp>
        <p:nvSpPr>
          <p:cNvPr id="34" name="Text 27"/>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2D3EE"/>
                </a:solidFill>
                <a:latin typeface="Calibri" pitchFamily="34" charset="0"/>
                <a:ea typeface="Calibri" pitchFamily="34" charset="-122"/>
                <a:cs typeface="Calibri" pitchFamily="34" charset="-120"/>
              </a:rPr>
              <a:t>19 / 22</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2D3EE"/>
                </a:solidFill>
                <a:latin typeface="Arial" pitchFamily="34" charset="0"/>
                <a:ea typeface="Arial" pitchFamily="34" charset="-122"/>
                <a:cs typeface="Arial" pitchFamily="34" charset="-120"/>
              </a:rPr>
              <a:t>TEAM INTEGRATION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Multi-Objective Reward Function</a:t>
            </a:r>
            <a:endParaRPr lang="en-US" sz="2800" dirty="0"/>
          </a:p>
        </p:txBody>
      </p:sp>
      <p:sp>
        <p:nvSpPr>
          <p:cNvPr id="4" name="Shape 2"/>
          <p:cNvSpPr/>
          <p:nvPr/>
        </p:nvSpPr>
        <p:spPr>
          <a:xfrm>
            <a:off x="548640" y="1170432"/>
            <a:ext cx="11091672" cy="1024128"/>
          </a:xfrm>
          <a:prstGeom prst="roundRect">
            <a:avLst>
              <a:gd name="adj" fmla="val 8929"/>
            </a:avLst>
          </a:prstGeom>
          <a:solidFill>
            <a:srgbClr val="0D1730"/>
          </a:solidFill>
          <a:ln w="12700">
            <a:solidFill>
              <a:srgbClr val="22D3EE"/>
            </a:solidFill>
            <a:prstDash val="solid"/>
          </a:ln>
        </p:spPr>
      </p:sp>
      <p:sp>
        <p:nvSpPr>
          <p:cNvPr id="5" name="Text 3"/>
          <p:cNvSpPr/>
          <p:nvPr/>
        </p:nvSpPr>
        <p:spPr>
          <a:xfrm>
            <a:off x="731520" y="1170432"/>
            <a:ext cx="10725912" cy="1024128"/>
          </a:xfrm>
          <a:prstGeom prst="rect">
            <a:avLst/>
          </a:prstGeom>
          <a:noFill/>
          <a:ln/>
        </p:spPr>
        <p:txBody>
          <a:bodyPr wrap="square" lIns="0" tIns="0" rIns="0" bIns="0" rtlCol="0" anchor="ctr"/>
          <a:lstStyle/>
          <a:p>
            <a:pPr algn="ctr" indent="0" marL="0">
              <a:lnSpc>
                <a:spcPct val="110000"/>
              </a:lnSpc>
              <a:buNone/>
            </a:pPr>
            <a:r>
              <a:rPr lang="en-US" sz="1450" b="1" dirty="0">
                <a:solidFill>
                  <a:srgbClr val="FFFFFF"/>
                </a:solidFill>
                <a:latin typeface="Courier New" pitchFamily="34" charset="0"/>
                <a:ea typeface="Courier New" pitchFamily="34" charset="-122"/>
                <a:cs typeface="Courier New" pitchFamily="34" charset="-120"/>
              </a:rPr>
              <a:t>R  =  − w₁(Queue Length)  − w₂(Waiting Time)  − w₃(Stops)  − w₄(Emission)  + w₅(Emergency Priority)  − w₆(Violation Penalty)</a:t>
            </a:r>
            <a:endParaRPr lang="en-US" sz="1450" dirty="0"/>
          </a:p>
        </p:txBody>
      </p:sp>
      <p:sp>
        <p:nvSpPr>
          <p:cNvPr id="6" name="Shape 4"/>
          <p:cNvSpPr/>
          <p:nvPr/>
        </p:nvSpPr>
        <p:spPr>
          <a:xfrm>
            <a:off x="548640" y="2395728"/>
            <a:ext cx="3557016" cy="1133856"/>
          </a:xfrm>
          <a:prstGeom prst="roundRect">
            <a:avLst>
              <a:gd name="adj" fmla="val 8065"/>
            </a:avLst>
          </a:prstGeom>
          <a:solidFill>
            <a:srgbClr val="15223C"/>
          </a:solidFill>
          <a:ln w="12700">
            <a:solidFill>
              <a:srgbClr val="2B3E60"/>
            </a:solidFill>
            <a:prstDash val="solid"/>
          </a:ln>
        </p:spPr>
      </p:sp>
      <p:sp>
        <p:nvSpPr>
          <p:cNvPr id="7" name="Shape 5"/>
          <p:cNvSpPr/>
          <p:nvPr/>
        </p:nvSpPr>
        <p:spPr>
          <a:xfrm>
            <a:off x="768096" y="2615184"/>
            <a:ext cx="566928" cy="566928"/>
          </a:xfrm>
          <a:prstGeom prst="roundRect">
            <a:avLst>
              <a:gd name="adj" fmla="val 16129"/>
            </a:avLst>
          </a:prstGeom>
          <a:solidFill>
            <a:srgbClr val="132B4D"/>
          </a:solidFill>
          <a:ln w="12700">
            <a:solidFill>
              <a:srgbClr val="4D9BFF"/>
            </a:solidFill>
            <a:prstDash val="solid"/>
          </a:ln>
        </p:spPr>
      </p:sp>
      <p:sp>
        <p:nvSpPr>
          <p:cNvPr id="8" name="Text 6"/>
          <p:cNvSpPr/>
          <p:nvPr/>
        </p:nvSpPr>
        <p:spPr>
          <a:xfrm>
            <a:off x="768096" y="2615184"/>
            <a:ext cx="566928" cy="566928"/>
          </a:xfrm>
          <a:prstGeom prst="rect">
            <a:avLst/>
          </a:prstGeom>
          <a:noFill/>
          <a:ln/>
        </p:spPr>
        <p:txBody>
          <a:bodyPr wrap="square" lIns="0" tIns="0" rIns="0" bIns="0" rtlCol="0" anchor="ctr"/>
          <a:lstStyle/>
          <a:p>
            <a:pPr algn="ctr" indent="0" marL="0">
              <a:buNone/>
            </a:pPr>
            <a:r>
              <a:rPr lang="en-US" sz="1400" b="1" dirty="0">
                <a:solidFill>
                  <a:srgbClr val="4D9BFF"/>
                </a:solidFill>
                <a:latin typeface="Courier New" pitchFamily="34" charset="0"/>
                <a:ea typeface="Courier New" pitchFamily="34" charset="-122"/>
                <a:cs typeface="Courier New" pitchFamily="34" charset="-120"/>
              </a:rPr>
              <a:t>w₁</a:t>
            </a:r>
            <a:endParaRPr lang="en-US" sz="1400" dirty="0"/>
          </a:p>
        </p:txBody>
      </p:sp>
      <p:sp>
        <p:nvSpPr>
          <p:cNvPr id="9" name="Text 7"/>
          <p:cNvSpPr/>
          <p:nvPr/>
        </p:nvSpPr>
        <p:spPr>
          <a:xfrm>
            <a:off x="1417320" y="2633472"/>
            <a:ext cx="219456" cy="274320"/>
          </a:xfrm>
          <a:prstGeom prst="rect">
            <a:avLst/>
          </a:prstGeom>
          <a:noFill/>
          <a:ln/>
        </p:spPr>
        <p:txBody>
          <a:bodyPr wrap="square" lIns="0" tIns="0" rIns="0" bIns="0" rtlCol="0" anchor="ctr"/>
          <a:lstStyle/>
          <a:p>
            <a:pPr indent="0" marL="0">
              <a:buNone/>
            </a:pPr>
            <a:r>
              <a:rPr lang="en-US" sz="1500" b="1" dirty="0">
                <a:solidFill>
                  <a:srgbClr val="E74C3C"/>
                </a:solidFill>
                <a:latin typeface="Arial" pitchFamily="34" charset="0"/>
                <a:ea typeface="Arial" pitchFamily="34" charset="-122"/>
                <a:cs typeface="Arial" pitchFamily="34" charset="-120"/>
              </a:rPr>
              <a:t>−</a:t>
            </a:r>
            <a:endParaRPr lang="en-US" sz="1500" dirty="0"/>
          </a:p>
        </p:txBody>
      </p:sp>
      <p:sp>
        <p:nvSpPr>
          <p:cNvPr id="10" name="Text 8"/>
          <p:cNvSpPr/>
          <p:nvPr/>
        </p:nvSpPr>
        <p:spPr>
          <a:xfrm>
            <a:off x="1664208" y="2615184"/>
            <a:ext cx="22860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Queue Length</a:t>
            </a:r>
            <a:endParaRPr lang="en-US" sz="1300" dirty="0"/>
          </a:p>
        </p:txBody>
      </p:sp>
      <p:sp>
        <p:nvSpPr>
          <p:cNvPr id="11" name="Text 9"/>
          <p:cNvSpPr/>
          <p:nvPr/>
        </p:nvSpPr>
        <p:spPr>
          <a:xfrm>
            <a:off x="768096" y="3255264"/>
            <a:ext cx="3108960" cy="237744"/>
          </a:xfrm>
          <a:prstGeom prst="rect">
            <a:avLst/>
          </a:prstGeom>
          <a:noFill/>
          <a:ln/>
        </p:spPr>
        <p:txBody>
          <a:bodyPr wrap="square" lIns="0" tIns="0" rIns="0" bIns="0" rtlCol="0" anchor="ctr"/>
          <a:lstStyle/>
          <a:p>
            <a:pPr indent="0" marL="0">
              <a:buNone/>
            </a:pPr>
            <a:r>
              <a:rPr lang="en-US" sz="1100" dirty="0">
                <a:solidFill>
                  <a:srgbClr val="9DB2CE"/>
                </a:solidFill>
                <a:latin typeface="Calibri" pitchFamily="34" charset="0"/>
                <a:ea typeface="Calibri" pitchFamily="34" charset="-122"/>
                <a:cs typeface="Calibri" pitchFamily="34" charset="-120"/>
              </a:rPr>
              <a:t>Number of vehicles waiting</a:t>
            </a:r>
            <a:endParaRPr lang="en-US" sz="1100" dirty="0"/>
          </a:p>
        </p:txBody>
      </p:sp>
      <p:sp>
        <p:nvSpPr>
          <p:cNvPr id="12" name="Shape 10"/>
          <p:cNvSpPr/>
          <p:nvPr/>
        </p:nvSpPr>
        <p:spPr>
          <a:xfrm>
            <a:off x="4315968" y="2395728"/>
            <a:ext cx="3557016" cy="1133856"/>
          </a:xfrm>
          <a:prstGeom prst="roundRect">
            <a:avLst>
              <a:gd name="adj" fmla="val 8065"/>
            </a:avLst>
          </a:prstGeom>
          <a:solidFill>
            <a:srgbClr val="15223C"/>
          </a:solidFill>
          <a:ln w="12700">
            <a:solidFill>
              <a:srgbClr val="2B3E60"/>
            </a:solidFill>
            <a:prstDash val="solid"/>
          </a:ln>
        </p:spPr>
      </p:sp>
      <p:sp>
        <p:nvSpPr>
          <p:cNvPr id="13" name="Shape 11"/>
          <p:cNvSpPr/>
          <p:nvPr/>
        </p:nvSpPr>
        <p:spPr>
          <a:xfrm>
            <a:off x="4535424" y="2615184"/>
            <a:ext cx="566928" cy="566928"/>
          </a:xfrm>
          <a:prstGeom prst="roundRect">
            <a:avLst>
              <a:gd name="adj" fmla="val 16129"/>
            </a:avLst>
          </a:prstGeom>
          <a:solidFill>
            <a:srgbClr val="132B4D"/>
          </a:solidFill>
          <a:ln w="12700">
            <a:solidFill>
              <a:srgbClr val="4D9BFF"/>
            </a:solidFill>
            <a:prstDash val="solid"/>
          </a:ln>
        </p:spPr>
      </p:sp>
      <p:sp>
        <p:nvSpPr>
          <p:cNvPr id="14" name="Text 12"/>
          <p:cNvSpPr/>
          <p:nvPr/>
        </p:nvSpPr>
        <p:spPr>
          <a:xfrm>
            <a:off x="4535424" y="2615184"/>
            <a:ext cx="566928" cy="566928"/>
          </a:xfrm>
          <a:prstGeom prst="rect">
            <a:avLst/>
          </a:prstGeom>
          <a:noFill/>
          <a:ln/>
        </p:spPr>
        <p:txBody>
          <a:bodyPr wrap="square" lIns="0" tIns="0" rIns="0" bIns="0" rtlCol="0" anchor="ctr"/>
          <a:lstStyle/>
          <a:p>
            <a:pPr algn="ctr" indent="0" marL="0">
              <a:buNone/>
            </a:pPr>
            <a:r>
              <a:rPr lang="en-US" sz="1400" b="1" dirty="0">
                <a:solidFill>
                  <a:srgbClr val="4D9BFF"/>
                </a:solidFill>
                <a:latin typeface="Courier New" pitchFamily="34" charset="0"/>
                <a:ea typeface="Courier New" pitchFamily="34" charset="-122"/>
                <a:cs typeface="Courier New" pitchFamily="34" charset="-120"/>
              </a:rPr>
              <a:t>w₂</a:t>
            </a:r>
            <a:endParaRPr lang="en-US" sz="1400" dirty="0"/>
          </a:p>
        </p:txBody>
      </p:sp>
      <p:sp>
        <p:nvSpPr>
          <p:cNvPr id="15" name="Text 13"/>
          <p:cNvSpPr/>
          <p:nvPr/>
        </p:nvSpPr>
        <p:spPr>
          <a:xfrm>
            <a:off x="5184648" y="2633472"/>
            <a:ext cx="219456" cy="274320"/>
          </a:xfrm>
          <a:prstGeom prst="rect">
            <a:avLst/>
          </a:prstGeom>
          <a:noFill/>
          <a:ln/>
        </p:spPr>
        <p:txBody>
          <a:bodyPr wrap="square" lIns="0" tIns="0" rIns="0" bIns="0" rtlCol="0" anchor="ctr"/>
          <a:lstStyle/>
          <a:p>
            <a:pPr indent="0" marL="0">
              <a:buNone/>
            </a:pPr>
            <a:r>
              <a:rPr lang="en-US" sz="1500" b="1" dirty="0">
                <a:solidFill>
                  <a:srgbClr val="E74C3C"/>
                </a:solidFill>
                <a:latin typeface="Arial" pitchFamily="34" charset="0"/>
                <a:ea typeface="Arial" pitchFamily="34" charset="-122"/>
                <a:cs typeface="Arial" pitchFamily="34" charset="-120"/>
              </a:rPr>
              <a:t>−</a:t>
            </a:r>
            <a:endParaRPr lang="en-US" sz="1500" dirty="0"/>
          </a:p>
        </p:txBody>
      </p:sp>
      <p:sp>
        <p:nvSpPr>
          <p:cNvPr id="16" name="Text 14"/>
          <p:cNvSpPr/>
          <p:nvPr/>
        </p:nvSpPr>
        <p:spPr>
          <a:xfrm>
            <a:off x="5431536" y="2615184"/>
            <a:ext cx="22860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Waiting Time</a:t>
            </a:r>
            <a:endParaRPr lang="en-US" sz="1300" dirty="0"/>
          </a:p>
        </p:txBody>
      </p:sp>
      <p:sp>
        <p:nvSpPr>
          <p:cNvPr id="17" name="Text 15"/>
          <p:cNvSpPr/>
          <p:nvPr/>
        </p:nvSpPr>
        <p:spPr>
          <a:xfrm>
            <a:off x="4535424" y="3255264"/>
            <a:ext cx="3108960" cy="237744"/>
          </a:xfrm>
          <a:prstGeom prst="rect">
            <a:avLst/>
          </a:prstGeom>
          <a:noFill/>
          <a:ln/>
        </p:spPr>
        <p:txBody>
          <a:bodyPr wrap="square" lIns="0" tIns="0" rIns="0" bIns="0" rtlCol="0" anchor="ctr"/>
          <a:lstStyle/>
          <a:p>
            <a:pPr indent="0" marL="0">
              <a:buNone/>
            </a:pPr>
            <a:r>
              <a:rPr lang="en-US" sz="1100" dirty="0">
                <a:solidFill>
                  <a:srgbClr val="9DB2CE"/>
                </a:solidFill>
                <a:latin typeface="Calibri" pitchFamily="34" charset="0"/>
                <a:ea typeface="Calibri" pitchFamily="34" charset="-122"/>
                <a:cs typeface="Calibri" pitchFamily="34" charset="-120"/>
              </a:rPr>
              <a:t>Accumulated vehicle delay</a:t>
            </a:r>
            <a:endParaRPr lang="en-US" sz="1100" dirty="0"/>
          </a:p>
        </p:txBody>
      </p:sp>
      <p:sp>
        <p:nvSpPr>
          <p:cNvPr id="18" name="Shape 16"/>
          <p:cNvSpPr/>
          <p:nvPr/>
        </p:nvSpPr>
        <p:spPr>
          <a:xfrm>
            <a:off x="8083296" y="2395728"/>
            <a:ext cx="3557016" cy="1133856"/>
          </a:xfrm>
          <a:prstGeom prst="roundRect">
            <a:avLst>
              <a:gd name="adj" fmla="val 8065"/>
            </a:avLst>
          </a:prstGeom>
          <a:solidFill>
            <a:srgbClr val="15223C"/>
          </a:solidFill>
          <a:ln w="12700">
            <a:solidFill>
              <a:srgbClr val="2B3E60"/>
            </a:solidFill>
            <a:prstDash val="solid"/>
          </a:ln>
        </p:spPr>
      </p:sp>
      <p:sp>
        <p:nvSpPr>
          <p:cNvPr id="19" name="Shape 17"/>
          <p:cNvSpPr/>
          <p:nvPr/>
        </p:nvSpPr>
        <p:spPr>
          <a:xfrm>
            <a:off x="8302752" y="2615184"/>
            <a:ext cx="566928" cy="566928"/>
          </a:xfrm>
          <a:prstGeom prst="roundRect">
            <a:avLst>
              <a:gd name="adj" fmla="val 16129"/>
            </a:avLst>
          </a:prstGeom>
          <a:solidFill>
            <a:srgbClr val="10331F"/>
          </a:solidFill>
          <a:ln w="12700">
            <a:solidFill>
              <a:srgbClr val="2FD68C"/>
            </a:solidFill>
            <a:prstDash val="solid"/>
          </a:ln>
        </p:spPr>
      </p:sp>
      <p:sp>
        <p:nvSpPr>
          <p:cNvPr id="20" name="Text 18"/>
          <p:cNvSpPr/>
          <p:nvPr/>
        </p:nvSpPr>
        <p:spPr>
          <a:xfrm>
            <a:off x="8302752" y="2615184"/>
            <a:ext cx="566928" cy="566928"/>
          </a:xfrm>
          <a:prstGeom prst="rect">
            <a:avLst/>
          </a:prstGeom>
          <a:noFill/>
          <a:ln/>
        </p:spPr>
        <p:txBody>
          <a:bodyPr wrap="square" lIns="0" tIns="0" rIns="0" bIns="0" rtlCol="0" anchor="ctr"/>
          <a:lstStyle/>
          <a:p>
            <a:pPr algn="ctr" indent="0" marL="0">
              <a:buNone/>
            </a:pPr>
            <a:r>
              <a:rPr lang="en-US" sz="1400" b="1" dirty="0">
                <a:solidFill>
                  <a:srgbClr val="2FD68C"/>
                </a:solidFill>
                <a:latin typeface="Courier New" pitchFamily="34" charset="0"/>
                <a:ea typeface="Courier New" pitchFamily="34" charset="-122"/>
                <a:cs typeface="Courier New" pitchFamily="34" charset="-120"/>
              </a:rPr>
              <a:t>w₃</a:t>
            </a:r>
            <a:endParaRPr lang="en-US" sz="1400" dirty="0"/>
          </a:p>
        </p:txBody>
      </p:sp>
      <p:sp>
        <p:nvSpPr>
          <p:cNvPr id="21" name="Text 19"/>
          <p:cNvSpPr/>
          <p:nvPr/>
        </p:nvSpPr>
        <p:spPr>
          <a:xfrm>
            <a:off x="8951976" y="2633472"/>
            <a:ext cx="219456" cy="274320"/>
          </a:xfrm>
          <a:prstGeom prst="rect">
            <a:avLst/>
          </a:prstGeom>
          <a:noFill/>
          <a:ln/>
        </p:spPr>
        <p:txBody>
          <a:bodyPr wrap="square" lIns="0" tIns="0" rIns="0" bIns="0" rtlCol="0" anchor="ctr"/>
          <a:lstStyle/>
          <a:p>
            <a:pPr indent="0" marL="0">
              <a:buNone/>
            </a:pPr>
            <a:r>
              <a:rPr lang="en-US" sz="1500" b="1" dirty="0">
                <a:solidFill>
                  <a:srgbClr val="E74C3C"/>
                </a:solidFill>
                <a:latin typeface="Arial" pitchFamily="34" charset="0"/>
                <a:ea typeface="Arial" pitchFamily="34" charset="-122"/>
                <a:cs typeface="Arial" pitchFamily="34" charset="-120"/>
              </a:rPr>
              <a:t>−</a:t>
            </a:r>
            <a:endParaRPr lang="en-US" sz="1500" dirty="0"/>
          </a:p>
        </p:txBody>
      </p:sp>
      <p:sp>
        <p:nvSpPr>
          <p:cNvPr id="22" name="Text 20"/>
          <p:cNvSpPr/>
          <p:nvPr/>
        </p:nvSpPr>
        <p:spPr>
          <a:xfrm>
            <a:off x="9198864" y="2615184"/>
            <a:ext cx="22860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Stops</a:t>
            </a:r>
            <a:endParaRPr lang="en-US" sz="1300" dirty="0"/>
          </a:p>
        </p:txBody>
      </p:sp>
      <p:sp>
        <p:nvSpPr>
          <p:cNvPr id="23" name="Text 21"/>
          <p:cNvSpPr/>
          <p:nvPr/>
        </p:nvSpPr>
        <p:spPr>
          <a:xfrm>
            <a:off x="8302752" y="3255264"/>
            <a:ext cx="3108960" cy="237744"/>
          </a:xfrm>
          <a:prstGeom prst="rect">
            <a:avLst/>
          </a:prstGeom>
          <a:noFill/>
          <a:ln/>
        </p:spPr>
        <p:txBody>
          <a:bodyPr wrap="square" lIns="0" tIns="0" rIns="0" bIns="0" rtlCol="0" anchor="ctr"/>
          <a:lstStyle/>
          <a:p>
            <a:pPr indent="0" marL="0">
              <a:buNone/>
            </a:pPr>
            <a:r>
              <a:rPr lang="en-US" sz="1100" dirty="0">
                <a:solidFill>
                  <a:srgbClr val="9DB2CE"/>
                </a:solidFill>
                <a:latin typeface="Calibri" pitchFamily="34" charset="0"/>
                <a:ea typeface="Calibri" pitchFamily="34" charset="-122"/>
                <a:cs typeface="Calibri" pitchFamily="34" charset="-120"/>
              </a:rPr>
              <a:t>Unnecessary vehicle stops</a:t>
            </a:r>
            <a:endParaRPr lang="en-US" sz="1100" dirty="0"/>
          </a:p>
        </p:txBody>
      </p:sp>
      <p:sp>
        <p:nvSpPr>
          <p:cNvPr id="24" name="Shape 22"/>
          <p:cNvSpPr/>
          <p:nvPr/>
        </p:nvSpPr>
        <p:spPr>
          <a:xfrm>
            <a:off x="548640" y="3675888"/>
            <a:ext cx="3557016" cy="1133856"/>
          </a:xfrm>
          <a:prstGeom prst="roundRect">
            <a:avLst>
              <a:gd name="adj" fmla="val 8065"/>
            </a:avLst>
          </a:prstGeom>
          <a:solidFill>
            <a:srgbClr val="15223C"/>
          </a:solidFill>
          <a:ln w="12700">
            <a:solidFill>
              <a:srgbClr val="2B3E60"/>
            </a:solidFill>
            <a:prstDash val="solid"/>
          </a:ln>
        </p:spPr>
      </p:sp>
      <p:sp>
        <p:nvSpPr>
          <p:cNvPr id="25" name="Shape 23"/>
          <p:cNvSpPr/>
          <p:nvPr/>
        </p:nvSpPr>
        <p:spPr>
          <a:xfrm>
            <a:off x="768096" y="3895344"/>
            <a:ext cx="566928" cy="566928"/>
          </a:xfrm>
          <a:prstGeom prst="roundRect">
            <a:avLst>
              <a:gd name="adj" fmla="val 16129"/>
            </a:avLst>
          </a:prstGeom>
          <a:solidFill>
            <a:srgbClr val="10331F"/>
          </a:solidFill>
          <a:ln w="12700">
            <a:solidFill>
              <a:srgbClr val="2FD68C"/>
            </a:solidFill>
            <a:prstDash val="solid"/>
          </a:ln>
        </p:spPr>
      </p:sp>
      <p:sp>
        <p:nvSpPr>
          <p:cNvPr id="26" name="Text 24"/>
          <p:cNvSpPr/>
          <p:nvPr/>
        </p:nvSpPr>
        <p:spPr>
          <a:xfrm>
            <a:off x="768096" y="3895344"/>
            <a:ext cx="566928" cy="566928"/>
          </a:xfrm>
          <a:prstGeom prst="rect">
            <a:avLst/>
          </a:prstGeom>
          <a:noFill/>
          <a:ln/>
        </p:spPr>
        <p:txBody>
          <a:bodyPr wrap="square" lIns="0" tIns="0" rIns="0" bIns="0" rtlCol="0" anchor="ctr"/>
          <a:lstStyle/>
          <a:p>
            <a:pPr algn="ctr" indent="0" marL="0">
              <a:buNone/>
            </a:pPr>
            <a:r>
              <a:rPr lang="en-US" sz="1400" b="1" dirty="0">
                <a:solidFill>
                  <a:srgbClr val="2FD68C"/>
                </a:solidFill>
                <a:latin typeface="Courier New" pitchFamily="34" charset="0"/>
                <a:ea typeface="Courier New" pitchFamily="34" charset="-122"/>
                <a:cs typeface="Courier New" pitchFamily="34" charset="-120"/>
              </a:rPr>
              <a:t>w₄</a:t>
            </a:r>
            <a:endParaRPr lang="en-US" sz="1400" dirty="0"/>
          </a:p>
        </p:txBody>
      </p:sp>
      <p:sp>
        <p:nvSpPr>
          <p:cNvPr id="27" name="Text 25"/>
          <p:cNvSpPr/>
          <p:nvPr/>
        </p:nvSpPr>
        <p:spPr>
          <a:xfrm>
            <a:off x="1417320" y="3913632"/>
            <a:ext cx="219456" cy="274320"/>
          </a:xfrm>
          <a:prstGeom prst="rect">
            <a:avLst/>
          </a:prstGeom>
          <a:noFill/>
          <a:ln/>
        </p:spPr>
        <p:txBody>
          <a:bodyPr wrap="square" lIns="0" tIns="0" rIns="0" bIns="0" rtlCol="0" anchor="ctr"/>
          <a:lstStyle/>
          <a:p>
            <a:pPr indent="0" marL="0">
              <a:buNone/>
            </a:pPr>
            <a:r>
              <a:rPr lang="en-US" sz="1500" b="1" dirty="0">
                <a:solidFill>
                  <a:srgbClr val="E74C3C"/>
                </a:solidFill>
                <a:latin typeface="Arial" pitchFamily="34" charset="0"/>
                <a:ea typeface="Arial" pitchFamily="34" charset="-122"/>
                <a:cs typeface="Arial" pitchFamily="34" charset="-120"/>
              </a:rPr>
              <a:t>−</a:t>
            </a:r>
            <a:endParaRPr lang="en-US" sz="1500" dirty="0"/>
          </a:p>
        </p:txBody>
      </p:sp>
      <p:sp>
        <p:nvSpPr>
          <p:cNvPr id="28" name="Text 26"/>
          <p:cNvSpPr/>
          <p:nvPr/>
        </p:nvSpPr>
        <p:spPr>
          <a:xfrm>
            <a:off x="1664208" y="3895344"/>
            <a:ext cx="22860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Emission</a:t>
            </a:r>
            <a:endParaRPr lang="en-US" sz="1300" dirty="0"/>
          </a:p>
        </p:txBody>
      </p:sp>
      <p:sp>
        <p:nvSpPr>
          <p:cNvPr id="29" name="Text 27"/>
          <p:cNvSpPr/>
          <p:nvPr/>
        </p:nvSpPr>
        <p:spPr>
          <a:xfrm>
            <a:off x="768096" y="4535424"/>
            <a:ext cx="3108960" cy="237744"/>
          </a:xfrm>
          <a:prstGeom prst="rect">
            <a:avLst/>
          </a:prstGeom>
          <a:noFill/>
          <a:ln/>
        </p:spPr>
        <p:txBody>
          <a:bodyPr wrap="square" lIns="0" tIns="0" rIns="0" bIns="0" rtlCol="0" anchor="ctr"/>
          <a:lstStyle/>
          <a:p>
            <a:pPr indent="0" marL="0">
              <a:buNone/>
            </a:pPr>
            <a:r>
              <a:rPr lang="en-US" sz="1100" dirty="0">
                <a:solidFill>
                  <a:srgbClr val="9DB2CE"/>
                </a:solidFill>
                <a:latin typeface="Calibri" pitchFamily="34" charset="0"/>
                <a:ea typeface="Calibri" pitchFamily="34" charset="-122"/>
                <a:cs typeface="Calibri" pitchFamily="34" charset="-120"/>
              </a:rPr>
              <a:t>Estimated vehicular emission</a:t>
            </a:r>
            <a:endParaRPr lang="en-US" sz="1100" dirty="0"/>
          </a:p>
        </p:txBody>
      </p:sp>
      <p:sp>
        <p:nvSpPr>
          <p:cNvPr id="30" name="Shape 28"/>
          <p:cNvSpPr/>
          <p:nvPr/>
        </p:nvSpPr>
        <p:spPr>
          <a:xfrm>
            <a:off x="4315968" y="3675888"/>
            <a:ext cx="3557016" cy="1133856"/>
          </a:xfrm>
          <a:prstGeom prst="roundRect">
            <a:avLst>
              <a:gd name="adj" fmla="val 8065"/>
            </a:avLst>
          </a:prstGeom>
          <a:solidFill>
            <a:srgbClr val="15223C"/>
          </a:solidFill>
          <a:ln w="12700">
            <a:solidFill>
              <a:srgbClr val="2B3E60"/>
            </a:solidFill>
            <a:prstDash val="solid"/>
          </a:ln>
        </p:spPr>
      </p:sp>
      <p:sp>
        <p:nvSpPr>
          <p:cNvPr id="31" name="Shape 29"/>
          <p:cNvSpPr/>
          <p:nvPr/>
        </p:nvSpPr>
        <p:spPr>
          <a:xfrm>
            <a:off x="4535424" y="3895344"/>
            <a:ext cx="566928" cy="566928"/>
          </a:xfrm>
          <a:prstGeom prst="roundRect">
            <a:avLst>
              <a:gd name="adj" fmla="val 16129"/>
            </a:avLst>
          </a:prstGeom>
          <a:solidFill>
            <a:srgbClr val="3A2113"/>
          </a:solidFill>
          <a:ln w="12700">
            <a:solidFill>
              <a:srgbClr val="FF7A3D"/>
            </a:solidFill>
            <a:prstDash val="solid"/>
          </a:ln>
        </p:spPr>
      </p:sp>
      <p:sp>
        <p:nvSpPr>
          <p:cNvPr id="32" name="Text 30"/>
          <p:cNvSpPr/>
          <p:nvPr/>
        </p:nvSpPr>
        <p:spPr>
          <a:xfrm>
            <a:off x="4535424" y="3895344"/>
            <a:ext cx="566928" cy="566928"/>
          </a:xfrm>
          <a:prstGeom prst="rect">
            <a:avLst/>
          </a:prstGeom>
          <a:noFill/>
          <a:ln/>
        </p:spPr>
        <p:txBody>
          <a:bodyPr wrap="square" lIns="0" tIns="0" rIns="0" bIns="0" rtlCol="0" anchor="ctr"/>
          <a:lstStyle/>
          <a:p>
            <a:pPr algn="ctr" indent="0" marL="0">
              <a:buNone/>
            </a:pPr>
            <a:r>
              <a:rPr lang="en-US" sz="1400" b="1" dirty="0">
                <a:solidFill>
                  <a:srgbClr val="FF7A3D"/>
                </a:solidFill>
                <a:latin typeface="Courier New" pitchFamily="34" charset="0"/>
                <a:ea typeface="Courier New" pitchFamily="34" charset="-122"/>
                <a:cs typeface="Courier New" pitchFamily="34" charset="-120"/>
              </a:rPr>
              <a:t>w₅</a:t>
            </a:r>
            <a:endParaRPr lang="en-US" sz="1400" dirty="0"/>
          </a:p>
        </p:txBody>
      </p:sp>
      <p:sp>
        <p:nvSpPr>
          <p:cNvPr id="33" name="Text 31"/>
          <p:cNvSpPr/>
          <p:nvPr/>
        </p:nvSpPr>
        <p:spPr>
          <a:xfrm>
            <a:off x="5184648" y="3913632"/>
            <a:ext cx="219456" cy="274320"/>
          </a:xfrm>
          <a:prstGeom prst="rect">
            <a:avLst/>
          </a:prstGeom>
          <a:noFill/>
          <a:ln/>
        </p:spPr>
        <p:txBody>
          <a:bodyPr wrap="square" lIns="0" tIns="0" rIns="0" bIns="0" rtlCol="0" anchor="ctr"/>
          <a:lstStyle/>
          <a:p>
            <a:pPr indent="0" marL="0">
              <a:buNone/>
            </a:pPr>
            <a:r>
              <a:rPr lang="en-US" sz="1500" b="1" dirty="0">
                <a:solidFill>
                  <a:srgbClr val="2FD68C"/>
                </a:solidFill>
                <a:latin typeface="Arial" pitchFamily="34" charset="0"/>
                <a:ea typeface="Arial" pitchFamily="34" charset="-122"/>
                <a:cs typeface="Arial" pitchFamily="34" charset="-120"/>
              </a:rPr>
              <a:t>+</a:t>
            </a:r>
            <a:endParaRPr lang="en-US" sz="1500" dirty="0"/>
          </a:p>
        </p:txBody>
      </p:sp>
      <p:sp>
        <p:nvSpPr>
          <p:cNvPr id="34" name="Text 32"/>
          <p:cNvSpPr/>
          <p:nvPr/>
        </p:nvSpPr>
        <p:spPr>
          <a:xfrm>
            <a:off x="5431536" y="3895344"/>
            <a:ext cx="22860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Emergency Priority</a:t>
            </a:r>
            <a:endParaRPr lang="en-US" sz="1300" dirty="0"/>
          </a:p>
        </p:txBody>
      </p:sp>
      <p:sp>
        <p:nvSpPr>
          <p:cNvPr id="35" name="Text 33"/>
          <p:cNvSpPr/>
          <p:nvPr/>
        </p:nvSpPr>
        <p:spPr>
          <a:xfrm>
            <a:off x="4535424" y="4535424"/>
            <a:ext cx="3108960" cy="237744"/>
          </a:xfrm>
          <a:prstGeom prst="rect">
            <a:avLst/>
          </a:prstGeom>
          <a:noFill/>
          <a:ln/>
        </p:spPr>
        <p:txBody>
          <a:bodyPr wrap="square" lIns="0" tIns="0" rIns="0" bIns="0" rtlCol="0" anchor="ctr"/>
          <a:lstStyle/>
          <a:p>
            <a:pPr indent="0" marL="0">
              <a:buNone/>
            </a:pPr>
            <a:r>
              <a:rPr lang="en-US" sz="1100" dirty="0">
                <a:solidFill>
                  <a:srgbClr val="9DB2CE"/>
                </a:solidFill>
                <a:latin typeface="Calibri" pitchFamily="34" charset="0"/>
                <a:ea typeface="Calibri" pitchFamily="34" charset="-122"/>
                <a:cs typeface="Calibri" pitchFamily="34" charset="-120"/>
              </a:rPr>
              <a:t>Path successfully cleared</a:t>
            </a:r>
            <a:endParaRPr lang="en-US" sz="1100" dirty="0"/>
          </a:p>
        </p:txBody>
      </p:sp>
      <p:sp>
        <p:nvSpPr>
          <p:cNvPr id="36" name="Shape 34"/>
          <p:cNvSpPr/>
          <p:nvPr/>
        </p:nvSpPr>
        <p:spPr>
          <a:xfrm>
            <a:off x="8083296" y="3675888"/>
            <a:ext cx="3557016" cy="1133856"/>
          </a:xfrm>
          <a:prstGeom prst="roundRect">
            <a:avLst>
              <a:gd name="adj" fmla="val 8065"/>
            </a:avLst>
          </a:prstGeom>
          <a:solidFill>
            <a:srgbClr val="15223C"/>
          </a:solidFill>
          <a:ln w="12700">
            <a:solidFill>
              <a:srgbClr val="2B3E60"/>
            </a:solidFill>
            <a:prstDash val="solid"/>
          </a:ln>
        </p:spPr>
      </p:sp>
      <p:sp>
        <p:nvSpPr>
          <p:cNvPr id="37" name="Shape 35"/>
          <p:cNvSpPr/>
          <p:nvPr/>
        </p:nvSpPr>
        <p:spPr>
          <a:xfrm>
            <a:off x="8302752" y="3895344"/>
            <a:ext cx="566928" cy="566928"/>
          </a:xfrm>
          <a:prstGeom prst="roundRect">
            <a:avLst>
              <a:gd name="adj" fmla="val 16129"/>
            </a:avLst>
          </a:prstGeom>
          <a:solidFill>
            <a:srgbClr val="10331F"/>
          </a:solidFill>
          <a:ln w="12700">
            <a:solidFill>
              <a:srgbClr val="2FD68C"/>
            </a:solidFill>
            <a:prstDash val="solid"/>
          </a:ln>
        </p:spPr>
      </p:sp>
      <p:sp>
        <p:nvSpPr>
          <p:cNvPr id="38" name="Text 36"/>
          <p:cNvSpPr/>
          <p:nvPr/>
        </p:nvSpPr>
        <p:spPr>
          <a:xfrm>
            <a:off x="8302752" y="3895344"/>
            <a:ext cx="566928" cy="566928"/>
          </a:xfrm>
          <a:prstGeom prst="rect">
            <a:avLst/>
          </a:prstGeom>
          <a:noFill/>
          <a:ln/>
        </p:spPr>
        <p:txBody>
          <a:bodyPr wrap="square" lIns="0" tIns="0" rIns="0" bIns="0" rtlCol="0" anchor="ctr"/>
          <a:lstStyle/>
          <a:p>
            <a:pPr algn="ctr" indent="0" marL="0">
              <a:buNone/>
            </a:pPr>
            <a:r>
              <a:rPr lang="en-US" sz="1400" b="1" dirty="0">
                <a:solidFill>
                  <a:srgbClr val="2FD68C"/>
                </a:solidFill>
                <a:latin typeface="Courier New" pitchFamily="34" charset="0"/>
                <a:ea typeface="Courier New" pitchFamily="34" charset="-122"/>
                <a:cs typeface="Courier New" pitchFamily="34" charset="-120"/>
              </a:rPr>
              <a:t>w₆</a:t>
            </a:r>
            <a:endParaRPr lang="en-US" sz="1400" dirty="0"/>
          </a:p>
        </p:txBody>
      </p:sp>
      <p:sp>
        <p:nvSpPr>
          <p:cNvPr id="39" name="Text 37"/>
          <p:cNvSpPr/>
          <p:nvPr/>
        </p:nvSpPr>
        <p:spPr>
          <a:xfrm>
            <a:off x="8951976" y="3913632"/>
            <a:ext cx="219456" cy="274320"/>
          </a:xfrm>
          <a:prstGeom prst="rect">
            <a:avLst/>
          </a:prstGeom>
          <a:noFill/>
          <a:ln/>
        </p:spPr>
        <p:txBody>
          <a:bodyPr wrap="square" lIns="0" tIns="0" rIns="0" bIns="0" rtlCol="0" anchor="ctr"/>
          <a:lstStyle/>
          <a:p>
            <a:pPr indent="0" marL="0">
              <a:buNone/>
            </a:pPr>
            <a:r>
              <a:rPr lang="en-US" sz="1500" b="1" dirty="0">
                <a:solidFill>
                  <a:srgbClr val="E74C3C"/>
                </a:solidFill>
                <a:latin typeface="Arial" pitchFamily="34" charset="0"/>
                <a:ea typeface="Arial" pitchFamily="34" charset="-122"/>
                <a:cs typeface="Arial" pitchFamily="34" charset="-120"/>
              </a:rPr>
              <a:t>−</a:t>
            </a:r>
            <a:endParaRPr lang="en-US" sz="1500" dirty="0"/>
          </a:p>
        </p:txBody>
      </p:sp>
      <p:sp>
        <p:nvSpPr>
          <p:cNvPr id="40" name="Text 38"/>
          <p:cNvSpPr/>
          <p:nvPr/>
        </p:nvSpPr>
        <p:spPr>
          <a:xfrm>
            <a:off x="9198864" y="3895344"/>
            <a:ext cx="22860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Violation Penalty</a:t>
            </a:r>
            <a:endParaRPr lang="en-US" sz="1300" dirty="0"/>
          </a:p>
        </p:txBody>
      </p:sp>
      <p:sp>
        <p:nvSpPr>
          <p:cNvPr id="41" name="Text 39"/>
          <p:cNvSpPr/>
          <p:nvPr/>
        </p:nvSpPr>
        <p:spPr>
          <a:xfrm>
            <a:off x="8302752" y="4535424"/>
            <a:ext cx="3108960" cy="237744"/>
          </a:xfrm>
          <a:prstGeom prst="rect">
            <a:avLst/>
          </a:prstGeom>
          <a:noFill/>
          <a:ln/>
        </p:spPr>
        <p:txBody>
          <a:bodyPr wrap="square" lIns="0" tIns="0" rIns="0" bIns="0" rtlCol="0" anchor="ctr"/>
          <a:lstStyle/>
          <a:p>
            <a:pPr indent="0" marL="0">
              <a:buNone/>
            </a:pPr>
            <a:r>
              <a:rPr lang="en-US" sz="1100" dirty="0">
                <a:solidFill>
                  <a:srgbClr val="9DB2CE"/>
                </a:solidFill>
                <a:latin typeface="Calibri" pitchFamily="34" charset="0"/>
                <a:ea typeface="Calibri" pitchFamily="34" charset="-122"/>
                <a:cs typeface="Calibri" pitchFamily="34" charset="-120"/>
              </a:rPr>
              <a:t>Detected traffic violations</a:t>
            </a:r>
            <a:endParaRPr lang="en-US" sz="1100" dirty="0"/>
          </a:p>
        </p:txBody>
      </p:sp>
      <p:sp>
        <p:nvSpPr>
          <p:cNvPr id="42" name="Shape 40"/>
          <p:cNvSpPr/>
          <p:nvPr/>
        </p:nvSpPr>
        <p:spPr>
          <a:xfrm>
            <a:off x="548640" y="5138928"/>
            <a:ext cx="11091672" cy="914400"/>
          </a:xfrm>
          <a:prstGeom prst="roundRect">
            <a:avLst>
              <a:gd name="adj" fmla="val 10000"/>
            </a:avLst>
          </a:prstGeom>
          <a:solidFill>
            <a:srgbClr val="0D1730"/>
          </a:solidFill>
          <a:ln w="12700">
            <a:solidFill>
              <a:srgbClr val="2B3E60"/>
            </a:solidFill>
            <a:prstDash val="solid"/>
          </a:ln>
        </p:spPr>
      </p:sp>
      <p:sp>
        <p:nvSpPr>
          <p:cNvPr id="43" name="Text 41"/>
          <p:cNvSpPr/>
          <p:nvPr/>
        </p:nvSpPr>
        <p:spPr>
          <a:xfrm>
            <a:off x="822960" y="5138928"/>
            <a:ext cx="2286000" cy="914400"/>
          </a:xfrm>
          <a:prstGeom prst="rect">
            <a:avLst/>
          </a:prstGeom>
          <a:noFill/>
          <a:ln/>
        </p:spPr>
        <p:txBody>
          <a:bodyPr wrap="square" lIns="0" tIns="0" rIns="0" bIns="0" rtlCol="0" anchor="ctr"/>
          <a:lstStyle/>
          <a:p>
            <a:pPr indent="0" marL="0">
              <a:buNone/>
            </a:pPr>
            <a:r>
              <a:rPr lang="en-US" sz="950" b="1" spc="130" kern="0" dirty="0">
                <a:solidFill>
                  <a:srgbClr val="6E86A8"/>
                </a:solidFill>
                <a:latin typeface="Arial" pitchFamily="34" charset="0"/>
                <a:ea typeface="Arial" pitchFamily="34" charset="-122"/>
                <a:cs typeface="Arial" pitchFamily="34" charset="-120"/>
              </a:rPr>
              <a:t>ONE CONTROLLER BALANCES</a:t>
            </a:r>
            <a:endParaRPr lang="en-US" sz="950" dirty="0"/>
          </a:p>
        </p:txBody>
      </p:sp>
      <p:sp>
        <p:nvSpPr>
          <p:cNvPr id="44" name="Shape 42"/>
          <p:cNvSpPr/>
          <p:nvPr/>
        </p:nvSpPr>
        <p:spPr>
          <a:xfrm>
            <a:off x="3291840" y="5358384"/>
            <a:ext cx="1298448" cy="475488"/>
          </a:xfrm>
          <a:prstGeom prst="roundRect">
            <a:avLst>
              <a:gd name="adj" fmla="val 26923"/>
            </a:avLst>
          </a:prstGeom>
          <a:solidFill>
            <a:srgbClr val="1B2B49"/>
          </a:solidFill>
          <a:ln w="12700">
            <a:solidFill>
              <a:srgbClr val="4D9BFF"/>
            </a:solidFill>
            <a:prstDash val="solid"/>
          </a:ln>
        </p:spPr>
      </p:sp>
      <p:sp>
        <p:nvSpPr>
          <p:cNvPr id="45" name="Text 43"/>
          <p:cNvSpPr/>
          <p:nvPr/>
        </p:nvSpPr>
        <p:spPr>
          <a:xfrm>
            <a:off x="3401568" y="5358384"/>
            <a:ext cx="1078992" cy="475488"/>
          </a:xfrm>
          <a:prstGeom prst="rect">
            <a:avLst/>
          </a:prstGeom>
          <a:noFill/>
          <a:ln/>
        </p:spPr>
        <p:txBody>
          <a:bodyPr wrap="square" lIns="0" tIns="0" rIns="0" bIns="0" rtlCol="0" anchor="ctr"/>
          <a:lstStyle/>
          <a:p>
            <a:pPr algn="ctr" indent="0" marL="0">
              <a:buNone/>
            </a:pPr>
            <a:r>
              <a:rPr lang="en-US" sz="1100" b="1" dirty="0">
                <a:solidFill>
                  <a:srgbClr val="4D9BFF"/>
                </a:solidFill>
                <a:latin typeface="Arial" pitchFamily="34" charset="0"/>
                <a:ea typeface="Arial" pitchFamily="34" charset="-122"/>
                <a:cs typeface="Arial" pitchFamily="34" charset="-120"/>
              </a:rPr>
              <a:t>Congestion</a:t>
            </a:r>
            <a:endParaRPr lang="en-US" sz="1100" dirty="0"/>
          </a:p>
        </p:txBody>
      </p:sp>
      <p:sp>
        <p:nvSpPr>
          <p:cNvPr id="46" name="Shape 44"/>
          <p:cNvSpPr/>
          <p:nvPr/>
        </p:nvSpPr>
        <p:spPr>
          <a:xfrm>
            <a:off x="4690872" y="5358384"/>
            <a:ext cx="1298448" cy="475488"/>
          </a:xfrm>
          <a:prstGeom prst="roundRect">
            <a:avLst>
              <a:gd name="adj" fmla="val 26923"/>
            </a:avLst>
          </a:prstGeom>
          <a:solidFill>
            <a:srgbClr val="1B2B49"/>
          </a:solidFill>
          <a:ln w="12700">
            <a:solidFill>
              <a:srgbClr val="4D9BFF"/>
            </a:solidFill>
            <a:prstDash val="solid"/>
          </a:ln>
        </p:spPr>
      </p:sp>
      <p:sp>
        <p:nvSpPr>
          <p:cNvPr id="47" name="Text 45"/>
          <p:cNvSpPr/>
          <p:nvPr/>
        </p:nvSpPr>
        <p:spPr>
          <a:xfrm>
            <a:off x="4800600" y="5358384"/>
            <a:ext cx="1078992" cy="475488"/>
          </a:xfrm>
          <a:prstGeom prst="rect">
            <a:avLst/>
          </a:prstGeom>
          <a:noFill/>
          <a:ln/>
        </p:spPr>
        <p:txBody>
          <a:bodyPr wrap="square" lIns="0" tIns="0" rIns="0" bIns="0" rtlCol="0" anchor="ctr"/>
          <a:lstStyle/>
          <a:p>
            <a:pPr algn="ctr" indent="0" marL="0">
              <a:buNone/>
            </a:pPr>
            <a:r>
              <a:rPr lang="en-US" sz="1100" b="1" dirty="0">
                <a:solidFill>
                  <a:srgbClr val="4D9BFF"/>
                </a:solidFill>
                <a:latin typeface="Arial" pitchFamily="34" charset="0"/>
                <a:ea typeface="Arial" pitchFamily="34" charset="-122"/>
                <a:cs typeface="Arial" pitchFamily="34" charset="-120"/>
              </a:rPr>
              <a:t>Waiting</a:t>
            </a:r>
            <a:endParaRPr lang="en-US" sz="1100" dirty="0"/>
          </a:p>
        </p:txBody>
      </p:sp>
      <p:sp>
        <p:nvSpPr>
          <p:cNvPr id="48" name="Shape 46"/>
          <p:cNvSpPr/>
          <p:nvPr/>
        </p:nvSpPr>
        <p:spPr>
          <a:xfrm>
            <a:off x="6089904" y="5358384"/>
            <a:ext cx="1298448" cy="475488"/>
          </a:xfrm>
          <a:prstGeom prst="roundRect">
            <a:avLst>
              <a:gd name="adj" fmla="val 26923"/>
            </a:avLst>
          </a:prstGeom>
          <a:solidFill>
            <a:srgbClr val="1B2B49"/>
          </a:solidFill>
          <a:ln w="12700">
            <a:solidFill>
              <a:srgbClr val="2FD68C"/>
            </a:solidFill>
            <a:prstDash val="solid"/>
          </a:ln>
        </p:spPr>
      </p:sp>
      <p:sp>
        <p:nvSpPr>
          <p:cNvPr id="49" name="Text 47"/>
          <p:cNvSpPr/>
          <p:nvPr/>
        </p:nvSpPr>
        <p:spPr>
          <a:xfrm>
            <a:off x="6199632" y="5358384"/>
            <a:ext cx="1078992" cy="475488"/>
          </a:xfrm>
          <a:prstGeom prst="rect">
            <a:avLst/>
          </a:prstGeom>
          <a:noFill/>
          <a:ln/>
        </p:spPr>
        <p:txBody>
          <a:bodyPr wrap="square" lIns="0" tIns="0" rIns="0" bIns="0" rtlCol="0" anchor="ctr"/>
          <a:lstStyle/>
          <a:p>
            <a:pPr algn="ctr" indent="0" marL="0">
              <a:buNone/>
            </a:pPr>
            <a:r>
              <a:rPr lang="en-US" sz="1100" b="1" dirty="0">
                <a:solidFill>
                  <a:srgbClr val="2FD68C"/>
                </a:solidFill>
                <a:latin typeface="Arial" pitchFamily="34" charset="0"/>
                <a:ea typeface="Arial" pitchFamily="34" charset="-122"/>
                <a:cs typeface="Arial" pitchFamily="34" charset="-120"/>
              </a:rPr>
              <a:t>Stops</a:t>
            </a:r>
            <a:endParaRPr lang="en-US" sz="1100" dirty="0"/>
          </a:p>
        </p:txBody>
      </p:sp>
      <p:sp>
        <p:nvSpPr>
          <p:cNvPr id="50" name="Shape 48"/>
          <p:cNvSpPr/>
          <p:nvPr/>
        </p:nvSpPr>
        <p:spPr>
          <a:xfrm>
            <a:off x="7488936" y="5358384"/>
            <a:ext cx="1298448" cy="475488"/>
          </a:xfrm>
          <a:prstGeom prst="roundRect">
            <a:avLst>
              <a:gd name="adj" fmla="val 26923"/>
            </a:avLst>
          </a:prstGeom>
          <a:solidFill>
            <a:srgbClr val="1B2B49"/>
          </a:solidFill>
          <a:ln w="12700">
            <a:solidFill>
              <a:srgbClr val="2FD68C"/>
            </a:solidFill>
            <a:prstDash val="solid"/>
          </a:ln>
        </p:spPr>
      </p:sp>
      <p:sp>
        <p:nvSpPr>
          <p:cNvPr id="51" name="Text 49"/>
          <p:cNvSpPr/>
          <p:nvPr/>
        </p:nvSpPr>
        <p:spPr>
          <a:xfrm>
            <a:off x="7598664" y="5358384"/>
            <a:ext cx="1078992" cy="475488"/>
          </a:xfrm>
          <a:prstGeom prst="rect">
            <a:avLst/>
          </a:prstGeom>
          <a:noFill/>
          <a:ln/>
        </p:spPr>
        <p:txBody>
          <a:bodyPr wrap="square" lIns="0" tIns="0" rIns="0" bIns="0" rtlCol="0" anchor="ctr"/>
          <a:lstStyle/>
          <a:p>
            <a:pPr algn="ctr" indent="0" marL="0">
              <a:buNone/>
            </a:pPr>
            <a:r>
              <a:rPr lang="en-US" sz="1100" b="1" dirty="0">
                <a:solidFill>
                  <a:srgbClr val="2FD68C"/>
                </a:solidFill>
                <a:latin typeface="Arial" pitchFamily="34" charset="0"/>
                <a:ea typeface="Arial" pitchFamily="34" charset="-122"/>
                <a:cs typeface="Arial" pitchFamily="34" charset="-120"/>
              </a:rPr>
              <a:t>Emissions</a:t>
            </a:r>
            <a:endParaRPr lang="en-US" sz="1100" dirty="0"/>
          </a:p>
        </p:txBody>
      </p:sp>
      <p:sp>
        <p:nvSpPr>
          <p:cNvPr id="52" name="Shape 50"/>
          <p:cNvSpPr/>
          <p:nvPr/>
        </p:nvSpPr>
        <p:spPr>
          <a:xfrm>
            <a:off x="8887968" y="5358384"/>
            <a:ext cx="1298448" cy="475488"/>
          </a:xfrm>
          <a:prstGeom prst="roundRect">
            <a:avLst>
              <a:gd name="adj" fmla="val 26923"/>
            </a:avLst>
          </a:prstGeom>
          <a:solidFill>
            <a:srgbClr val="1B2B49"/>
          </a:solidFill>
          <a:ln w="12700">
            <a:solidFill>
              <a:srgbClr val="FF7A3D"/>
            </a:solidFill>
            <a:prstDash val="solid"/>
          </a:ln>
        </p:spPr>
      </p:sp>
      <p:sp>
        <p:nvSpPr>
          <p:cNvPr id="53" name="Text 51"/>
          <p:cNvSpPr/>
          <p:nvPr/>
        </p:nvSpPr>
        <p:spPr>
          <a:xfrm>
            <a:off x="8997696" y="5358384"/>
            <a:ext cx="1078992" cy="475488"/>
          </a:xfrm>
          <a:prstGeom prst="rect">
            <a:avLst/>
          </a:prstGeom>
          <a:noFill/>
          <a:ln/>
        </p:spPr>
        <p:txBody>
          <a:bodyPr wrap="square" lIns="0" tIns="0" rIns="0" bIns="0" rtlCol="0" anchor="ctr"/>
          <a:lstStyle/>
          <a:p>
            <a:pPr algn="ctr" indent="0" marL="0">
              <a:buNone/>
            </a:pPr>
            <a:r>
              <a:rPr lang="en-US" sz="1100" b="1" dirty="0">
                <a:solidFill>
                  <a:srgbClr val="FF7A3D"/>
                </a:solidFill>
                <a:latin typeface="Arial" pitchFamily="34" charset="0"/>
                <a:ea typeface="Arial" pitchFamily="34" charset="-122"/>
                <a:cs typeface="Arial" pitchFamily="34" charset="-120"/>
              </a:rPr>
              <a:t>Emergency</a:t>
            </a:r>
            <a:endParaRPr lang="en-US" sz="1100" dirty="0"/>
          </a:p>
        </p:txBody>
      </p:sp>
      <p:sp>
        <p:nvSpPr>
          <p:cNvPr id="54" name="Shape 52"/>
          <p:cNvSpPr/>
          <p:nvPr/>
        </p:nvSpPr>
        <p:spPr>
          <a:xfrm>
            <a:off x="10287000" y="5358384"/>
            <a:ext cx="1298448" cy="475488"/>
          </a:xfrm>
          <a:prstGeom prst="roundRect">
            <a:avLst>
              <a:gd name="adj" fmla="val 26923"/>
            </a:avLst>
          </a:prstGeom>
          <a:solidFill>
            <a:srgbClr val="1B2B49"/>
          </a:solidFill>
          <a:ln w="12700">
            <a:solidFill>
              <a:srgbClr val="2FD68C"/>
            </a:solidFill>
            <a:prstDash val="solid"/>
          </a:ln>
        </p:spPr>
      </p:sp>
      <p:sp>
        <p:nvSpPr>
          <p:cNvPr id="55" name="Text 53"/>
          <p:cNvSpPr/>
          <p:nvPr/>
        </p:nvSpPr>
        <p:spPr>
          <a:xfrm>
            <a:off x="10396728" y="5358384"/>
            <a:ext cx="1078992" cy="475488"/>
          </a:xfrm>
          <a:prstGeom prst="rect">
            <a:avLst/>
          </a:prstGeom>
          <a:noFill/>
          <a:ln/>
        </p:spPr>
        <p:txBody>
          <a:bodyPr wrap="square" lIns="0" tIns="0" rIns="0" bIns="0" rtlCol="0" anchor="ctr"/>
          <a:lstStyle/>
          <a:p>
            <a:pPr algn="ctr" indent="0" marL="0">
              <a:buNone/>
            </a:pPr>
            <a:r>
              <a:rPr lang="en-US" sz="1100" b="1" dirty="0">
                <a:solidFill>
                  <a:srgbClr val="2FD68C"/>
                </a:solidFill>
                <a:latin typeface="Arial" pitchFamily="34" charset="0"/>
                <a:ea typeface="Arial" pitchFamily="34" charset="-122"/>
                <a:cs typeface="Arial" pitchFamily="34" charset="-120"/>
              </a:rPr>
              <a:t>Safety</a:t>
            </a:r>
            <a:endParaRPr lang="en-US" sz="1100" dirty="0"/>
          </a:p>
        </p:txBody>
      </p:sp>
      <p:sp>
        <p:nvSpPr>
          <p:cNvPr id="57" name="Text 54"/>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Team</a:t>
            </a:r>
            <a:endParaRPr lang="en-US" sz="950" dirty="0"/>
          </a:p>
        </p:txBody>
      </p:sp>
      <p:sp>
        <p:nvSpPr>
          <p:cNvPr id="58" name="Text 55"/>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2D3EE"/>
                </a:solidFill>
                <a:latin typeface="Calibri" pitchFamily="34" charset="0"/>
                <a:ea typeface="Calibri" pitchFamily="34" charset="-122"/>
                <a:cs typeface="Calibri" pitchFamily="34" charset="-120"/>
              </a:rPr>
              <a:t>20 / 22</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2D3EE"/>
                </a:solidFill>
                <a:latin typeface="Arial" pitchFamily="34" charset="0"/>
                <a:ea typeface="Arial" pitchFamily="34" charset="-122"/>
                <a:cs typeface="Arial" pitchFamily="34" charset="-120"/>
              </a:rPr>
              <a:t>COMPLETE DQN WORKFLOW  ·  EVALUATION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How It Learns, and How We Will Measure It</a:t>
            </a:r>
            <a:endParaRPr lang="en-US" sz="2800" dirty="0"/>
          </a:p>
        </p:txBody>
      </p:sp>
      <p:sp>
        <p:nvSpPr>
          <p:cNvPr id="4" name="Text 2"/>
          <p:cNvSpPr/>
          <p:nvPr/>
        </p:nvSpPr>
        <p:spPr>
          <a:xfrm>
            <a:off x="548640" y="1152144"/>
            <a:ext cx="4206240" cy="237744"/>
          </a:xfrm>
          <a:prstGeom prst="rect">
            <a:avLst/>
          </a:prstGeom>
          <a:noFill/>
          <a:ln/>
        </p:spPr>
        <p:txBody>
          <a:bodyPr wrap="square" lIns="0" tIns="0" rIns="0" bIns="0" rtlCol="0" anchor="ctr"/>
          <a:lstStyle/>
          <a:p>
            <a:pPr indent="0" marL="0">
              <a:buNone/>
            </a:pPr>
            <a:r>
              <a:rPr lang="en-US" sz="1000" b="1" spc="160" kern="0" dirty="0">
                <a:solidFill>
                  <a:srgbClr val="22D3EE"/>
                </a:solidFill>
                <a:latin typeface="Arial" pitchFamily="34" charset="0"/>
                <a:ea typeface="Arial" pitchFamily="34" charset="-122"/>
                <a:cs typeface="Arial" pitchFamily="34" charset="-120"/>
              </a:rPr>
              <a:t>A  ·  LEARNING CYCLE</a:t>
            </a:r>
            <a:endParaRPr lang="en-US" sz="1000" dirty="0"/>
          </a:p>
        </p:txBody>
      </p:sp>
      <p:sp>
        <p:nvSpPr>
          <p:cNvPr id="5" name="Shape 3"/>
          <p:cNvSpPr/>
          <p:nvPr/>
        </p:nvSpPr>
        <p:spPr>
          <a:xfrm>
            <a:off x="548640" y="1444752"/>
            <a:ext cx="4754880" cy="4407408"/>
          </a:xfrm>
          <a:prstGeom prst="roundRect">
            <a:avLst>
              <a:gd name="adj" fmla="val 2075"/>
            </a:avLst>
          </a:prstGeom>
          <a:solidFill>
            <a:srgbClr val="15223C"/>
          </a:solidFill>
          <a:ln w="12700">
            <a:solidFill>
              <a:srgbClr val="2B3E60"/>
            </a:solidFill>
            <a:prstDash val="solid"/>
          </a:ln>
        </p:spPr>
      </p:sp>
      <p:sp>
        <p:nvSpPr>
          <p:cNvPr id="6" name="Shape 4"/>
          <p:cNvSpPr/>
          <p:nvPr/>
        </p:nvSpPr>
        <p:spPr>
          <a:xfrm>
            <a:off x="822960" y="1700784"/>
            <a:ext cx="237744" cy="237744"/>
          </a:xfrm>
          <a:prstGeom prst="ellipse">
            <a:avLst/>
          </a:prstGeom>
          <a:solidFill>
            <a:srgbClr val="1B2B49"/>
          </a:solidFill>
          <a:ln w="12700">
            <a:solidFill>
              <a:srgbClr val="2B3E60"/>
            </a:solidFill>
            <a:prstDash val="solid"/>
          </a:ln>
        </p:spPr>
      </p:sp>
      <p:sp>
        <p:nvSpPr>
          <p:cNvPr id="7" name="Text 5"/>
          <p:cNvSpPr/>
          <p:nvPr/>
        </p:nvSpPr>
        <p:spPr>
          <a:xfrm>
            <a:off x="822960" y="1700784"/>
            <a:ext cx="237744" cy="237744"/>
          </a:xfrm>
          <a:prstGeom prst="rect">
            <a:avLst/>
          </a:prstGeom>
          <a:noFill/>
          <a:ln/>
        </p:spPr>
        <p:txBody>
          <a:bodyPr wrap="square" lIns="0" tIns="0" rIns="0" bIns="0" rtlCol="0" anchor="ctr"/>
          <a:lstStyle/>
          <a:p>
            <a:pPr algn="ctr" indent="0" marL="0">
              <a:buNone/>
            </a:pPr>
            <a:r>
              <a:rPr lang="en-US" sz="850" b="1" dirty="0">
                <a:solidFill>
                  <a:srgbClr val="6E86A8"/>
                </a:solidFill>
                <a:latin typeface="Courier New" pitchFamily="34" charset="0"/>
                <a:ea typeface="Courier New" pitchFamily="34" charset="-122"/>
                <a:cs typeface="Courier New" pitchFamily="34" charset="-120"/>
              </a:rPr>
              <a:t>1</a:t>
            </a:r>
            <a:endParaRPr lang="en-US" sz="850" dirty="0"/>
          </a:p>
        </p:txBody>
      </p:sp>
      <p:sp>
        <p:nvSpPr>
          <p:cNvPr id="8" name="Text 6"/>
          <p:cNvSpPr/>
          <p:nvPr/>
        </p:nvSpPr>
        <p:spPr>
          <a:xfrm>
            <a:off x="1188720" y="1645920"/>
            <a:ext cx="384048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Traffic environment</a:t>
            </a:r>
            <a:endParaRPr lang="en-US" sz="1200" dirty="0"/>
          </a:p>
        </p:txBody>
      </p:sp>
      <p:sp>
        <p:nvSpPr>
          <p:cNvPr id="9" name="Shape 7"/>
          <p:cNvSpPr/>
          <p:nvPr/>
        </p:nvSpPr>
        <p:spPr>
          <a:xfrm>
            <a:off x="932688" y="1938528"/>
            <a:ext cx="13716" cy="109728"/>
          </a:xfrm>
          <a:prstGeom prst="rect">
            <a:avLst/>
          </a:prstGeom>
          <a:solidFill>
            <a:srgbClr val="2B3E60"/>
          </a:solidFill>
          <a:ln w="12700">
            <a:solidFill>
              <a:srgbClr val="333333"/>
            </a:solidFill>
            <a:prstDash val="solid"/>
          </a:ln>
        </p:spPr>
      </p:sp>
      <p:sp>
        <p:nvSpPr>
          <p:cNvPr id="10" name="Shape 8"/>
          <p:cNvSpPr/>
          <p:nvPr/>
        </p:nvSpPr>
        <p:spPr>
          <a:xfrm>
            <a:off x="822960" y="2084832"/>
            <a:ext cx="237744" cy="237744"/>
          </a:xfrm>
          <a:prstGeom prst="ellipse">
            <a:avLst/>
          </a:prstGeom>
          <a:solidFill>
            <a:srgbClr val="1B2B49"/>
          </a:solidFill>
          <a:ln w="12700">
            <a:solidFill>
              <a:srgbClr val="2B3E60"/>
            </a:solidFill>
            <a:prstDash val="solid"/>
          </a:ln>
        </p:spPr>
      </p:sp>
      <p:sp>
        <p:nvSpPr>
          <p:cNvPr id="11" name="Text 9"/>
          <p:cNvSpPr/>
          <p:nvPr/>
        </p:nvSpPr>
        <p:spPr>
          <a:xfrm>
            <a:off x="822960" y="2084832"/>
            <a:ext cx="237744" cy="237744"/>
          </a:xfrm>
          <a:prstGeom prst="rect">
            <a:avLst/>
          </a:prstGeom>
          <a:noFill/>
          <a:ln/>
        </p:spPr>
        <p:txBody>
          <a:bodyPr wrap="square" lIns="0" tIns="0" rIns="0" bIns="0" rtlCol="0" anchor="ctr"/>
          <a:lstStyle/>
          <a:p>
            <a:pPr algn="ctr" indent="0" marL="0">
              <a:buNone/>
            </a:pPr>
            <a:r>
              <a:rPr lang="en-US" sz="850" b="1" dirty="0">
                <a:solidFill>
                  <a:srgbClr val="6E86A8"/>
                </a:solidFill>
                <a:latin typeface="Courier New" pitchFamily="34" charset="0"/>
                <a:ea typeface="Courier New" pitchFamily="34" charset="-122"/>
                <a:cs typeface="Courier New" pitchFamily="34" charset="-120"/>
              </a:rPr>
              <a:t>2</a:t>
            </a:r>
            <a:endParaRPr lang="en-US" sz="850" dirty="0"/>
          </a:p>
        </p:txBody>
      </p:sp>
      <p:sp>
        <p:nvSpPr>
          <p:cNvPr id="12" name="Text 10"/>
          <p:cNvSpPr/>
          <p:nvPr/>
        </p:nvSpPr>
        <p:spPr>
          <a:xfrm>
            <a:off x="1188720" y="2029968"/>
            <a:ext cx="384048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Current state</a:t>
            </a:r>
            <a:endParaRPr lang="en-US" sz="1200" dirty="0"/>
          </a:p>
        </p:txBody>
      </p:sp>
      <p:sp>
        <p:nvSpPr>
          <p:cNvPr id="13" name="Shape 11"/>
          <p:cNvSpPr/>
          <p:nvPr/>
        </p:nvSpPr>
        <p:spPr>
          <a:xfrm>
            <a:off x="932688" y="2322576"/>
            <a:ext cx="13716" cy="109728"/>
          </a:xfrm>
          <a:prstGeom prst="rect">
            <a:avLst/>
          </a:prstGeom>
          <a:solidFill>
            <a:srgbClr val="2B3E60"/>
          </a:solidFill>
          <a:ln w="12700">
            <a:solidFill>
              <a:srgbClr val="333333"/>
            </a:solidFill>
            <a:prstDash val="solid"/>
          </a:ln>
        </p:spPr>
      </p:sp>
      <p:sp>
        <p:nvSpPr>
          <p:cNvPr id="14" name="Shape 12"/>
          <p:cNvSpPr/>
          <p:nvPr/>
        </p:nvSpPr>
        <p:spPr>
          <a:xfrm>
            <a:off x="822960" y="2468880"/>
            <a:ext cx="237744" cy="237744"/>
          </a:xfrm>
          <a:prstGeom prst="ellipse">
            <a:avLst/>
          </a:prstGeom>
          <a:solidFill>
            <a:srgbClr val="0C3A4A"/>
          </a:solidFill>
          <a:ln w="12700">
            <a:solidFill>
              <a:srgbClr val="22D3EE"/>
            </a:solidFill>
            <a:prstDash val="solid"/>
          </a:ln>
        </p:spPr>
      </p:sp>
      <p:sp>
        <p:nvSpPr>
          <p:cNvPr id="15" name="Text 13"/>
          <p:cNvSpPr/>
          <p:nvPr/>
        </p:nvSpPr>
        <p:spPr>
          <a:xfrm>
            <a:off x="822960" y="2468880"/>
            <a:ext cx="237744" cy="237744"/>
          </a:xfrm>
          <a:prstGeom prst="rect">
            <a:avLst/>
          </a:prstGeom>
          <a:noFill/>
          <a:ln/>
        </p:spPr>
        <p:txBody>
          <a:bodyPr wrap="square" lIns="0" tIns="0" rIns="0" bIns="0" rtlCol="0" anchor="ctr"/>
          <a:lstStyle/>
          <a:p>
            <a:pPr algn="ctr" indent="0" marL="0">
              <a:buNone/>
            </a:pPr>
            <a:r>
              <a:rPr lang="en-US" sz="850" b="1" dirty="0">
                <a:solidFill>
                  <a:srgbClr val="22D3EE"/>
                </a:solidFill>
                <a:latin typeface="Courier New" pitchFamily="34" charset="0"/>
                <a:ea typeface="Courier New" pitchFamily="34" charset="-122"/>
                <a:cs typeface="Courier New" pitchFamily="34" charset="-120"/>
              </a:rPr>
              <a:t>3</a:t>
            </a:r>
            <a:endParaRPr lang="en-US" sz="850" dirty="0"/>
          </a:p>
        </p:txBody>
      </p:sp>
      <p:sp>
        <p:nvSpPr>
          <p:cNvPr id="16" name="Text 14"/>
          <p:cNvSpPr/>
          <p:nvPr/>
        </p:nvSpPr>
        <p:spPr>
          <a:xfrm>
            <a:off x="1188720" y="2414016"/>
            <a:ext cx="3840480" cy="347472"/>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DQN agent</a:t>
            </a:r>
            <a:endParaRPr lang="en-US" sz="1200" dirty="0"/>
          </a:p>
        </p:txBody>
      </p:sp>
      <p:sp>
        <p:nvSpPr>
          <p:cNvPr id="17" name="Shape 15"/>
          <p:cNvSpPr/>
          <p:nvPr/>
        </p:nvSpPr>
        <p:spPr>
          <a:xfrm>
            <a:off x="932688" y="2706624"/>
            <a:ext cx="13716" cy="109728"/>
          </a:xfrm>
          <a:prstGeom prst="rect">
            <a:avLst/>
          </a:prstGeom>
          <a:solidFill>
            <a:srgbClr val="2B3E60"/>
          </a:solidFill>
          <a:ln w="12700">
            <a:solidFill>
              <a:srgbClr val="333333"/>
            </a:solidFill>
            <a:prstDash val="solid"/>
          </a:ln>
        </p:spPr>
      </p:sp>
      <p:sp>
        <p:nvSpPr>
          <p:cNvPr id="18" name="Shape 16"/>
          <p:cNvSpPr/>
          <p:nvPr/>
        </p:nvSpPr>
        <p:spPr>
          <a:xfrm>
            <a:off x="822960" y="2852928"/>
            <a:ext cx="237744" cy="237744"/>
          </a:xfrm>
          <a:prstGeom prst="ellipse">
            <a:avLst/>
          </a:prstGeom>
          <a:solidFill>
            <a:srgbClr val="0C3A4A"/>
          </a:solidFill>
          <a:ln w="12700">
            <a:solidFill>
              <a:srgbClr val="22D3EE"/>
            </a:solidFill>
            <a:prstDash val="solid"/>
          </a:ln>
        </p:spPr>
      </p:sp>
      <p:sp>
        <p:nvSpPr>
          <p:cNvPr id="19" name="Text 17"/>
          <p:cNvSpPr/>
          <p:nvPr/>
        </p:nvSpPr>
        <p:spPr>
          <a:xfrm>
            <a:off x="822960" y="2852928"/>
            <a:ext cx="237744" cy="237744"/>
          </a:xfrm>
          <a:prstGeom prst="rect">
            <a:avLst/>
          </a:prstGeom>
          <a:noFill/>
          <a:ln/>
        </p:spPr>
        <p:txBody>
          <a:bodyPr wrap="square" lIns="0" tIns="0" rIns="0" bIns="0" rtlCol="0" anchor="ctr"/>
          <a:lstStyle/>
          <a:p>
            <a:pPr algn="ctr" indent="0" marL="0">
              <a:buNone/>
            </a:pPr>
            <a:r>
              <a:rPr lang="en-US" sz="850" b="1" dirty="0">
                <a:solidFill>
                  <a:srgbClr val="22D3EE"/>
                </a:solidFill>
                <a:latin typeface="Courier New" pitchFamily="34" charset="0"/>
                <a:ea typeface="Courier New" pitchFamily="34" charset="-122"/>
                <a:cs typeface="Courier New" pitchFamily="34" charset="-120"/>
              </a:rPr>
              <a:t>4</a:t>
            </a:r>
            <a:endParaRPr lang="en-US" sz="850" dirty="0"/>
          </a:p>
        </p:txBody>
      </p:sp>
      <p:sp>
        <p:nvSpPr>
          <p:cNvPr id="20" name="Text 18"/>
          <p:cNvSpPr/>
          <p:nvPr/>
        </p:nvSpPr>
        <p:spPr>
          <a:xfrm>
            <a:off x="1188720" y="2798064"/>
            <a:ext cx="3840480" cy="347472"/>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Q-values for each action</a:t>
            </a:r>
            <a:endParaRPr lang="en-US" sz="1200" dirty="0"/>
          </a:p>
        </p:txBody>
      </p:sp>
      <p:sp>
        <p:nvSpPr>
          <p:cNvPr id="21" name="Shape 19"/>
          <p:cNvSpPr/>
          <p:nvPr/>
        </p:nvSpPr>
        <p:spPr>
          <a:xfrm>
            <a:off x="932688" y="3090672"/>
            <a:ext cx="13716" cy="109728"/>
          </a:xfrm>
          <a:prstGeom prst="rect">
            <a:avLst/>
          </a:prstGeom>
          <a:solidFill>
            <a:srgbClr val="2B3E60"/>
          </a:solidFill>
          <a:ln w="12700">
            <a:solidFill>
              <a:srgbClr val="333333"/>
            </a:solidFill>
            <a:prstDash val="solid"/>
          </a:ln>
        </p:spPr>
      </p:sp>
      <p:sp>
        <p:nvSpPr>
          <p:cNvPr id="22" name="Shape 20"/>
          <p:cNvSpPr/>
          <p:nvPr/>
        </p:nvSpPr>
        <p:spPr>
          <a:xfrm>
            <a:off x="822960" y="3236976"/>
            <a:ext cx="237744" cy="237744"/>
          </a:xfrm>
          <a:prstGeom prst="ellipse">
            <a:avLst/>
          </a:prstGeom>
          <a:solidFill>
            <a:srgbClr val="1B2B49"/>
          </a:solidFill>
          <a:ln w="12700">
            <a:solidFill>
              <a:srgbClr val="2B3E60"/>
            </a:solidFill>
            <a:prstDash val="solid"/>
          </a:ln>
        </p:spPr>
      </p:sp>
      <p:sp>
        <p:nvSpPr>
          <p:cNvPr id="23" name="Text 21"/>
          <p:cNvSpPr/>
          <p:nvPr/>
        </p:nvSpPr>
        <p:spPr>
          <a:xfrm>
            <a:off x="822960" y="3236976"/>
            <a:ext cx="237744" cy="237744"/>
          </a:xfrm>
          <a:prstGeom prst="rect">
            <a:avLst/>
          </a:prstGeom>
          <a:noFill/>
          <a:ln/>
        </p:spPr>
        <p:txBody>
          <a:bodyPr wrap="square" lIns="0" tIns="0" rIns="0" bIns="0" rtlCol="0" anchor="ctr"/>
          <a:lstStyle/>
          <a:p>
            <a:pPr algn="ctr" indent="0" marL="0">
              <a:buNone/>
            </a:pPr>
            <a:r>
              <a:rPr lang="en-US" sz="850" b="1" dirty="0">
                <a:solidFill>
                  <a:srgbClr val="6E86A8"/>
                </a:solidFill>
                <a:latin typeface="Courier New" pitchFamily="34" charset="0"/>
                <a:ea typeface="Courier New" pitchFamily="34" charset="-122"/>
                <a:cs typeface="Courier New" pitchFamily="34" charset="-120"/>
              </a:rPr>
              <a:t>5</a:t>
            </a:r>
            <a:endParaRPr lang="en-US" sz="850" dirty="0"/>
          </a:p>
        </p:txBody>
      </p:sp>
      <p:sp>
        <p:nvSpPr>
          <p:cNvPr id="24" name="Text 22"/>
          <p:cNvSpPr/>
          <p:nvPr/>
        </p:nvSpPr>
        <p:spPr>
          <a:xfrm>
            <a:off x="1188720" y="3182112"/>
            <a:ext cx="384048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Signal action selected</a:t>
            </a:r>
            <a:endParaRPr lang="en-US" sz="1200" dirty="0"/>
          </a:p>
        </p:txBody>
      </p:sp>
      <p:sp>
        <p:nvSpPr>
          <p:cNvPr id="25" name="Shape 23"/>
          <p:cNvSpPr/>
          <p:nvPr/>
        </p:nvSpPr>
        <p:spPr>
          <a:xfrm>
            <a:off x="932688" y="3474720"/>
            <a:ext cx="13716" cy="109728"/>
          </a:xfrm>
          <a:prstGeom prst="rect">
            <a:avLst/>
          </a:prstGeom>
          <a:solidFill>
            <a:srgbClr val="2B3E60"/>
          </a:solidFill>
          <a:ln w="12700">
            <a:solidFill>
              <a:srgbClr val="333333"/>
            </a:solidFill>
            <a:prstDash val="solid"/>
          </a:ln>
        </p:spPr>
      </p:sp>
      <p:sp>
        <p:nvSpPr>
          <p:cNvPr id="26" name="Shape 24"/>
          <p:cNvSpPr/>
          <p:nvPr/>
        </p:nvSpPr>
        <p:spPr>
          <a:xfrm>
            <a:off x="822960" y="3621024"/>
            <a:ext cx="237744" cy="237744"/>
          </a:xfrm>
          <a:prstGeom prst="ellipse">
            <a:avLst/>
          </a:prstGeom>
          <a:solidFill>
            <a:srgbClr val="1B2B49"/>
          </a:solidFill>
          <a:ln w="12700">
            <a:solidFill>
              <a:srgbClr val="2B3E60"/>
            </a:solidFill>
            <a:prstDash val="solid"/>
          </a:ln>
        </p:spPr>
      </p:sp>
      <p:sp>
        <p:nvSpPr>
          <p:cNvPr id="27" name="Text 25"/>
          <p:cNvSpPr/>
          <p:nvPr/>
        </p:nvSpPr>
        <p:spPr>
          <a:xfrm>
            <a:off x="822960" y="3621024"/>
            <a:ext cx="237744" cy="237744"/>
          </a:xfrm>
          <a:prstGeom prst="rect">
            <a:avLst/>
          </a:prstGeom>
          <a:noFill/>
          <a:ln/>
        </p:spPr>
        <p:txBody>
          <a:bodyPr wrap="square" lIns="0" tIns="0" rIns="0" bIns="0" rtlCol="0" anchor="ctr"/>
          <a:lstStyle/>
          <a:p>
            <a:pPr algn="ctr" indent="0" marL="0">
              <a:buNone/>
            </a:pPr>
            <a:r>
              <a:rPr lang="en-US" sz="850" b="1" dirty="0">
                <a:solidFill>
                  <a:srgbClr val="6E86A8"/>
                </a:solidFill>
                <a:latin typeface="Courier New" pitchFamily="34" charset="0"/>
                <a:ea typeface="Courier New" pitchFamily="34" charset="-122"/>
                <a:cs typeface="Courier New" pitchFamily="34" charset="-120"/>
              </a:rPr>
              <a:t>6</a:t>
            </a:r>
            <a:endParaRPr lang="en-US" sz="850" dirty="0"/>
          </a:p>
        </p:txBody>
      </p:sp>
      <p:sp>
        <p:nvSpPr>
          <p:cNvPr id="28" name="Text 26"/>
          <p:cNvSpPr/>
          <p:nvPr/>
        </p:nvSpPr>
        <p:spPr>
          <a:xfrm>
            <a:off x="1188720" y="3566160"/>
            <a:ext cx="384048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Environment evolves</a:t>
            </a:r>
            <a:endParaRPr lang="en-US" sz="1200" dirty="0"/>
          </a:p>
        </p:txBody>
      </p:sp>
      <p:sp>
        <p:nvSpPr>
          <p:cNvPr id="29" name="Shape 27"/>
          <p:cNvSpPr/>
          <p:nvPr/>
        </p:nvSpPr>
        <p:spPr>
          <a:xfrm>
            <a:off x="932688" y="3858768"/>
            <a:ext cx="13716" cy="109728"/>
          </a:xfrm>
          <a:prstGeom prst="rect">
            <a:avLst/>
          </a:prstGeom>
          <a:solidFill>
            <a:srgbClr val="2B3E60"/>
          </a:solidFill>
          <a:ln w="12700">
            <a:solidFill>
              <a:srgbClr val="333333"/>
            </a:solidFill>
            <a:prstDash val="solid"/>
          </a:ln>
        </p:spPr>
      </p:sp>
      <p:sp>
        <p:nvSpPr>
          <p:cNvPr id="30" name="Shape 28"/>
          <p:cNvSpPr/>
          <p:nvPr/>
        </p:nvSpPr>
        <p:spPr>
          <a:xfrm>
            <a:off x="822960" y="4005072"/>
            <a:ext cx="237744" cy="237744"/>
          </a:xfrm>
          <a:prstGeom prst="ellipse">
            <a:avLst/>
          </a:prstGeom>
          <a:solidFill>
            <a:srgbClr val="0C3A4A"/>
          </a:solidFill>
          <a:ln w="12700">
            <a:solidFill>
              <a:srgbClr val="22D3EE"/>
            </a:solidFill>
            <a:prstDash val="solid"/>
          </a:ln>
        </p:spPr>
      </p:sp>
      <p:sp>
        <p:nvSpPr>
          <p:cNvPr id="31" name="Text 29"/>
          <p:cNvSpPr/>
          <p:nvPr/>
        </p:nvSpPr>
        <p:spPr>
          <a:xfrm>
            <a:off x="822960" y="4005072"/>
            <a:ext cx="237744" cy="237744"/>
          </a:xfrm>
          <a:prstGeom prst="rect">
            <a:avLst/>
          </a:prstGeom>
          <a:noFill/>
          <a:ln/>
        </p:spPr>
        <p:txBody>
          <a:bodyPr wrap="square" lIns="0" tIns="0" rIns="0" bIns="0" rtlCol="0" anchor="ctr"/>
          <a:lstStyle/>
          <a:p>
            <a:pPr algn="ctr" indent="0" marL="0">
              <a:buNone/>
            </a:pPr>
            <a:r>
              <a:rPr lang="en-US" sz="850" b="1" dirty="0">
                <a:solidFill>
                  <a:srgbClr val="22D3EE"/>
                </a:solidFill>
                <a:latin typeface="Courier New" pitchFamily="34" charset="0"/>
                <a:ea typeface="Courier New" pitchFamily="34" charset="-122"/>
                <a:cs typeface="Courier New" pitchFamily="34" charset="-120"/>
              </a:rPr>
              <a:t>7</a:t>
            </a:r>
            <a:endParaRPr lang="en-US" sz="850" dirty="0"/>
          </a:p>
        </p:txBody>
      </p:sp>
      <p:sp>
        <p:nvSpPr>
          <p:cNvPr id="32" name="Text 30"/>
          <p:cNvSpPr/>
          <p:nvPr/>
        </p:nvSpPr>
        <p:spPr>
          <a:xfrm>
            <a:off x="1188720" y="3950208"/>
            <a:ext cx="3840480" cy="347472"/>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Multi-objective reward</a:t>
            </a:r>
            <a:endParaRPr lang="en-US" sz="1200" dirty="0"/>
          </a:p>
        </p:txBody>
      </p:sp>
      <p:sp>
        <p:nvSpPr>
          <p:cNvPr id="33" name="Shape 31"/>
          <p:cNvSpPr/>
          <p:nvPr/>
        </p:nvSpPr>
        <p:spPr>
          <a:xfrm>
            <a:off x="932688" y="4242816"/>
            <a:ext cx="13716" cy="109728"/>
          </a:xfrm>
          <a:prstGeom prst="rect">
            <a:avLst/>
          </a:prstGeom>
          <a:solidFill>
            <a:srgbClr val="2B3E60"/>
          </a:solidFill>
          <a:ln w="12700">
            <a:solidFill>
              <a:srgbClr val="333333"/>
            </a:solidFill>
            <a:prstDash val="solid"/>
          </a:ln>
        </p:spPr>
      </p:sp>
      <p:sp>
        <p:nvSpPr>
          <p:cNvPr id="34" name="Shape 32"/>
          <p:cNvSpPr/>
          <p:nvPr/>
        </p:nvSpPr>
        <p:spPr>
          <a:xfrm>
            <a:off x="822960" y="4389120"/>
            <a:ext cx="237744" cy="237744"/>
          </a:xfrm>
          <a:prstGeom prst="ellipse">
            <a:avLst/>
          </a:prstGeom>
          <a:solidFill>
            <a:srgbClr val="1B2B49"/>
          </a:solidFill>
          <a:ln w="12700">
            <a:solidFill>
              <a:srgbClr val="2B3E60"/>
            </a:solidFill>
            <a:prstDash val="solid"/>
          </a:ln>
        </p:spPr>
      </p:sp>
      <p:sp>
        <p:nvSpPr>
          <p:cNvPr id="35" name="Text 33"/>
          <p:cNvSpPr/>
          <p:nvPr/>
        </p:nvSpPr>
        <p:spPr>
          <a:xfrm>
            <a:off x="822960" y="4389120"/>
            <a:ext cx="237744" cy="237744"/>
          </a:xfrm>
          <a:prstGeom prst="rect">
            <a:avLst/>
          </a:prstGeom>
          <a:noFill/>
          <a:ln/>
        </p:spPr>
        <p:txBody>
          <a:bodyPr wrap="square" lIns="0" tIns="0" rIns="0" bIns="0" rtlCol="0" anchor="ctr"/>
          <a:lstStyle/>
          <a:p>
            <a:pPr algn="ctr" indent="0" marL="0">
              <a:buNone/>
            </a:pPr>
            <a:r>
              <a:rPr lang="en-US" sz="850" b="1" dirty="0">
                <a:solidFill>
                  <a:srgbClr val="6E86A8"/>
                </a:solidFill>
                <a:latin typeface="Courier New" pitchFamily="34" charset="0"/>
                <a:ea typeface="Courier New" pitchFamily="34" charset="-122"/>
                <a:cs typeface="Courier New" pitchFamily="34" charset="-120"/>
              </a:rPr>
              <a:t>8</a:t>
            </a:r>
            <a:endParaRPr lang="en-US" sz="850" dirty="0"/>
          </a:p>
        </p:txBody>
      </p:sp>
      <p:sp>
        <p:nvSpPr>
          <p:cNvPr id="36" name="Text 34"/>
          <p:cNvSpPr/>
          <p:nvPr/>
        </p:nvSpPr>
        <p:spPr>
          <a:xfrm>
            <a:off x="1188720" y="4334256"/>
            <a:ext cx="384048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Next state observed</a:t>
            </a:r>
            <a:endParaRPr lang="en-US" sz="1200" dirty="0"/>
          </a:p>
        </p:txBody>
      </p:sp>
      <p:sp>
        <p:nvSpPr>
          <p:cNvPr id="37" name="Shape 35"/>
          <p:cNvSpPr/>
          <p:nvPr/>
        </p:nvSpPr>
        <p:spPr>
          <a:xfrm>
            <a:off x="932688" y="4626864"/>
            <a:ext cx="13716" cy="109728"/>
          </a:xfrm>
          <a:prstGeom prst="rect">
            <a:avLst/>
          </a:prstGeom>
          <a:solidFill>
            <a:srgbClr val="2B3E60"/>
          </a:solidFill>
          <a:ln w="12700">
            <a:solidFill>
              <a:srgbClr val="333333"/>
            </a:solidFill>
            <a:prstDash val="solid"/>
          </a:ln>
        </p:spPr>
      </p:sp>
      <p:sp>
        <p:nvSpPr>
          <p:cNvPr id="38" name="Shape 36"/>
          <p:cNvSpPr/>
          <p:nvPr/>
        </p:nvSpPr>
        <p:spPr>
          <a:xfrm>
            <a:off x="822960" y="4773168"/>
            <a:ext cx="237744" cy="237744"/>
          </a:xfrm>
          <a:prstGeom prst="ellipse">
            <a:avLst/>
          </a:prstGeom>
          <a:solidFill>
            <a:srgbClr val="0C3A4A"/>
          </a:solidFill>
          <a:ln w="12700">
            <a:solidFill>
              <a:srgbClr val="22D3EE"/>
            </a:solidFill>
            <a:prstDash val="solid"/>
          </a:ln>
        </p:spPr>
      </p:sp>
      <p:sp>
        <p:nvSpPr>
          <p:cNvPr id="39" name="Text 37"/>
          <p:cNvSpPr/>
          <p:nvPr/>
        </p:nvSpPr>
        <p:spPr>
          <a:xfrm>
            <a:off x="822960" y="4773168"/>
            <a:ext cx="237744" cy="237744"/>
          </a:xfrm>
          <a:prstGeom prst="rect">
            <a:avLst/>
          </a:prstGeom>
          <a:noFill/>
          <a:ln/>
        </p:spPr>
        <p:txBody>
          <a:bodyPr wrap="square" lIns="0" tIns="0" rIns="0" bIns="0" rtlCol="0" anchor="ctr"/>
          <a:lstStyle/>
          <a:p>
            <a:pPr algn="ctr" indent="0" marL="0">
              <a:buNone/>
            </a:pPr>
            <a:r>
              <a:rPr lang="en-US" sz="850" b="1" dirty="0">
                <a:solidFill>
                  <a:srgbClr val="22D3EE"/>
                </a:solidFill>
                <a:latin typeface="Courier New" pitchFamily="34" charset="0"/>
                <a:ea typeface="Courier New" pitchFamily="34" charset="-122"/>
                <a:cs typeface="Courier New" pitchFamily="34" charset="-120"/>
              </a:rPr>
              <a:t>9</a:t>
            </a:r>
            <a:endParaRPr lang="en-US" sz="850" dirty="0"/>
          </a:p>
        </p:txBody>
      </p:sp>
      <p:sp>
        <p:nvSpPr>
          <p:cNvPr id="40" name="Text 38"/>
          <p:cNvSpPr/>
          <p:nvPr/>
        </p:nvSpPr>
        <p:spPr>
          <a:xfrm>
            <a:off x="1188720" y="4718304"/>
            <a:ext cx="3840480" cy="347472"/>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Replay memory · DQN update</a:t>
            </a:r>
            <a:endParaRPr lang="en-US" sz="1200" dirty="0"/>
          </a:p>
        </p:txBody>
      </p:sp>
      <p:sp>
        <p:nvSpPr>
          <p:cNvPr id="41" name="Shape 39"/>
          <p:cNvSpPr/>
          <p:nvPr/>
        </p:nvSpPr>
        <p:spPr>
          <a:xfrm>
            <a:off x="932688" y="5010912"/>
            <a:ext cx="13716" cy="109728"/>
          </a:xfrm>
          <a:prstGeom prst="rect">
            <a:avLst/>
          </a:prstGeom>
          <a:solidFill>
            <a:srgbClr val="2B3E60"/>
          </a:solidFill>
          <a:ln w="12700">
            <a:solidFill>
              <a:srgbClr val="333333"/>
            </a:solidFill>
            <a:prstDash val="solid"/>
          </a:ln>
        </p:spPr>
      </p:sp>
      <p:sp>
        <p:nvSpPr>
          <p:cNvPr id="42" name="Shape 40"/>
          <p:cNvSpPr/>
          <p:nvPr/>
        </p:nvSpPr>
        <p:spPr>
          <a:xfrm>
            <a:off x="822960" y="5157216"/>
            <a:ext cx="237744" cy="237744"/>
          </a:xfrm>
          <a:prstGeom prst="ellipse">
            <a:avLst/>
          </a:prstGeom>
          <a:solidFill>
            <a:srgbClr val="1B2B49"/>
          </a:solidFill>
          <a:ln w="12700">
            <a:solidFill>
              <a:srgbClr val="2B3E60"/>
            </a:solidFill>
            <a:prstDash val="solid"/>
          </a:ln>
        </p:spPr>
      </p:sp>
      <p:sp>
        <p:nvSpPr>
          <p:cNvPr id="43" name="Text 41"/>
          <p:cNvSpPr/>
          <p:nvPr/>
        </p:nvSpPr>
        <p:spPr>
          <a:xfrm>
            <a:off x="822960" y="5157216"/>
            <a:ext cx="237744" cy="237744"/>
          </a:xfrm>
          <a:prstGeom prst="rect">
            <a:avLst/>
          </a:prstGeom>
          <a:noFill/>
          <a:ln/>
        </p:spPr>
        <p:txBody>
          <a:bodyPr wrap="square" lIns="0" tIns="0" rIns="0" bIns="0" rtlCol="0" anchor="ctr"/>
          <a:lstStyle/>
          <a:p>
            <a:pPr algn="ctr" indent="0" marL="0">
              <a:buNone/>
            </a:pPr>
            <a:r>
              <a:rPr lang="en-US" sz="850" b="1" dirty="0">
                <a:solidFill>
                  <a:srgbClr val="6E86A8"/>
                </a:solidFill>
                <a:latin typeface="Courier New" pitchFamily="34" charset="0"/>
                <a:ea typeface="Courier New" pitchFamily="34" charset="-122"/>
                <a:cs typeface="Courier New" pitchFamily="34" charset="-120"/>
              </a:rPr>
              <a:t>10</a:t>
            </a:r>
            <a:endParaRPr lang="en-US" sz="850" dirty="0"/>
          </a:p>
        </p:txBody>
      </p:sp>
      <p:sp>
        <p:nvSpPr>
          <p:cNvPr id="44" name="Text 42"/>
          <p:cNvSpPr/>
          <p:nvPr/>
        </p:nvSpPr>
        <p:spPr>
          <a:xfrm>
            <a:off x="1188720" y="5102352"/>
            <a:ext cx="384048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Repeat</a:t>
            </a:r>
            <a:endParaRPr lang="en-US" sz="1200" dirty="0"/>
          </a:p>
        </p:txBody>
      </p:sp>
      <p:sp>
        <p:nvSpPr>
          <p:cNvPr id="45" name="Text 43"/>
          <p:cNvSpPr/>
          <p:nvPr/>
        </p:nvSpPr>
        <p:spPr>
          <a:xfrm>
            <a:off x="822960" y="5449824"/>
            <a:ext cx="4206240" cy="365760"/>
          </a:xfrm>
          <a:prstGeom prst="rect">
            <a:avLst/>
          </a:prstGeom>
          <a:noFill/>
          <a:ln/>
        </p:spPr>
        <p:txBody>
          <a:bodyPr wrap="square" lIns="0" tIns="0" rIns="0" bIns="0" rtlCol="0" anchor="t"/>
          <a:lstStyle/>
          <a:p>
            <a:pPr indent="0" marL="0">
              <a:lnSpc>
                <a:spcPct val="100000"/>
              </a:lnSpc>
              <a:buNone/>
            </a:pPr>
            <a:r>
              <a:rPr lang="en-US" sz="950" dirty="0">
                <a:solidFill>
                  <a:srgbClr val="6E86A8"/>
                </a:solidFill>
                <a:latin typeface="Calibri" pitchFamily="34" charset="0"/>
                <a:ea typeface="Calibri" pitchFamily="34" charset="-122"/>
                <a:cs typeface="Calibri" pitchFamily="34" charset="-120"/>
              </a:rPr>
              <a:t>Exploration vs exploitation governs action selection during training; experiences are sampled from replay memory to update the network.</a:t>
            </a:r>
            <a:endParaRPr lang="en-US" sz="950" dirty="0"/>
          </a:p>
        </p:txBody>
      </p:sp>
      <p:sp>
        <p:nvSpPr>
          <p:cNvPr id="46" name="Text 44"/>
          <p:cNvSpPr/>
          <p:nvPr/>
        </p:nvSpPr>
        <p:spPr>
          <a:xfrm>
            <a:off x="5532120" y="1152144"/>
            <a:ext cx="4206240" cy="219456"/>
          </a:xfrm>
          <a:prstGeom prst="rect">
            <a:avLst/>
          </a:prstGeom>
          <a:noFill/>
          <a:ln/>
        </p:spPr>
        <p:txBody>
          <a:bodyPr wrap="square" lIns="0" tIns="0" rIns="0" bIns="0" rtlCol="0" anchor="ctr"/>
          <a:lstStyle/>
          <a:p>
            <a:pPr indent="0" marL="0">
              <a:buNone/>
            </a:pPr>
            <a:r>
              <a:rPr lang="en-US" sz="1000" b="1" spc="160" kern="0" dirty="0">
                <a:solidFill>
                  <a:srgbClr val="22D3EE"/>
                </a:solidFill>
                <a:latin typeface="Arial" pitchFamily="34" charset="0"/>
                <a:ea typeface="Arial" pitchFamily="34" charset="-122"/>
                <a:cs typeface="Arial" pitchFamily="34" charset="-120"/>
              </a:rPr>
              <a:t>B  ·  EVALUATION METRICS</a:t>
            </a:r>
            <a:endParaRPr lang="en-US" sz="1000" dirty="0"/>
          </a:p>
        </p:txBody>
      </p:sp>
      <p:sp>
        <p:nvSpPr>
          <p:cNvPr id="47" name="Shape 45"/>
          <p:cNvSpPr/>
          <p:nvPr/>
        </p:nvSpPr>
        <p:spPr>
          <a:xfrm>
            <a:off x="5532120" y="1444752"/>
            <a:ext cx="2926080" cy="1965960"/>
          </a:xfrm>
          <a:prstGeom prst="roundRect">
            <a:avLst>
              <a:gd name="adj" fmla="val 4651"/>
            </a:avLst>
          </a:prstGeom>
          <a:solidFill>
            <a:srgbClr val="15223C"/>
          </a:solidFill>
          <a:ln w="12700">
            <a:solidFill>
              <a:srgbClr val="2B3E60"/>
            </a:solidFill>
            <a:prstDash val="solid"/>
          </a:ln>
        </p:spPr>
      </p:sp>
      <p:sp>
        <p:nvSpPr>
          <p:cNvPr id="48" name="Shape 46"/>
          <p:cNvSpPr/>
          <p:nvPr/>
        </p:nvSpPr>
        <p:spPr>
          <a:xfrm>
            <a:off x="5751576" y="1664208"/>
            <a:ext cx="457200" cy="457200"/>
          </a:xfrm>
          <a:prstGeom prst="ellipse">
            <a:avLst/>
          </a:prstGeom>
          <a:solidFill>
            <a:srgbClr val="132B4D"/>
          </a:solidFill>
          <a:ln w="12700">
            <a:solidFill>
              <a:srgbClr val="4D9BFF"/>
            </a:solidFill>
            <a:prstDash val="solid"/>
          </a:ln>
        </p:spPr>
      </p:sp>
      <p:pic>
        <p:nvPicPr>
          <p:cNvPr id="49" name="Image 0" descr="preencoded.png">    </p:cNvPr>
          <p:cNvPicPr>
            <a:picLocks noChangeAspect="1"/>
          </p:cNvPicPr>
          <p:nvPr/>
        </p:nvPicPr>
        <p:blipFill>
          <a:blip r:embed="rId1"/>
          <a:stretch>
            <a:fillRect/>
          </a:stretch>
        </p:blipFill>
        <p:spPr>
          <a:xfrm>
            <a:off x="5875020" y="1787652"/>
            <a:ext cx="210312" cy="210312"/>
          </a:xfrm>
          <a:prstGeom prst="rect">
            <a:avLst/>
          </a:prstGeom>
        </p:spPr>
      </p:pic>
      <p:sp>
        <p:nvSpPr>
          <p:cNvPr id="50" name="Text 47"/>
          <p:cNvSpPr/>
          <p:nvPr/>
        </p:nvSpPr>
        <p:spPr>
          <a:xfrm>
            <a:off x="5751576" y="2157984"/>
            <a:ext cx="2514600" cy="274320"/>
          </a:xfrm>
          <a:prstGeom prst="rect">
            <a:avLst/>
          </a:prstGeom>
          <a:noFill/>
          <a:ln/>
        </p:spPr>
        <p:txBody>
          <a:bodyPr wrap="square" lIns="0" tIns="0" rIns="0" bIns="0" rtlCol="0" anchor="ctr"/>
          <a:lstStyle/>
          <a:p>
            <a:pPr indent="0" marL="0">
              <a:buNone/>
            </a:pPr>
            <a:r>
              <a:rPr lang="en-US" sz="1300" b="1" dirty="0">
                <a:solidFill>
                  <a:srgbClr val="4D9BFF"/>
                </a:solidFill>
                <a:latin typeface="Arial" pitchFamily="34" charset="0"/>
                <a:ea typeface="Arial" pitchFamily="34" charset="-122"/>
                <a:cs typeface="Arial" pitchFamily="34" charset="-120"/>
              </a:rPr>
              <a:t>Traffic Efficiency</a:t>
            </a:r>
            <a:endParaRPr lang="en-US" sz="1300" dirty="0"/>
          </a:p>
        </p:txBody>
      </p:sp>
      <p:sp>
        <p:nvSpPr>
          <p:cNvPr id="51" name="Text 48"/>
          <p:cNvSpPr/>
          <p:nvPr/>
        </p:nvSpPr>
        <p:spPr>
          <a:xfrm>
            <a:off x="5769864" y="2468880"/>
            <a:ext cx="2514600" cy="8686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Average waiting time</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Average queue length</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Vehicle throughput</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Average travel time</a:t>
            </a:r>
            <a:endParaRPr lang="en-US" sz="1050" dirty="0"/>
          </a:p>
        </p:txBody>
      </p:sp>
      <p:sp>
        <p:nvSpPr>
          <p:cNvPr id="52" name="Shape 49"/>
          <p:cNvSpPr/>
          <p:nvPr/>
        </p:nvSpPr>
        <p:spPr>
          <a:xfrm>
            <a:off x="8714232" y="1444752"/>
            <a:ext cx="2926080" cy="1965960"/>
          </a:xfrm>
          <a:prstGeom prst="roundRect">
            <a:avLst>
              <a:gd name="adj" fmla="val 4651"/>
            </a:avLst>
          </a:prstGeom>
          <a:solidFill>
            <a:srgbClr val="15223C"/>
          </a:solidFill>
          <a:ln w="12700">
            <a:solidFill>
              <a:srgbClr val="2B3E60"/>
            </a:solidFill>
            <a:prstDash val="solid"/>
          </a:ln>
        </p:spPr>
      </p:sp>
      <p:sp>
        <p:nvSpPr>
          <p:cNvPr id="53" name="Shape 50"/>
          <p:cNvSpPr/>
          <p:nvPr/>
        </p:nvSpPr>
        <p:spPr>
          <a:xfrm>
            <a:off x="8933688" y="1664208"/>
            <a:ext cx="457200" cy="457200"/>
          </a:xfrm>
          <a:prstGeom prst="ellipse">
            <a:avLst/>
          </a:prstGeom>
          <a:solidFill>
            <a:srgbClr val="10331F"/>
          </a:solidFill>
          <a:ln w="12700">
            <a:solidFill>
              <a:srgbClr val="2FD68C"/>
            </a:solidFill>
            <a:prstDash val="solid"/>
          </a:ln>
        </p:spPr>
      </p:sp>
      <p:pic>
        <p:nvPicPr>
          <p:cNvPr id="54" name="Image 1" descr="preencoded.png">    </p:cNvPr>
          <p:cNvPicPr>
            <a:picLocks noChangeAspect="1"/>
          </p:cNvPicPr>
          <p:nvPr/>
        </p:nvPicPr>
        <p:blipFill>
          <a:blip r:embed="rId2"/>
          <a:stretch>
            <a:fillRect/>
          </a:stretch>
        </p:blipFill>
        <p:spPr>
          <a:xfrm>
            <a:off x="9057132" y="1787652"/>
            <a:ext cx="210312" cy="210312"/>
          </a:xfrm>
          <a:prstGeom prst="rect">
            <a:avLst/>
          </a:prstGeom>
        </p:spPr>
      </p:pic>
      <p:sp>
        <p:nvSpPr>
          <p:cNvPr id="55" name="Text 51"/>
          <p:cNvSpPr/>
          <p:nvPr/>
        </p:nvSpPr>
        <p:spPr>
          <a:xfrm>
            <a:off x="8933688" y="2157984"/>
            <a:ext cx="2514600" cy="274320"/>
          </a:xfrm>
          <a:prstGeom prst="rect">
            <a:avLst/>
          </a:prstGeom>
          <a:noFill/>
          <a:ln/>
        </p:spPr>
        <p:txBody>
          <a:bodyPr wrap="square" lIns="0" tIns="0" rIns="0" bIns="0" rtlCol="0" anchor="ctr"/>
          <a:lstStyle/>
          <a:p>
            <a:pPr indent="0" marL="0">
              <a:buNone/>
            </a:pPr>
            <a:r>
              <a:rPr lang="en-US" sz="1300" b="1" dirty="0">
                <a:solidFill>
                  <a:srgbClr val="2FD68C"/>
                </a:solidFill>
                <a:latin typeface="Arial" pitchFamily="34" charset="0"/>
                <a:ea typeface="Arial" pitchFamily="34" charset="-122"/>
                <a:cs typeface="Arial" pitchFamily="34" charset="-120"/>
              </a:rPr>
              <a:t>Environmental</a:t>
            </a:r>
            <a:endParaRPr lang="en-US" sz="1300" dirty="0"/>
          </a:p>
        </p:txBody>
      </p:sp>
      <p:sp>
        <p:nvSpPr>
          <p:cNvPr id="56" name="Text 52"/>
          <p:cNvSpPr/>
          <p:nvPr/>
        </p:nvSpPr>
        <p:spPr>
          <a:xfrm>
            <a:off x="8951976" y="2468880"/>
            <a:ext cx="2514600" cy="8686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Estimated fuel consumption</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CO₂ and other emissions</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Number of unnecessary stops</a:t>
            </a:r>
            <a:endParaRPr lang="en-US" sz="1050" dirty="0"/>
          </a:p>
        </p:txBody>
      </p:sp>
      <p:sp>
        <p:nvSpPr>
          <p:cNvPr id="57" name="Shape 53"/>
          <p:cNvSpPr/>
          <p:nvPr/>
        </p:nvSpPr>
        <p:spPr>
          <a:xfrm>
            <a:off x="5532120" y="3593592"/>
            <a:ext cx="2926080" cy="1965960"/>
          </a:xfrm>
          <a:prstGeom prst="roundRect">
            <a:avLst>
              <a:gd name="adj" fmla="val 4651"/>
            </a:avLst>
          </a:prstGeom>
          <a:solidFill>
            <a:srgbClr val="15223C"/>
          </a:solidFill>
          <a:ln w="12700">
            <a:solidFill>
              <a:srgbClr val="2B3E60"/>
            </a:solidFill>
            <a:prstDash val="solid"/>
          </a:ln>
        </p:spPr>
      </p:sp>
      <p:sp>
        <p:nvSpPr>
          <p:cNvPr id="58" name="Shape 54"/>
          <p:cNvSpPr/>
          <p:nvPr/>
        </p:nvSpPr>
        <p:spPr>
          <a:xfrm>
            <a:off x="5751576" y="3813048"/>
            <a:ext cx="457200" cy="457200"/>
          </a:xfrm>
          <a:prstGeom prst="ellipse">
            <a:avLst/>
          </a:prstGeom>
          <a:solidFill>
            <a:srgbClr val="3A2113"/>
          </a:solidFill>
          <a:ln w="12700">
            <a:solidFill>
              <a:srgbClr val="FF7A3D"/>
            </a:solidFill>
            <a:prstDash val="solid"/>
          </a:ln>
        </p:spPr>
      </p:sp>
      <p:pic>
        <p:nvPicPr>
          <p:cNvPr id="59" name="Image 2" descr="preencoded.png">    </p:cNvPr>
          <p:cNvPicPr>
            <a:picLocks noChangeAspect="1"/>
          </p:cNvPicPr>
          <p:nvPr/>
        </p:nvPicPr>
        <p:blipFill>
          <a:blip r:embed="rId3"/>
          <a:stretch>
            <a:fillRect/>
          </a:stretch>
        </p:blipFill>
        <p:spPr>
          <a:xfrm>
            <a:off x="5875020" y="3936492"/>
            <a:ext cx="210312" cy="210312"/>
          </a:xfrm>
          <a:prstGeom prst="rect">
            <a:avLst/>
          </a:prstGeom>
        </p:spPr>
      </p:pic>
      <p:sp>
        <p:nvSpPr>
          <p:cNvPr id="60" name="Text 55"/>
          <p:cNvSpPr/>
          <p:nvPr/>
        </p:nvSpPr>
        <p:spPr>
          <a:xfrm>
            <a:off x="5751576" y="4306824"/>
            <a:ext cx="2514600" cy="274320"/>
          </a:xfrm>
          <a:prstGeom prst="rect">
            <a:avLst/>
          </a:prstGeom>
          <a:noFill/>
          <a:ln/>
        </p:spPr>
        <p:txBody>
          <a:bodyPr wrap="square" lIns="0" tIns="0" rIns="0" bIns="0" rtlCol="0" anchor="ctr"/>
          <a:lstStyle/>
          <a:p>
            <a:pPr indent="0" marL="0">
              <a:buNone/>
            </a:pPr>
            <a:r>
              <a:rPr lang="en-US" sz="1300" b="1" dirty="0">
                <a:solidFill>
                  <a:srgbClr val="FF7A3D"/>
                </a:solidFill>
                <a:latin typeface="Arial" pitchFamily="34" charset="0"/>
                <a:ea typeface="Arial" pitchFamily="34" charset="-122"/>
                <a:cs typeface="Arial" pitchFamily="34" charset="-120"/>
              </a:rPr>
              <a:t>Emergency Response</a:t>
            </a:r>
            <a:endParaRPr lang="en-US" sz="1300" dirty="0"/>
          </a:p>
        </p:txBody>
      </p:sp>
      <p:sp>
        <p:nvSpPr>
          <p:cNvPr id="61" name="Text 56"/>
          <p:cNvSpPr/>
          <p:nvPr/>
        </p:nvSpPr>
        <p:spPr>
          <a:xfrm>
            <a:off x="5769864" y="4617720"/>
            <a:ext cx="2514600" cy="8686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Emergency waiting time</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Emergency travel time</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Emergency vehicle delay</a:t>
            </a:r>
            <a:endParaRPr lang="en-US" sz="1050" dirty="0"/>
          </a:p>
        </p:txBody>
      </p:sp>
      <p:sp>
        <p:nvSpPr>
          <p:cNvPr id="62" name="Shape 57"/>
          <p:cNvSpPr/>
          <p:nvPr/>
        </p:nvSpPr>
        <p:spPr>
          <a:xfrm>
            <a:off x="8714232" y="3593592"/>
            <a:ext cx="2926080" cy="1965960"/>
          </a:xfrm>
          <a:prstGeom prst="roundRect">
            <a:avLst>
              <a:gd name="adj" fmla="val 4651"/>
            </a:avLst>
          </a:prstGeom>
          <a:solidFill>
            <a:srgbClr val="15223C"/>
          </a:solidFill>
          <a:ln w="12700">
            <a:solidFill>
              <a:srgbClr val="2B3E60"/>
            </a:solidFill>
            <a:prstDash val="solid"/>
          </a:ln>
        </p:spPr>
      </p:sp>
      <p:sp>
        <p:nvSpPr>
          <p:cNvPr id="63" name="Shape 58"/>
          <p:cNvSpPr/>
          <p:nvPr/>
        </p:nvSpPr>
        <p:spPr>
          <a:xfrm>
            <a:off x="8933688" y="3813048"/>
            <a:ext cx="457200" cy="457200"/>
          </a:xfrm>
          <a:prstGeom prst="ellipse">
            <a:avLst/>
          </a:prstGeom>
          <a:solidFill>
            <a:srgbClr val="2A2013"/>
          </a:solidFill>
          <a:ln w="12700">
            <a:solidFill>
              <a:srgbClr val="F5B041"/>
            </a:solidFill>
            <a:prstDash val="solid"/>
          </a:ln>
        </p:spPr>
      </p:sp>
      <p:pic>
        <p:nvPicPr>
          <p:cNvPr id="64" name="Image 3" descr="preencoded.png">    </p:cNvPr>
          <p:cNvPicPr>
            <a:picLocks noChangeAspect="1"/>
          </p:cNvPicPr>
          <p:nvPr/>
        </p:nvPicPr>
        <p:blipFill>
          <a:blip r:embed="rId4"/>
          <a:stretch>
            <a:fillRect/>
          </a:stretch>
        </p:blipFill>
        <p:spPr>
          <a:xfrm>
            <a:off x="9057132" y="3936492"/>
            <a:ext cx="210312" cy="210312"/>
          </a:xfrm>
          <a:prstGeom prst="rect">
            <a:avLst/>
          </a:prstGeom>
        </p:spPr>
      </p:pic>
      <p:sp>
        <p:nvSpPr>
          <p:cNvPr id="65" name="Text 59"/>
          <p:cNvSpPr/>
          <p:nvPr/>
        </p:nvSpPr>
        <p:spPr>
          <a:xfrm>
            <a:off x="8933688" y="4306824"/>
            <a:ext cx="2514600" cy="274320"/>
          </a:xfrm>
          <a:prstGeom prst="rect">
            <a:avLst/>
          </a:prstGeom>
          <a:noFill/>
          <a:ln/>
        </p:spPr>
        <p:txBody>
          <a:bodyPr wrap="square" lIns="0" tIns="0" rIns="0" bIns="0" rtlCol="0" anchor="ctr"/>
          <a:lstStyle/>
          <a:p>
            <a:pPr indent="0" marL="0">
              <a:buNone/>
            </a:pPr>
            <a:r>
              <a:rPr lang="en-US" sz="1300" b="1" dirty="0">
                <a:solidFill>
                  <a:srgbClr val="F5B041"/>
                </a:solidFill>
                <a:latin typeface="Arial" pitchFamily="34" charset="0"/>
                <a:ea typeface="Arial" pitchFamily="34" charset="-122"/>
                <a:cs typeface="Arial" pitchFamily="34" charset="-120"/>
              </a:rPr>
              <a:t>Safety / Violations</a:t>
            </a:r>
            <a:endParaRPr lang="en-US" sz="1300" dirty="0"/>
          </a:p>
        </p:txBody>
      </p:sp>
      <p:sp>
        <p:nvSpPr>
          <p:cNvPr id="66" name="Text 60"/>
          <p:cNvSpPr/>
          <p:nvPr/>
        </p:nvSpPr>
        <p:spPr>
          <a:xfrm>
            <a:off x="8951976" y="4617720"/>
            <a:ext cx="2514600" cy="86868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Detected red-light violations</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Other detected violations</a:t>
            </a:r>
            <a:endParaRPr lang="en-US" sz="1050" dirty="0"/>
          </a:p>
          <a:p>
            <a:pPr marL="342900" indent="-342900">
              <a:lnSpc>
                <a:spcPct val="100000"/>
              </a:lnSpc>
              <a:spcAft>
                <a:spcPts val="300"/>
              </a:spcAft>
              <a:buSzPct val="100000"/>
              <a:buChar char="•"/>
            </a:pPr>
            <a:r>
              <a:rPr lang="en-US" sz="1050" dirty="0">
                <a:solidFill>
                  <a:srgbClr val="9DB2CE"/>
                </a:solidFill>
                <a:latin typeface="Calibri" pitchFamily="34" charset="0"/>
                <a:ea typeface="Calibri" pitchFamily="34" charset="-122"/>
                <a:cs typeface="Calibri" pitchFamily="34" charset="-120"/>
              </a:rPr>
              <a:t>Unsafe signal transitions</a:t>
            </a:r>
            <a:endParaRPr lang="en-US" sz="1050" dirty="0"/>
          </a:p>
        </p:txBody>
      </p:sp>
      <p:sp>
        <p:nvSpPr>
          <p:cNvPr id="67" name="Shape 61"/>
          <p:cNvSpPr/>
          <p:nvPr/>
        </p:nvSpPr>
        <p:spPr>
          <a:xfrm>
            <a:off x="5532120" y="5559552"/>
            <a:ext cx="6108192" cy="292608"/>
          </a:xfrm>
          <a:prstGeom prst="roundRect">
            <a:avLst>
              <a:gd name="adj" fmla="val 31250"/>
            </a:avLst>
          </a:prstGeom>
          <a:solidFill>
            <a:srgbClr val="0D1730"/>
          </a:solidFill>
          <a:ln w="12700">
            <a:solidFill>
              <a:srgbClr val="2B3E60"/>
            </a:solidFill>
            <a:prstDash val="solid"/>
          </a:ln>
        </p:spPr>
      </p:sp>
      <p:sp>
        <p:nvSpPr>
          <p:cNvPr id="68" name="Text 62"/>
          <p:cNvSpPr/>
          <p:nvPr/>
        </p:nvSpPr>
        <p:spPr>
          <a:xfrm>
            <a:off x="5669280" y="5559552"/>
            <a:ext cx="5852160" cy="292608"/>
          </a:xfrm>
          <a:prstGeom prst="rect">
            <a:avLst/>
          </a:prstGeom>
          <a:noFill/>
          <a:ln/>
        </p:spPr>
        <p:txBody>
          <a:bodyPr wrap="square" lIns="0" tIns="0" rIns="0" bIns="0" rtlCol="0" anchor="ctr"/>
          <a:lstStyle/>
          <a:p>
            <a:pPr indent="0" marL="0">
              <a:buNone/>
            </a:pPr>
            <a:r>
              <a:rPr lang="en-US" sz="1050" i="1" dirty="0">
                <a:solidFill>
                  <a:srgbClr val="F5B041"/>
                </a:solidFill>
                <a:latin typeface="Calibri" pitchFamily="34" charset="0"/>
                <a:ea typeface="Calibri" pitchFamily="34" charset="-122"/>
                <a:cs typeface="Calibri" pitchFamily="34" charset="-120"/>
              </a:rPr>
              <a:t>Baseline for every metric: a conventional fixed-time / rule-based controller — all values to be measured.</a:t>
            </a:r>
            <a:endParaRPr lang="en-US" sz="1050" dirty="0"/>
          </a:p>
        </p:txBody>
      </p:sp>
      <p:sp>
        <p:nvSpPr>
          <p:cNvPr id="70" name="Text 63"/>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Team</a:t>
            </a:r>
            <a:endParaRPr lang="en-US" sz="950" dirty="0"/>
          </a:p>
        </p:txBody>
      </p:sp>
      <p:sp>
        <p:nvSpPr>
          <p:cNvPr id="71" name="Text 64"/>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2D3EE"/>
                </a:solidFill>
                <a:latin typeface="Calibri" pitchFamily="34" charset="0"/>
                <a:ea typeface="Calibri" pitchFamily="34" charset="-122"/>
                <a:cs typeface="Calibri" pitchFamily="34" charset="-120"/>
              </a:rPr>
              <a:t>21 / 22</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6"/>
        </a:solidFill>
      </p:bgPr>
    </p:bg>
    <p:spTree>
      <p:nvGrpSpPr>
        <p:cNvPr id="1" name=""/>
        <p:cNvGrpSpPr/>
        <p:nvPr/>
      </p:nvGrpSpPr>
      <p:grpSpPr>
        <a:xfrm>
          <a:off x="0" y="0"/>
          <a:ext cx="0" cy="0"/>
          <a:chOff x="0" y="0"/>
          <a:chExt cx="0" cy="0"/>
        </a:xfrm>
      </p:grpSpPr>
      <p:sp>
        <p:nvSpPr>
          <p:cNvPr id="2" name="Text 0"/>
          <p:cNvSpPr/>
          <p:nvPr/>
        </p:nvSpPr>
        <p:spPr>
          <a:xfrm>
            <a:off x="548640" y="292608"/>
            <a:ext cx="11155680" cy="256032"/>
          </a:xfrm>
          <a:prstGeom prst="rect">
            <a:avLst/>
          </a:prstGeom>
          <a:noFill/>
          <a:ln/>
        </p:spPr>
        <p:txBody>
          <a:bodyPr wrap="square" lIns="0" tIns="0" rIns="0" bIns="0" rtlCol="0" anchor="ctr"/>
          <a:lstStyle/>
          <a:p>
            <a:pPr indent="0" marL="0">
              <a:buNone/>
            </a:pPr>
            <a:r>
              <a:rPr lang="en-US" sz="1050" b="1" spc="200" kern="0" dirty="0">
                <a:solidFill>
                  <a:srgbClr val="22D3EE"/>
                </a:solidFill>
                <a:latin typeface="Arial" pitchFamily="34" charset="0"/>
                <a:ea typeface="Arial" pitchFamily="34" charset="-122"/>
                <a:cs typeface="Arial" pitchFamily="34" charset="-120"/>
              </a:rPr>
              <a:t>INNOVATION  ·  CHALLENGES  ·  CONCLUSION</a:t>
            </a:r>
            <a:endParaRPr lang="en-US" sz="1050" dirty="0"/>
          </a:p>
        </p:txBody>
      </p:sp>
      <p:sp>
        <p:nvSpPr>
          <p:cNvPr id="3" name="Text 1"/>
          <p:cNvSpPr/>
          <p:nvPr/>
        </p:nvSpPr>
        <p:spPr>
          <a:xfrm>
            <a:off x="548640" y="566928"/>
            <a:ext cx="1115568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Where This Goes Next</a:t>
            </a:r>
            <a:endParaRPr lang="en-US" sz="2800" dirty="0"/>
          </a:p>
        </p:txBody>
      </p:sp>
      <p:sp>
        <p:nvSpPr>
          <p:cNvPr id="4" name="Shape 2"/>
          <p:cNvSpPr/>
          <p:nvPr/>
        </p:nvSpPr>
        <p:spPr>
          <a:xfrm>
            <a:off x="548640" y="1115568"/>
            <a:ext cx="5486400" cy="2651760"/>
          </a:xfrm>
          <a:prstGeom prst="roundRect">
            <a:avLst>
              <a:gd name="adj" fmla="val 3448"/>
            </a:avLst>
          </a:prstGeom>
          <a:solidFill>
            <a:srgbClr val="15223C"/>
          </a:solidFill>
          <a:ln w="12700">
            <a:solidFill>
              <a:srgbClr val="22D3EE"/>
            </a:solidFill>
            <a:prstDash val="solid"/>
          </a:ln>
        </p:spPr>
      </p:sp>
      <p:sp>
        <p:nvSpPr>
          <p:cNvPr id="5" name="Shape 3"/>
          <p:cNvSpPr/>
          <p:nvPr/>
        </p:nvSpPr>
        <p:spPr>
          <a:xfrm>
            <a:off x="786384" y="1316736"/>
            <a:ext cx="475488" cy="475488"/>
          </a:xfrm>
          <a:prstGeom prst="ellipse">
            <a:avLst/>
          </a:prstGeom>
          <a:solidFill>
            <a:srgbClr val="0C3A4A"/>
          </a:solidFill>
          <a:ln w="12700">
            <a:solidFill>
              <a:srgbClr val="22D3EE"/>
            </a:solidFill>
            <a:prstDash val="solid"/>
          </a:ln>
        </p:spPr>
      </p:sp>
      <p:pic>
        <p:nvPicPr>
          <p:cNvPr id="6" name="Image 0" descr="preencoded.png">    </p:cNvPr>
          <p:cNvPicPr>
            <a:picLocks noChangeAspect="1"/>
          </p:cNvPicPr>
          <p:nvPr/>
        </p:nvPicPr>
        <p:blipFill>
          <a:blip r:embed="rId1"/>
          <a:stretch>
            <a:fillRect/>
          </a:stretch>
        </p:blipFill>
        <p:spPr>
          <a:xfrm>
            <a:off x="914766" y="1445118"/>
            <a:ext cx="218724" cy="218724"/>
          </a:xfrm>
          <a:prstGeom prst="rect">
            <a:avLst/>
          </a:prstGeom>
        </p:spPr>
      </p:pic>
      <p:sp>
        <p:nvSpPr>
          <p:cNvPr id="7" name="Text 4"/>
          <p:cNvSpPr/>
          <p:nvPr/>
        </p:nvSpPr>
        <p:spPr>
          <a:xfrm>
            <a:off x="1408176" y="1298448"/>
            <a:ext cx="4206240" cy="219456"/>
          </a:xfrm>
          <a:prstGeom prst="rect">
            <a:avLst/>
          </a:prstGeom>
          <a:noFill/>
          <a:ln/>
        </p:spPr>
        <p:txBody>
          <a:bodyPr wrap="square" lIns="0" tIns="0" rIns="0" bIns="0" rtlCol="0" anchor="ctr"/>
          <a:lstStyle/>
          <a:p>
            <a:pPr indent="0" marL="0">
              <a:buNone/>
            </a:pPr>
            <a:r>
              <a:rPr lang="en-US" sz="950" b="1" spc="160" kern="0" dirty="0">
                <a:solidFill>
                  <a:srgbClr val="22D3EE"/>
                </a:solidFill>
                <a:latin typeface="Arial" pitchFamily="34" charset="0"/>
                <a:ea typeface="Arial" pitchFamily="34" charset="-122"/>
                <a:cs typeface="Arial" pitchFamily="34" charset="-120"/>
              </a:rPr>
              <a:t>INNOVATION</a:t>
            </a:r>
            <a:endParaRPr lang="en-US" sz="950" dirty="0"/>
          </a:p>
        </p:txBody>
      </p:sp>
      <p:sp>
        <p:nvSpPr>
          <p:cNvPr id="8" name="Text 5"/>
          <p:cNvSpPr/>
          <p:nvPr/>
        </p:nvSpPr>
        <p:spPr>
          <a:xfrm>
            <a:off x="1408176" y="1517904"/>
            <a:ext cx="438912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Explainable + Multi-Objective DQN</a:t>
            </a:r>
            <a:endParaRPr lang="en-US" sz="1500" dirty="0"/>
          </a:p>
        </p:txBody>
      </p:sp>
      <p:sp>
        <p:nvSpPr>
          <p:cNvPr id="9" name="Text 6"/>
          <p:cNvSpPr/>
          <p:nvPr/>
        </p:nvSpPr>
        <p:spPr>
          <a:xfrm>
            <a:off x="822960" y="1901952"/>
            <a:ext cx="4983480" cy="777240"/>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One reward spanning congestion, fuel/emission, emergency priority and violation awareness</a:t>
            </a:r>
            <a:endParaRPr lang="en-US" sz="1150" dirty="0"/>
          </a:p>
          <a:p>
            <a:pPr marL="342900" indent="-342900">
              <a:lnSpc>
                <a:spcPct val="100000"/>
              </a:lnSpc>
              <a:spcAft>
                <a:spcPts val="300"/>
              </a:spcAft>
              <a:buSzPct val="100000"/>
              <a:buChar char="•"/>
            </a:pPr>
            <a:r>
              <a:rPr lang="en-US" sz="1150" dirty="0">
                <a:solidFill>
                  <a:srgbClr val="9DB2CE"/>
                </a:solidFill>
                <a:latin typeface="Calibri" pitchFamily="34" charset="0"/>
                <a:ea typeface="Calibri" pitchFamily="34" charset="-122"/>
                <a:cs typeface="Calibri" pitchFamily="34" charset="-120"/>
              </a:rPr>
              <a:t>Human-readable explanation for each major signal decision</a:t>
            </a:r>
            <a:endParaRPr lang="en-US" sz="1150" dirty="0"/>
          </a:p>
        </p:txBody>
      </p:sp>
      <p:sp>
        <p:nvSpPr>
          <p:cNvPr id="10" name="Shape 7"/>
          <p:cNvSpPr/>
          <p:nvPr/>
        </p:nvSpPr>
        <p:spPr>
          <a:xfrm>
            <a:off x="804672" y="2706624"/>
            <a:ext cx="4983480" cy="420624"/>
          </a:xfrm>
          <a:prstGeom prst="roundRect">
            <a:avLst>
              <a:gd name="adj" fmla="val 13043"/>
            </a:avLst>
          </a:prstGeom>
          <a:solidFill>
            <a:srgbClr val="0D1730"/>
          </a:solidFill>
          <a:ln w="12700">
            <a:solidFill>
              <a:srgbClr val="2B3E60"/>
            </a:solidFill>
            <a:prstDash val="solid"/>
          </a:ln>
        </p:spPr>
      </p:sp>
      <p:sp>
        <p:nvSpPr>
          <p:cNvPr id="11" name="Text 8"/>
          <p:cNvSpPr/>
          <p:nvPr/>
        </p:nvSpPr>
        <p:spPr>
          <a:xfrm>
            <a:off x="914400" y="2706624"/>
            <a:ext cx="4754880" cy="420624"/>
          </a:xfrm>
          <a:prstGeom prst="rect">
            <a:avLst/>
          </a:prstGeom>
          <a:noFill/>
          <a:ln/>
        </p:spPr>
        <p:txBody>
          <a:bodyPr wrap="square" lIns="0" tIns="0" rIns="0" bIns="0" rtlCol="0" anchor="ctr"/>
          <a:lstStyle/>
          <a:p>
            <a:pPr indent="0" marL="0">
              <a:lnSpc>
                <a:spcPct val="95000"/>
              </a:lnSpc>
              <a:buNone/>
            </a:pPr>
            <a:r>
              <a:rPr lang="en-US" sz="950" i="1" dirty="0">
                <a:solidFill>
                  <a:srgbClr val="22D3EE"/>
                </a:solidFill>
                <a:latin typeface="Calibri" pitchFamily="34" charset="0"/>
                <a:ea typeface="Calibri" pitchFamily="34" charset="-122"/>
                <a:cs typeface="Calibri" pitchFamily="34" charset="-120"/>
              </a:rPr>
              <a:t>“North–south green was extended because the queue length was significantly higher than east–west.”</a:t>
            </a:r>
            <a:endParaRPr lang="en-US" sz="950" dirty="0"/>
          </a:p>
        </p:txBody>
      </p:sp>
      <p:sp>
        <p:nvSpPr>
          <p:cNvPr id="12" name="Text 9"/>
          <p:cNvSpPr/>
          <p:nvPr/>
        </p:nvSpPr>
        <p:spPr>
          <a:xfrm>
            <a:off x="804672" y="3218688"/>
            <a:ext cx="4983480" cy="457200"/>
          </a:xfrm>
          <a:prstGeom prst="rect">
            <a:avLst/>
          </a:prstGeom>
          <a:noFill/>
          <a:ln/>
        </p:spPr>
        <p:txBody>
          <a:bodyPr wrap="square" lIns="0" tIns="0" rIns="0" bIns="0" rtlCol="0" anchor="t"/>
          <a:lstStyle/>
          <a:p>
            <a:pPr indent="0" marL="0">
              <a:buNone/>
            </a:pPr>
            <a:r>
              <a:rPr lang="en-US" sz="1050" dirty="0">
                <a:solidFill>
                  <a:srgbClr val="9DB2CE"/>
                </a:solidFill>
                <a:latin typeface="Calibri" pitchFamily="34" charset="0"/>
                <a:ea typeface="Calibri" pitchFamily="34" charset="-122"/>
                <a:cs typeface="Calibri" pitchFamily="34" charset="-120"/>
              </a:rPr>
              <a:t>Future extension:  Multi-Agent RL — one agent per intersection, coordinating across the network.</a:t>
            </a:r>
            <a:endParaRPr lang="en-US" sz="1050" dirty="0"/>
          </a:p>
        </p:txBody>
      </p:sp>
      <p:sp>
        <p:nvSpPr>
          <p:cNvPr id="13" name="Shape 10"/>
          <p:cNvSpPr/>
          <p:nvPr/>
        </p:nvSpPr>
        <p:spPr>
          <a:xfrm>
            <a:off x="6153912" y="1115568"/>
            <a:ext cx="5486400" cy="2651760"/>
          </a:xfrm>
          <a:prstGeom prst="roundRect">
            <a:avLst>
              <a:gd name="adj" fmla="val 3448"/>
            </a:avLst>
          </a:prstGeom>
          <a:solidFill>
            <a:srgbClr val="15223C"/>
          </a:solidFill>
          <a:ln w="12700">
            <a:solidFill>
              <a:srgbClr val="F5B041"/>
            </a:solidFill>
            <a:prstDash val="solid"/>
          </a:ln>
        </p:spPr>
      </p:sp>
      <p:sp>
        <p:nvSpPr>
          <p:cNvPr id="14" name="Shape 11"/>
          <p:cNvSpPr/>
          <p:nvPr/>
        </p:nvSpPr>
        <p:spPr>
          <a:xfrm>
            <a:off x="6391656" y="1316736"/>
            <a:ext cx="475488" cy="475488"/>
          </a:xfrm>
          <a:prstGeom prst="ellipse">
            <a:avLst/>
          </a:prstGeom>
          <a:solidFill>
            <a:srgbClr val="2A2013"/>
          </a:solidFill>
          <a:ln w="12700">
            <a:solidFill>
              <a:srgbClr val="F5B041"/>
            </a:solidFill>
            <a:prstDash val="solid"/>
          </a:ln>
        </p:spPr>
      </p:sp>
      <p:pic>
        <p:nvPicPr>
          <p:cNvPr id="15" name="Image 1" descr="preencoded.png">    </p:cNvPr>
          <p:cNvPicPr>
            <a:picLocks noChangeAspect="1"/>
          </p:cNvPicPr>
          <p:nvPr/>
        </p:nvPicPr>
        <p:blipFill>
          <a:blip r:embed="rId2"/>
          <a:stretch>
            <a:fillRect/>
          </a:stretch>
        </p:blipFill>
        <p:spPr>
          <a:xfrm>
            <a:off x="6520038" y="1445118"/>
            <a:ext cx="218724" cy="218724"/>
          </a:xfrm>
          <a:prstGeom prst="rect">
            <a:avLst/>
          </a:prstGeom>
        </p:spPr>
      </p:pic>
      <p:sp>
        <p:nvSpPr>
          <p:cNvPr id="16" name="Text 12"/>
          <p:cNvSpPr/>
          <p:nvPr/>
        </p:nvSpPr>
        <p:spPr>
          <a:xfrm>
            <a:off x="7013448" y="1298448"/>
            <a:ext cx="4389120" cy="219456"/>
          </a:xfrm>
          <a:prstGeom prst="rect">
            <a:avLst/>
          </a:prstGeom>
          <a:noFill/>
          <a:ln/>
        </p:spPr>
        <p:txBody>
          <a:bodyPr wrap="square" lIns="0" tIns="0" rIns="0" bIns="0" rtlCol="0" anchor="ctr"/>
          <a:lstStyle/>
          <a:p>
            <a:pPr indent="0" marL="0">
              <a:buNone/>
            </a:pPr>
            <a:r>
              <a:rPr lang="en-US" sz="950" b="1" spc="160" kern="0" dirty="0">
                <a:solidFill>
                  <a:srgbClr val="F5B041"/>
                </a:solidFill>
                <a:latin typeface="Arial" pitchFamily="34" charset="0"/>
                <a:ea typeface="Arial" pitchFamily="34" charset="-122"/>
                <a:cs typeface="Arial" pitchFamily="34" charset="-120"/>
              </a:rPr>
              <a:t>CHALLENGES &amp; LIMITATIONS</a:t>
            </a:r>
            <a:endParaRPr lang="en-US" sz="950" dirty="0"/>
          </a:p>
        </p:txBody>
      </p:sp>
      <p:sp>
        <p:nvSpPr>
          <p:cNvPr id="17" name="Text 13"/>
          <p:cNvSpPr/>
          <p:nvPr/>
        </p:nvSpPr>
        <p:spPr>
          <a:xfrm>
            <a:off x="7013448" y="1517904"/>
            <a:ext cx="438912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Known before we build</a:t>
            </a:r>
            <a:endParaRPr lang="en-US" sz="1500" dirty="0"/>
          </a:p>
        </p:txBody>
      </p:sp>
      <p:sp>
        <p:nvSpPr>
          <p:cNvPr id="18" name="Text 14"/>
          <p:cNvSpPr/>
          <p:nvPr/>
        </p:nvSpPr>
        <p:spPr>
          <a:xfrm>
            <a:off x="6409944" y="1920240"/>
            <a:ext cx="2560320" cy="1600200"/>
          </a:xfrm>
          <a:prstGeom prst="rect">
            <a:avLst/>
          </a:prstGeom>
          <a:noFill/>
          <a:ln/>
        </p:spPr>
        <p:txBody>
          <a:bodyPr wrap="square" lIns="0" tIns="0" rIns="0" bIns="0" rtlCol="0" anchor="t"/>
          <a:lstStyle/>
          <a:p>
            <a:pPr marL="342900" indent="-342900">
              <a:lnSpc>
                <a:spcPct val="100000"/>
              </a:lnSpc>
              <a:spcAft>
                <a:spcPts val="400"/>
              </a:spcAft>
              <a:buSzPct val="100000"/>
              <a:buChar char="•"/>
            </a:pPr>
            <a:r>
              <a:rPr lang="en-US" sz="1050" dirty="0">
                <a:solidFill>
                  <a:srgbClr val="9DB2CE"/>
                </a:solidFill>
                <a:latin typeface="Calibri" pitchFamily="34" charset="0"/>
                <a:ea typeface="Calibri" pitchFamily="34" charset="-122"/>
                <a:cs typeface="Calibri" pitchFamily="34" charset="-120"/>
              </a:rPr>
              <a:t>Reward design — weighting objectives</a:t>
            </a:r>
            <a:endParaRPr lang="en-US" sz="1050" dirty="0"/>
          </a:p>
          <a:p>
            <a:pPr marL="342900" indent="-342900">
              <a:lnSpc>
                <a:spcPct val="100000"/>
              </a:lnSpc>
              <a:spcAft>
                <a:spcPts val="400"/>
              </a:spcAft>
              <a:buSzPct val="100000"/>
              <a:buChar char="•"/>
            </a:pPr>
            <a:r>
              <a:rPr lang="en-US" sz="1050" dirty="0">
                <a:solidFill>
                  <a:srgbClr val="9DB2CE"/>
                </a:solidFill>
                <a:latin typeface="Calibri" pitchFamily="34" charset="0"/>
                <a:ea typeface="Calibri" pitchFamily="34" charset="-122"/>
                <a:cs typeface="Calibri" pitchFamily="34" charset="-120"/>
              </a:rPr>
              <a:t>Training time — many episodes</a:t>
            </a:r>
            <a:endParaRPr lang="en-US" sz="1050" dirty="0"/>
          </a:p>
          <a:p>
            <a:pPr marL="342900" indent="-342900">
              <a:lnSpc>
                <a:spcPct val="100000"/>
              </a:lnSpc>
              <a:spcAft>
                <a:spcPts val="400"/>
              </a:spcAft>
              <a:buSzPct val="100000"/>
              <a:buChar char="•"/>
            </a:pPr>
            <a:r>
              <a:rPr lang="en-US" sz="1050" dirty="0">
                <a:solidFill>
                  <a:srgbClr val="9DB2CE"/>
                </a:solidFill>
                <a:latin typeface="Calibri" pitchFamily="34" charset="0"/>
                <a:ea typeface="Calibri" pitchFamily="34" charset="-122"/>
                <a:cs typeface="Calibri" pitchFamily="34" charset="-120"/>
              </a:rPr>
              <a:t>Exploration risk during training</a:t>
            </a:r>
            <a:endParaRPr lang="en-US" sz="1050" dirty="0"/>
          </a:p>
          <a:p>
            <a:pPr marL="342900" indent="-342900">
              <a:lnSpc>
                <a:spcPct val="100000"/>
              </a:lnSpc>
              <a:spcAft>
                <a:spcPts val="400"/>
              </a:spcAft>
              <a:buSzPct val="100000"/>
              <a:buChar char="•"/>
            </a:pPr>
            <a:r>
              <a:rPr lang="en-US" sz="1050" dirty="0">
                <a:solidFill>
                  <a:srgbClr val="9DB2CE"/>
                </a:solidFill>
                <a:latin typeface="Calibri" pitchFamily="34" charset="0"/>
                <a:ea typeface="Calibri" pitchFamily="34" charset="-122"/>
                <a:cs typeface="Calibri" pitchFamily="34" charset="-120"/>
              </a:rPr>
              <a:t>Generalization across intersections</a:t>
            </a:r>
            <a:endParaRPr lang="en-US" sz="1050" dirty="0"/>
          </a:p>
        </p:txBody>
      </p:sp>
      <p:sp>
        <p:nvSpPr>
          <p:cNvPr id="19" name="Text 15"/>
          <p:cNvSpPr/>
          <p:nvPr/>
        </p:nvSpPr>
        <p:spPr>
          <a:xfrm>
            <a:off x="9189720" y="1920240"/>
            <a:ext cx="2331720" cy="1600200"/>
          </a:xfrm>
          <a:prstGeom prst="rect">
            <a:avLst/>
          </a:prstGeom>
          <a:noFill/>
          <a:ln/>
        </p:spPr>
        <p:txBody>
          <a:bodyPr wrap="square" lIns="0" tIns="0" rIns="0" bIns="0" rtlCol="0" anchor="t"/>
          <a:lstStyle/>
          <a:p>
            <a:pPr marL="342900" indent="-342900">
              <a:lnSpc>
                <a:spcPct val="100000"/>
              </a:lnSpc>
              <a:spcAft>
                <a:spcPts val="400"/>
              </a:spcAft>
              <a:buSzPct val="100000"/>
              <a:buChar char="•"/>
            </a:pPr>
            <a:r>
              <a:rPr lang="en-US" sz="1050" dirty="0">
                <a:solidFill>
                  <a:srgbClr val="9DB2CE"/>
                </a:solidFill>
                <a:latin typeface="Calibri" pitchFamily="34" charset="0"/>
                <a:ea typeface="Calibri" pitchFamily="34" charset="-122"/>
                <a:cs typeface="Calibri" pitchFamily="34" charset="-120"/>
              </a:rPr>
              <a:t>Emergency-priority trade-off</a:t>
            </a:r>
            <a:endParaRPr lang="en-US" sz="1050" dirty="0"/>
          </a:p>
          <a:p>
            <a:pPr marL="342900" indent="-342900">
              <a:lnSpc>
                <a:spcPct val="100000"/>
              </a:lnSpc>
              <a:spcAft>
                <a:spcPts val="400"/>
              </a:spcAft>
              <a:buSzPct val="100000"/>
              <a:buChar char="•"/>
            </a:pPr>
            <a:r>
              <a:rPr lang="en-US" sz="1050" dirty="0">
                <a:solidFill>
                  <a:srgbClr val="9DB2CE"/>
                </a:solidFill>
                <a:latin typeface="Calibri" pitchFamily="34" charset="0"/>
                <a:ea typeface="Calibri" pitchFamily="34" charset="-122"/>
                <a:cs typeface="Calibri" pitchFamily="34" charset="-120"/>
              </a:rPr>
              <a:t>Safety constraints — min green / yellow</a:t>
            </a:r>
            <a:endParaRPr lang="en-US" sz="1050" dirty="0"/>
          </a:p>
          <a:p>
            <a:pPr marL="342900" indent="-342900">
              <a:lnSpc>
                <a:spcPct val="100000"/>
              </a:lnSpc>
              <a:spcAft>
                <a:spcPts val="400"/>
              </a:spcAft>
              <a:buSzPct val="100000"/>
              <a:buChar char="•"/>
            </a:pPr>
            <a:r>
              <a:rPr lang="en-US" sz="1050" dirty="0">
                <a:solidFill>
                  <a:srgbClr val="9DB2CE"/>
                </a:solidFill>
                <a:latin typeface="Calibri" pitchFamily="34" charset="0"/>
                <a:ea typeface="Calibri" pitchFamily="34" charset="-122"/>
                <a:cs typeface="Calibri" pitchFamily="34" charset="-120"/>
              </a:rPr>
              <a:t>Simulation-to-real gap</a:t>
            </a:r>
            <a:endParaRPr lang="en-US" sz="1050" dirty="0"/>
          </a:p>
        </p:txBody>
      </p:sp>
      <p:sp>
        <p:nvSpPr>
          <p:cNvPr id="20" name="Shape 16"/>
          <p:cNvSpPr/>
          <p:nvPr/>
        </p:nvSpPr>
        <p:spPr>
          <a:xfrm>
            <a:off x="548640" y="3968496"/>
            <a:ext cx="3557016" cy="1243584"/>
          </a:xfrm>
          <a:prstGeom prst="roundRect">
            <a:avLst>
              <a:gd name="adj" fmla="val 7353"/>
            </a:avLst>
          </a:prstGeom>
          <a:solidFill>
            <a:srgbClr val="3A2113"/>
          </a:solidFill>
          <a:ln w="12700">
            <a:solidFill>
              <a:srgbClr val="FF7A3D"/>
            </a:solidFill>
            <a:prstDash val="solid"/>
          </a:ln>
        </p:spPr>
      </p:sp>
      <p:sp>
        <p:nvSpPr>
          <p:cNvPr id="21" name="Text 17"/>
          <p:cNvSpPr/>
          <p:nvPr/>
        </p:nvSpPr>
        <p:spPr>
          <a:xfrm>
            <a:off x="786384" y="4114800"/>
            <a:ext cx="3108960" cy="256032"/>
          </a:xfrm>
          <a:prstGeom prst="rect">
            <a:avLst/>
          </a:prstGeom>
          <a:noFill/>
          <a:ln/>
        </p:spPr>
        <p:txBody>
          <a:bodyPr wrap="square" lIns="0" tIns="0" rIns="0" bIns="0" rtlCol="0" anchor="ctr"/>
          <a:lstStyle/>
          <a:p>
            <a:pPr indent="0" marL="0">
              <a:buNone/>
            </a:pPr>
            <a:r>
              <a:rPr lang="en-US" sz="1150" b="1" spc="160" kern="0" dirty="0">
                <a:solidFill>
                  <a:srgbClr val="FF7A3D"/>
                </a:solidFill>
                <a:latin typeface="Arial" pitchFamily="34" charset="0"/>
                <a:ea typeface="Arial" pitchFamily="34" charset="-122"/>
                <a:cs typeface="Arial" pitchFamily="34" charset="-120"/>
              </a:rPr>
              <a:t>ANANTHA</a:t>
            </a:r>
            <a:endParaRPr lang="en-US" sz="1150" dirty="0"/>
          </a:p>
        </p:txBody>
      </p:sp>
      <p:sp>
        <p:nvSpPr>
          <p:cNvPr id="22" name="Text 18"/>
          <p:cNvSpPr/>
          <p:nvPr/>
        </p:nvSpPr>
        <p:spPr>
          <a:xfrm>
            <a:off x="786384" y="4389120"/>
            <a:ext cx="3108960" cy="768096"/>
          </a:xfrm>
          <a:prstGeom prst="rect">
            <a:avLst/>
          </a:prstGeom>
          <a:noFill/>
          <a:ln/>
        </p:spPr>
        <p:txBody>
          <a:bodyPr wrap="square" lIns="0" tIns="0" rIns="0" bIns="0" rtlCol="0" anchor="ctr"/>
          <a:lstStyle/>
          <a:p>
            <a:pPr indent="0" marL="0">
              <a:lnSpc>
                <a:spcPct val="102000"/>
              </a:lnSpc>
              <a:buNone/>
            </a:pPr>
            <a:r>
              <a:rPr lang="en-US" sz="1150" dirty="0">
                <a:solidFill>
                  <a:srgbClr val="FFFFFF"/>
                </a:solidFill>
                <a:latin typeface="Calibri" pitchFamily="34" charset="0"/>
                <a:ea typeface="Calibri" pitchFamily="34" charset="-122"/>
                <a:cs typeface="Calibri" pitchFamily="34" charset="-120"/>
              </a:rPr>
              <a:t>Emergency vehicles receive priority while efficient normal traffic flow is maintained.</a:t>
            </a:r>
            <a:endParaRPr lang="en-US" sz="1150" dirty="0"/>
          </a:p>
        </p:txBody>
      </p:sp>
      <p:sp>
        <p:nvSpPr>
          <p:cNvPr id="23" name="Shape 19"/>
          <p:cNvSpPr/>
          <p:nvPr/>
        </p:nvSpPr>
        <p:spPr>
          <a:xfrm>
            <a:off x="4334256" y="3968496"/>
            <a:ext cx="3557016" cy="1243584"/>
          </a:xfrm>
          <a:prstGeom prst="roundRect">
            <a:avLst>
              <a:gd name="adj" fmla="val 7353"/>
            </a:avLst>
          </a:prstGeom>
          <a:solidFill>
            <a:srgbClr val="10331F"/>
          </a:solidFill>
          <a:ln w="12700">
            <a:solidFill>
              <a:srgbClr val="2FD68C"/>
            </a:solidFill>
            <a:prstDash val="solid"/>
          </a:ln>
        </p:spPr>
      </p:sp>
      <p:sp>
        <p:nvSpPr>
          <p:cNvPr id="24" name="Text 20"/>
          <p:cNvSpPr/>
          <p:nvPr/>
        </p:nvSpPr>
        <p:spPr>
          <a:xfrm>
            <a:off x="4572000" y="4114800"/>
            <a:ext cx="3108960" cy="256032"/>
          </a:xfrm>
          <a:prstGeom prst="rect">
            <a:avLst/>
          </a:prstGeom>
          <a:noFill/>
          <a:ln/>
        </p:spPr>
        <p:txBody>
          <a:bodyPr wrap="square" lIns="0" tIns="0" rIns="0" bIns="0" rtlCol="0" anchor="ctr"/>
          <a:lstStyle/>
          <a:p>
            <a:pPr indent="0" marL="0">
              <a:buNone/>
            </a:pPr>
            <a:r>
              <a:rPr lang="en-US" sz="1150" b="1" spc="160" kern="0" dirty="0">
                <a:solidFill>
                  <a:srgbClr val="2FD68C"/>
                </a:solidFill>
                <a:latin typeface="Arial" pitchFamily="34" charset="0"/>
                <a:ea typeface="Arial" pitchFamily="34" charset="-122"/>
                <a:cs typeface="Arial" pitchFamily="34" charset="-120"/>
              </a:rPr>
              <a:t>SHAUN</a:t>
            </a:r>
            <a:endParaRPr lang="en-US" sz="1150" dirty="0"/>
          </a:p>
        </p:txBody>
      </p:sp>
      <p:sp>
        <p:nvSpPr>
          <p:cNvPr id="25" name="Text 21"/>
          <p:cNvSpPr/>
          <p:nvPr/>
        </p:nvSpPr>
        <p:spPr>
          <a:xfrm>
            <a:off x="4572000" y="4389120"/>
            <a:ext cx="3108960" cy="768096"/>
          </a:xfrm>
          <a:prstGeom prst="rect">
            <a:avLst/>
          </a:prstGeom>
          <a:noFill/>
          <a:ln/>
        </p:spPr>
        <p:txBody>
          <a:bodyPr wrap="square" lIns="0" tIns="0" rIns="0" bIns="0" rtlCol="0" anchor="ctr"/>
          <a:lstStyle/>
          <a:p>
            <a:pPr indent="0" marL="0">
              <a:lnSpc>
                <a:spcPct val="102000"/>
              </a:lnSpc>
              <a:buNone/>
            </a:pPr>
            <a:r>
              <a:rPr lang="en-US" sz="1150" dirty="0">
                <a:solidFill>
                  <a:srgbClr val="FFFFFF"/>
                </a:solidFill>
                <a:latin typeface="Calibri" pitchFamily="34" charset="0"/>
                <a:ea typeface="Calibri" pitchFamily="34" charset="-122"/>
                <a:cs typeface="Calibri" pitchFamily="34" charset="-120"/>
              </a:rPr>
              <a:t>Unnecessary stops, fuel consumption and emissions are reduced while violations are monitored.</a:t>
            </a:r>
            <a:endParaRPr lang="en-US" sz="1150" dirty="0"/>
          </a:p>
        </p:txBody>
      </p:sp>
      <p:sp>
        <p:nvSpPr>
          <p:cNvPr id="26" name="Shape 22"/>
          <p:cNvSpPr/>
          <p:nvPr/>
        </p:nvSpPr>
        <p:spPr>
          <a:xfrm>
            <a:off x="8119872" y="3968496"/>
            <a:ext cx="3557016" cy="1243584"/>
          </a:xfrm>
          <a:prstGeom prst="roundRect">
            <a:avLst>
              <a:gd name="adj" fmla="val 7353"/>
            </a:avLst>
          </a:prstGeom>
          <a:solidFill>
            <a:srgbClr val="132B4D"/>
          </a:solidFill>
          <a:ln w="12700">
            <a:solidFill>
              <a:srgbClr val="4D9BFF"/>
            </a:solidFill>
            <a:prstDash val="solid"/>
          </a:ln>
        </p:spPr>
      </p:sp>
      <p:sp>
        <p:nvSpPr>
          <p:cNvPr id="27" name="Text 23"/>
          <p:cNvSpPr/>
          <p:nvPr/>
        </p:nvSpPr>
        <p:spPr>
          <a:xfrm>
            <a:off x="8357616" y="4114800"/>
            <a:ext cx="3108960" cy="256032"/>
          </a:xfrm>
          <a:prstGeom prst="rect">
            <a:avLst/>
          </a:prstGeom>
          <a:noFill/>
          <a:ln/>
        </p:spPr>
        <p:txBody>
          <a:bodyPr wrap="square" lIns="0" tIns="0" rIns="0" bIns="0" rtlCol="0" anchor="ctr"/>
          <a:lstStyle/>
          <a:p>
            <a:pPr indent="0" marL="0">
              <a:buNone/>
            </a:pPr>
            <a:r>
              <a:rPr lang="en-US" sz="1150" b="1" spc="160" kern="0" dirty="0">
                <a:solidFill>
                  <a:srgbClr val="4D9BFF"/>
                </a:solidFill>
                <a:latin typeface="Arial" pitchFamily="34" charset="0"/>
                <a:ea typeface="Arial" pitchFamily="34" charset="-122"/>
                <a:cs typeface="Arial" pitchFamily="34" charset="-120"/>
              </a:rPr>
              <a:t>DELNA</a:t>
            </a:r>
            <a:endParaRPr lang="en-US" sz="1150" dirty="0"/>
          </a:p>
        </p:txBody>
      </p:sp>
      <p:sp>
        <p:nvSpPr>
          <p:cNvPr id="28" name="Text 24"/>
          <p:cNvSpPr/>
          <p:nvPr/>
        </p:nvSpPr>
        <p:spPr>
          <a:xfrm>
            <a:off x="8357616" y="4389120"/>
            <a:ext cx="3108960" cy="768096"/>
          </a:xfrm>
          <a:prstGeom prst="rect">
            <a:avLst/>
          </a:prstGeom>
          <a:noFill/>
          <a:ln/>
        </p:spPr>
        <p:txBody>
          <a:bodyPr wrap="square" lIns="0" tIns="0" rIns="0" bIns="0" rtlCol="0" anchor="ctr"/>
          <a:lstStyle/>
          <a:p>
            <a:pPr indent="0" marL="0">
              <a:lnSpc>
                <a:spcPct val="102000"/>
              </a:lnSpc>
              <a:buNone/>
            </a:pPr>
            <a:r>
              <a:rPr lang="en-US" sz="1150" dirty="0">
                <a:solidFill>
                  <a:srgbClr val="FFFFFF"/>
                </a:solidFill>
                <a:latin typeface="Calibri" pitchFamily="34" charset="0"/>
                <a:ea typeface="Calibri" pitchFamily="34" charset="-122"/>
                <a:cs typeface="Calibri" pitchFamily="34" charset="-120"/>
              </a:rPr>
              <a:t>Traffic congestion is reduced through adaptive, queue-aware signal control.</a:t>
            </a:r>
            <a:endParaRPr lang="en-US" sz="1150" dirty="0"/>
          </a:p>
        </p:txBody>
      </p:sp>
      <p:sp>
        <p:nvSpPr>
          <p:cNvPr id="29" name="Shape 25"/>
          <p:cNvSpPr/>
          <p:nvPr/>
        </p:nvSpPr>
        <p:spPr>
          <a:xfrm>
            <a:off x="548640" y="5394960"/>
            <a:ext cx="11091672" cy="804672"/>
          </a:xfrm>
          <a:prstGeom prst="roundRect">
            <a:avLst>
              <a:gd name="adj" fmla="val 11364"/>
            </a:avLst>
          </a:prstGeom>
          <a:solidFill>
            <a:srgbClr val="0C3A4A"/>
          </a:solidFill>
          <a:ln w="19050">
            <a:solidFill>
              <a:srgbClr val="22D3EE"/>
            </a:solidFill>
            <a:prstDash val="solid"/>
          </a:ln>
        </p:spPr>
      </p:sp>
      <p:sp>
        <p:nvSpPr>
          <p:cNvPr id="30" name="Text 26"/>
          <p:cNvSpPr/>
          <p:nvPr/>
        </p:nvSpPr>
        <p:spPr>
          <a:xfrm>
            <a:off x="731520" y="5394960"/>
            <a:ext cx="10725912" cy="804672"/>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“Three Objectives.  One Intelligent DQN-Based Traffic Control Framework.”</a:t>
            </a:r>
            <a:endParaRPr lang="en-US" sz="2100" dirty="0"/>
          </a:p>
        </p:txBody>
      </p:sp>
      <p:sp>
        <p:nvSpPr>
          <p:cNvPr id="32" name="Text 27"/>
          <p:cNvSpPr/>
          <p:nvPr/>
        </p:nvSpPr>
        <p:spPr>
          <a:xfrm>
            <a:off x="548640" y="6327648"/>
            <a:ext cx="7315200" cy="274320"/>
          </a:xfrm>
          <a:prstGeom prst="rect">
            <a:avLst/>
          </a:prstGeom>
          <a:noFill/>
          <a:ln/>
        </p:spPr>
        <p:txBody>
          <a:bodyPr wrap="square" lIns="0" tIns="0" rIns="0" bIns="0" rtlCol="0" anchor="ctr"/>
          <a:lstStyle/>
          <a:p>
            <a:pPr indent="0" marL="0">
              <a:buNone/>
            </a:pPr>
            <a:r>
              <a:rPr lang="en-US" sz="950" dirty="0">
                <a:solidFill>
                  <a:srgbClr val="6E86A8"/>
                </a:solidFill>
                <a:latin typeface="Calibri" pitchFamily="34" charset="0"/>
                <a:ea typeface="Calibri" pitchFamily="34" charset="-122"/>
                <a:cs typeface="Calibri" pitchFamily="34" charset="-120"/>
              </a:rPr>
              <a:t>Presenter — Team</a:t>
            </a:r>
            <a:endParaRPr lang="en-US" sz="950" dirty="0"/>
          </a:p>
        </p:txBody>
      </p:sp>
      <p:sp>
        <p:nvSpPr>
          <p:cNvPr id="33" name="Text 28"/>
          <p:cNvSpPr/>
          <p:nvPr/>
        </p:nvSpPr>
        <p:spPr>
          <a:xfrm>
            <a:off x="10058400" y="6327648"/>
            <a:ext cx="1600200" cy="274320"/>
          </a:xfrm>
          <a:prstGeom prst="rect">
            <a:avLst/>
          </a:prstGeom>
          <a:noFill/>
          <a:ln/>
        </p:spPr>
        <p:txBody>
          <a:bodyPr wrap="square" lIns="0" tIns="0" rIns="0" bIns="0" rtlCol="0" anchor="ctr"/>
          <a:lstStyle/>
          <a:p>
            <a:pPr algn="r" indent="0" marL="0">
              <a:buNone/>
            </a:pPr>
            <a:r>
              <a:rPr lang="en-US" sz="950" dirty="0">
                <a:solidFill>
                  <a:srgbClr val="22D3EE"/>
                </a:solidFill>
                <a:latin typeface="Calibri" pitchFamily="34" charset="0"/>
                <a:ea typeface="Calibri" pitchFamily="34" charset="-122"/>
                <a:cs typeface="Calibri" pitchFamily="34" charset="-120"/>
              </a:rPr>
              <a:t>22 / 22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Traffic Signal Control Using Deep Q-Network (DQN)</dc:title>
  <dc:subject>PptxGenJS Presentation</dc:subject>
  <dc:creator>Anantha Narayanan A, Shaun Joseph Sabu, Delna Liz Denny</dc:creator>
  <cp:lastModifiedBy>Anantha Narayanan A, Shaun Joseph Sabu, Delna Liz Denny</cp:lastModifiedBy>
  <cp:revision>1</cp:revision>
  <dcterms:created xsi:type="dcterms:W3CDTF">2026-08-23T15:01:07Z</dcterms:created>
  <dcterms:modified xsi:type="dcterms:W3CDTF">2026-08-23T15:01:07Z</dcterms:modified>
</cp:coreProperties>
</file>